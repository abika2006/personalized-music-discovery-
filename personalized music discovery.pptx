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04_D4903D06.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88" r:id="rId3"/>
    <p:sldId id="258" r:id="rId4"/>
    <p:sldId id="261" r:id="rId5"/>
    <p:sldId id="262" r:id="rId6"/>
    <p:sldId id="263" r:id="rId7"/>
    <p:sldId id="264" r:id="rId8"/>
    <p:sldId id="289" r:id="rId9"/>
    <p:sldId id="294" r:id="rId10"/>
    <p:sldId id="290" r:id="rId11"/>
    <p:sldId id="291" r:id="rId12"/>
    <p:sldId id="292" r:id="rId13"/>
    <p:sldId id="293" r:id="rId14"/>
    <p:sldId id="265" r:id="rId15"/>
    <p:sldId id="259" r:id="rId16"/>
    <p:sldId id="260"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84" r:id="rId30"/>
    <p:sldId id="287"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48A4ADE-75D6-F502-4754-11FD74C7DD15}" name="suji s" initials="ss" userId="d8a0345e99e81d22"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4EA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4" d="100"/>
          <a:sy n="74" d="100"/>
        </p:scale>
        <p:origin x="1042" y="67"/>
      </p:cViewPr>
      <p:guideLst/>
    </p:cSldViewPr>
  </p:slideViewPr>
  <p:notesTextViewPr>
    <p:cViewPr>
      <p:scale>
        <a:sx n="1" d="1"/>
        <a:sy n="1" d="1"/>
      </p:scale>
      <p:origin x="0" y="0"/>
    </p:cViewPr>
  </p:notesTextViewPr>
  <p:sorterViewPr>
    <p:cViewPr>
      <p:scale>
        <a:sx n="42" d="100"/>
        <a:sy n="42"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omments/modernComment_104_D4903D06.xml><?xml version="1.0" encoding="utf-8"?>
<p188:cmLst xmlns:a="http://schemas.openxmlformats.org/drawingml/2006/main" xmlns:r="http://schemas.openxmlformats.org/officeDocument/2006/relationships" xmlns:p188="http://schemas.microsoft.com/office/powerpoint/2018/8/main">
  <p188:cm id="{D4FA6342-466B-439E-AB12-BE328E39E47E}" authorId="{248A4ADE-75D6-F502-4754-11FD74C7DD15}" created="2025-10-30T07:16:12.316">
    <pc:sldMkLst xmlns:pc="http://schemas.microsoft.com/office/powerpoint/2013/main/command">
      <pc:docMk/>
      <pc:sldMk cId="3566222598" sldId="260"/>
    </pc:sldMkLst>
    <p188:txBody>
      <a:bodyPr/>
      <a:lstStyle/>
      <a:p>
        <a:r>
          <a:rPr lang="en-IN"/>
          <a:t>sugerbeats</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C775B-2E71-4C7E-74D5-BA9A2C7F264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5C51756-D0D9-46B7-0130-0F34320958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CEFB19B-8819-67F5-5707-E14B557D321C}"/>
              </a:ext>
            </a:extLst>
          </p:cNvPr>
          <p:cNvSpPr>
            <a:spLocks noGrp="1"/>
          </p:cNvSpPr>
          <p:nvPr>
            <p:ph type="dt" sz="half" idx="10"/>
          </p:nvPr>
        </p:nvSpPr>
        <p:spPr/>
        <p:txBody>
          <a:bodyPr/>
          <a:lstStyle/>
          <a:p>
            <a:fld id="{122791AE-638B-4A2C-8F68-CE0AC717AA1F}" type="datetimeFigureOut">
              <a:rPr lang="en-IN" smtClean="0"/>
              <a:t>02-11-2025</a:t>
            </a:fld>
            <a:endParaRPr lang="en-IN"/>
          </a:p>
        </p:txBody>
      </p:sp>
      <p:sp>
        <p:nvSpPr>
          <p:cNvPr id="5" name="Footer Placeholder 4">
            <a:extLst>
              <a:ext uri="{FF2B5EF4-FFF2-40B4-BE49-F238E27FC236}">
                <a16:creationId xmlns:a16="http://schemas.microsoft.com/office/drawing/2014/main" id="{1AAC99BF-BE0A-23BE-3534-7F0613C397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045170-82E3-97AE-F9D7-3AB0B73242D1}"/>
              </a:ext>
            </a:extLst>
          </p:cNvPr>
          <p:cNvSpPr>
            <a:spLocks noGrp="1"/>
          </p:cNvSpPr>
          <p:nvPr>
            <p:ph type="sldNum" sz="quarter" idx="12"/>
          </p:nvPr>
        </p:nvSpPr>
        <p:spPr/>
        <p:txBody>
          <a:bodyPr/>
          <a:lstStyle/>
          <a:p>
            <a:fld id="{41FB2E6D-A811-4D06-AD04-24853B6E8336}" type="slidenum">
              <a:rPr lang="en-IN" smtClean="0"/>
              <a:t>‹#›</a:t>
            </a:fld>
            <a:endParaRPr lang="en-IN"/>
          </a:p>
        </p:txBody>
      </p:sp>
    </p:spTree>
    <p:extLst>
      <p:ext uri="{BB962C8B-B14F-4D97-AF65-F5344CB8AC3E}">
        <p14:creationId xmlns:p14="http://schemas.microsoft.com/office/powerpoint/2010/main" val="565710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C2727-E93F-7493-6380-26A0378CC9A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8FBABF6-A5F9-9708-E8B7-D19E5448645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EAF5BE4-030B-5B8D-24AB-B11A1FD61548}"/>
              </a:ext>
            </a:extLst>
          </p:cNvPr>
          <p:cNvSpPr>
            <a:spLocks noGrp="1"/>
          </p:cNvSpPr>
          <p:nvPr>
            <p:ph type="dt" sz="half" idx="10"/>
          </p:nvPr>
        </p:nvSpPr>
        <p:spPr/>
        <p:txBody>
          <a:bodyPr/>
          <a:lstStyle/>
          <a:p>
            <a:fld id="{122791AE-638B-4A2C-8F68-CE0AC717AA1F}" type="datetimeFigureOut">
              <a:rPr lang="en-IN" smtClean="0"/>
              <a:t>02-11-2025</a:t>
            </a:fld>
            <a:endParaRPr lang="en-IN"/>
          </a:p>
        </p:txBody>
      </p:sp>
      <p:sp>
        <p:nvSpPr>
          <p:cNvPr id="5" name="Footer Placeholder 4">
            <a:extLst>
              <a:ext uri="{FF2B5EF4-FFF2-40B4-BE49-F238E27FC236}">
                <a16:creationId xmlns:a16="http://schemas.microsoft.com/office/drawing/2014/main" id="{44C176A1-8999-4018-9973-CA3FD42E163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EC0955-0094-56DE-C778-A6C52B6E850F}"/>
              </a:ext>
            </a:extLst>
          </p:cNvPr>
          <p:cNvSpPr>
            <a:spLocks noGrp="1"/>
          </p:cNvSpPr>
          <p:nvPr>
            <p:ph type="sldNum" sz="quarter" idx="12"/>
          </p:nvPr>
        </p:nvSpPr>
        <p:spPr/>
        <p:txBody>
          <a:bodyPr/>
          <a:lstStyle/>
          <a:p>
            <a:fld id="{41FB2E6D-A811-4D06-AD04-24853B6E8336}" type="slidenum">
              <a:rPr lang="en-IN" smtClean="0"/>
              <a:t>‹#›</a:t>
            </a:fld>
            <a:endParaRPr lang="en-IN"/>
          </a:p>
        </p:txBody>
      </p:sp>
    </p:spTree>
    <p:extLst>
      <p:ext uri="{BB962C8B-B14F-4D97-AF65-F5344CB8AC3E}">
        <p14:creationId xmlns:p14="http://schemas.microsoft.com/office/powerpoint/2010/main" val="4739722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8D0FD-67C3-F863-9D3C-685737D560A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7478A09-40E4-F22B-CFD2-A257FA9FCFA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4945717-57BB-E802-8025-FD61176ED526}"/>
              </a:ext>
            </a:extLst>
          </p:cNvPr>
          <p:cNvSpPr>
            <a:spLocks noGrp="1"/>
          </p:cNvSpPr>
          <p:nvPr>
            <p:ph type="dt" sz="half" idx="10"/>
          </p:nvPr>
        </p:nvSpPr>
        <p:spPr/>
        <p:txBody>
          <a:bodyPr/>
          <a:lstStyle/>
          <a:p>
            <a:fld id="{122791AE-638B-4A2C-8F68-CE0AC717AA1F}" type="datetimeFigureOut">
              <a:rPr lang="en-IN" smtClean="0"/>
              <a:t>02-11-2025</a:t>
            </a:fld>
            <a:endParaRPr lang="en-IN"/>
          </a:p>
        </p:txBody>
      </p:sp>
      <p:sp>
        <p:nvSpPr>
          <p:cNvPr id="5" name="Footer Placeholder 4">
            <a:extLst>
              <a:ext uri="{FF2B5EF4-FFF2-40B4-BE49-F238E27FC236}">
                <a16:creationId xmlns:a16="http://schemas.microsoft.com/office/drawing/2014/main" id="{BC0F13C3-8740-17B1-E1BB-87CA634392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1F41EEB-AF26-EC1E-EFCE-6EC7FCDD3F81}"/>
              </a:ext>
            </a:extLst>
          </p:cNvPr>
          <p:cNvSpPr>
            <a:spLocks noGrp="1"/>
          </p:cNvSpPr>
          <p:nvPr>
            <p:ph type="sldNum" sz="quarter" idx="12"/>
          </p:nvPr>
        </p:nvSpPr>
        <p:spPr/>
        <p:txBody>
          <a:bodyPr/>
          <a:lstStyle/>
          <a:p>
            <a:fld id="{41FB2E6D-A811-4D06-AD04-24853B6E8336}" type="slidenum">
              <a:rPr lang="en-IN" smtClean="0"/>
              <a:t>‹#›</a:t>
            </a:fld>
            <a:endParaRPr lang="en-IN"/>
          </a:p>
        </p:txBody>
      </p:sp>
    </p:spTree>
    <p:extLst>
      <p:ext uri="{BB962C8B-B14F-4D97-AF65-F5344CB8AC3E}">
        <p14:creationId xmlns:p14="http://schemas.microsoft.com/office/powerpoint/2010/main" val="2794915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EAB7B-7CD7-6F33-C4E3-6BF4E748B35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5C6FD68-C5C0-C06E-0F48-AA83B09E5EB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3A7448D-5515-382B-6ECA-284023834E4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C3A1B55-EE53-21F5-DB8A-4FCE7B16BD43}"/>
              </a:ext>
            </a:extLst>
          </p:cNvPr>
          <p:cNvSpPr>
            <a:spLocks noGrp="1"/>
          </p:cNvSpPr>
          <p:nvPr>
            <p:ph type="dt" sz="half" idx="10"/>
          </p:nvPr>
        </p:nvSpPr>
        <p:spPr/>
        <p:txBody>
          <a:bodyPr/>
          <a:lstStyle/>
          <a:p>
            <a:fld id="{122791AE-638B-4A2C-8F68-CE0AC717AA1F}" type="datetimeFigureOut">
              <a:rPr lang="en-IN" smtClean="0"/>
              <a:t>02-11-2025</a:t>
            </a:fld>
            <a:endParaRPr lang="en-IN"/>
          </a:p>
        </p:txBody>
      </p:sp>
      <p:sp>
        <p:nvSpPr>
          <p:cNvPr id="6" name="Footer Placeholder 5">
            <a:extLst>
              <a:ext uri="{FF2B5EF4-FFF2-40B4-BE49-F238E27FC236}">
                <a16:creationId xmlns:a16="http://schemas.microsoft.com/office/drawing/2014/main" id="{07429AC8-36C1-50DD-7ADC-D4CDCEFCE71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DCA7E83-5509-D6E5-CDFE-0867A6EC3CBE}"/>
              </a:ext>
            </a:extLst>
          </p:cNvPr>
          <p:cNvSpPr>
            <a:spLocks noGrp="1"/>
          </p:cNvSpPr>
          <p:nvPr>
            <p:ph type="sldNum" sz="quarter" idx="12"/>
          </p:nvPr>
        </p:nvSpPr>
        <p:spPr/>
        <p:txBody>
          <a:bodyPr/>
          <a:lstStyle/>
          <a:p>
            <a:fld id="{41FB2E6D-A811-4D06-AD04-24853B6E8336}" type="slidenum">
              <a:rPr lang="en-IN" smtClean="0"/>
              <a:t>‹#›</a:t>
            </a:fld>
            <a:endParaRPr lang="en-IN"/>
          </a:p>
        </p:txBody>
      </p:sp>
    </p:spTree>
    <p:extLst>
      <p:ext uri="{BB962C8B-B14F-4D97-AF65-F5344CB8AC3E}">
        <p14:creationId xmlns:p14="http://schemas.microsoft.com/office/powerpoint/2010/main" val="4799065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FD00B-6106-ADC1-7710-910989F752E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8B60659-23CB-E14B-A80A-CA8C0B939C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69A655D-FA5A-3ECB-71F2-89EE453CCF9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32691E5-0CBE-93FD-83D4-22FF6CFC1B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CFB407-9F41-4A4E-2640-F71BEEA0F93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603B90A-AE97-B88A-FFEF-E3B06E4DAF63}"/>
              </a:ext>
            </a:extLst>
          </p:cNvPr>
          <p:cNvSpPr>
            <a:spLocks noGrp="1"/>
          </p:cNvSpPr>
          <p:nvPr>
            <p:ph type="dt" sz="half" idx="10"/>
          </p:nvPr>
        </p:nvSpPr>
        <p:spPr/>
        <p:txBody>
          <a:bodyPr/>
          <a:lstStyle/>
          <a:p>
            <a:fld id="{122791AE-638B-4A2C-8F68-CE0AC717AA1F}" type="datetimeFigureOut">
              <a:rPr lang="en-IN" smtClean="0"/>
              <a:t>02-11-2025</a:t>
            </a:fld>
            <a:endParaRPr lang="en-IN"/>
          </a:p>
        </p:txBody>
      </p:sp>
      <p:sp>
        <p:nvSpPr>
          <p:cNvPr id="8" name="Footer Placeholder 7">
            <a:extLst>
              <a:ext uri="{FF2B5EF4-FFF2-40B4-BE49-F238E27FC236}">
                <a16:creationId xmlns:a16="http://schemas.microsoft.com/office/drawing/2014/main" id="{B63F5F05-99EF-51BB-9E81-1A673CCC4E9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B4A4D25-2229-69C9-B50D-DC3F51EED1FE}"/>
              </a:ext>
            </a:extLst>
          </p:cNvPr>
          <p:cNvSpPr>
            <a:spLocks noGrp="1"/>
          </p:cNvSpPr>
          <p:nvPr>
            <p:ph type="sldNum" sz="quarter" idx="12"/>
          </p:nvPr>
        </p:nvSpPr>
        <p:spPr/>
        <p:txBody>
          <a:bodyPr/>
          <a:lstStyle/>
          <a:p>
            <a:fld id="{41FB2E6D-A811-4D06-AD04-24853B6E8336}" type="slidenum">
              <a:rPr lang="en-IN" smtClean="0"/>
              <a:t>‹#›</a:t>
            </a:fld>
            <a:endParaRPr lang="en-IN"/>
          </a:p>
        </p:txBody>
      </p:sp>
    </p:spTree>
    <p:extLst>
      <p:ext uri="{BB962C8B-B14F-4D97-AF65-F5344CB8AC3E}">
        <p14:creationId xmlns:p14="http://schemas.microsoft.com/office/powerpoint/2010/main" val="15216887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FE534-84D4-EF85-25AA-9A4A9C180EC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20C8154-D0A7-79E7-050D-02DEFDF2D1E6}"/>
              </a:ext>
            </a:extLst>
          </p:cNvPr>
          <p:cNvSpPr>
            <a:spLocks noGrp="1"/>
          </p:cNvSpPr>
          <p:nvPr>
            <p:ph type="dt" sz="half" idx="10"/>
          </p:nvPr>
        </p:nvSpPr>
        <p:spPr/>
        <p:txBody>
          <a:bodyPr/>
          <a:lstStyle/>
          <a:p>
            <a:fld id="{122791AE-638B-4A2C-8F68-CE0AC717AA1F}" type="datetimeFigureOut">
              <a:rPr lang="en-IN" smtClean="0"/>
              <a:t>02-11-2025</a:t>
            </a:fld>
            <a:endParaRPr lang="en-IN"/>
          </a:p>
        </p:txBody>
      </p:sp>
      <p:sp>
        <p:nvSpPr>
          <p:cNvPr id="4" name="Footer Placeholder 3">
            <a:extLst>
              <a:ext uri="{FF2B5EF4-FFF2-40B4-BE49-F238E27FC236}">
                <a16:creationId xmlns:a16="http://schemas.microsoft.com/office/drawing/2014/main" id="{FB1281D1-8669-5C73-4B5A-DB26E6DE787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53B50E6-4C0E-7F6D-67F3-17860140630B}"/>
              </a:ext>
            </a:extLst>
          </p:cNvPr>
          <p:cNvSpPr>
            <a:spLocks noGrp="1"/>
          </p:cNvSpPr>
          <p:nvPr>
            <p:ph type="sldNum" sz="quarter" idx="12"/>
          </p:nvPr>
        </p:nvSpPr>
        <p:spPr/>
        <p:txBody>
          <a:bodyPr/>
          <a:lstStyle/>
          <a:p>
            <a:fld id="{41FB2E6D-A811-4D06-AD04-24853B6E8336}" type="slidenum">
              <a:rPr lang="en-IN" smtClean="0"/>
              <a:t>‹#›</a:t>
            </a:fld>
            <a:endParaRPr lang="en-IN"/>
          </a:p>
        </p:txBody>
      </p:sp>
    </p:spTree>
    <p:extLst>
      <p:ext uri="{BB962C8B-B14F-4D97-AF65-F5344CB8AC3E}">
        <p14:creationId xmlns:p14="http://schemas.microsoft.com/office/powerpoint/2010/main" val="8689710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1F7611-FCF6-A2AC-57FE-3AA1219F901D}"/>
              </a:ext>
            </a:extLst>
          </p:cNvPr>
          <p:cNvSpPr>
            <a:spLocks noGrp="1"/>
          </p:cNvSpPr>
          <p:nvPr>
            <p:ph type="dt" sz="half" idx="10"/>
          </p:nvPr>
        </p:nvSpPr>
        <p:spPr/>
        <p:txBody>
          <a:bodyPr/>
          <a:lstStyle/>
          <a:p>
            <a:fld id="{122791AE-638B-4A2C-8F68-CE0AC717AA1F}" type="datetimeFigureOut">
              <a:rPr lang="en-IN" smtClean="0"/>
              <a:t>02-11-2025</a:t>
            </a:fld>
            <a:endParaRPr lang="en-IN"/>
          </a:p>
        </p:txBody>
      </p:sp>
      <p:sp>
        <p:nvSpPr>
          <p:cNvPr id="3" name="Footer Placeholder 2">
            <a:extLst>
              <a:ext uri="{FF2B5EF4-FFF2-40B4-BE49-F238E27FC236}">
                <a16:creationId xmlns:a16="http://schemas.microsoft.com/office/drawing/2014/main" id="{4A331A93-9D2B-ED24-F880-8FC8E3A9C70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419E57F-8557-C0E3-A6CF-E95E34470790}"/>
              </a:ext>
            </a:extLst>
          </p:cNvPr>
          <p:cNvSpPr>
            <a:spLocks noGrp="1"/>
          </p:cNvSpPr>
          <p:nvPr>
            <p:ph type="sldNum" sz="quarter" idx="12"/>
          </p:nvPr>
        </p:nvSpPr>
        <p:spPr/>
        <p:txBody>
          <a:bodyPr/>
          <a:lstStyle/>
          <a:p>
            <a:fld id="{41FB2E6D-A811-4D06-AD04-24853B6E8336}" type="slidenum">
              <a:rPr lang="en-IN" smtClean="0"/>
              <a:t>‹#›</a:t>
            </a:fld>
            <a:endParaRPr lang="en-IN"/>
          </a:p>
        </p:txBody>
      </p:sp>
    </p:spTree>
    <p:extLst>
      <p:ext uri="{BB962C8B-B14F-4D97-AF65-F5344CB8AC3E}">
        <p14:creationId xmlns:p14="http://schemas.microsoft.com/office/powerpoint/2010/main" val="3093469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E23E1-61E9-5AE5-96C2-E3FCAE6E74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761FD58-BC1A-A364-D17C-550529A233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150577D-CFC2-E1D0-060B-B4AE3C9473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7883B5-DE4D-DC34-7880-57A4EEC4E393}"/>
              </a:ext>
            </a:extLst>
          </p:cNvPr>
          <p:cNvSpPr>
            <a:spLocks noGrp="1"/>
          </p:cNvSpPr>
          <p:nvPr>
            <p:ph type="dt" sz="half" idx="10"/>
          </p:nvPr>
        </p:nvSpPr>
        <p:spPr/>
        <p:txBody>
          <a:bodyPr/>
          <a:lstStyle/>
          <a:p>
            <a:fld id="{122791AE-638B-4A2C-8F68-CE0AC717AA1F}" type="datetimeFigureOut">
              <a:rPr lang="en-IN" smtClean="0"/>
              <a:t>02-11-2025</a:t>
            </a:fld>
            <a:endParaRPr lang="en-IN"/>
          </a:p>
        </p:txBody>
      </p:sp>
      <p:sp>
        <p:nvSpPr>
          <p:cNvPr id="6" name="Footer Placeholder 5">
            <a:extLst>
              <a:ext uri="{FF2B5EF4-FFF2-40B4-BE49-F238E27FC236}">
                <a16:creationId xmlns:a16="http://schemas.microsoft.com/office/drawing/2014/main" id="{80A451EB-CD2A-B2DD-6BA0-5B9D0A53D9E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343AC99-6AB3-222D-86B8-1AC2CC95F1F3}"/>
              </a:ext>
            </a:extLst>
          </p:cNvPr>
          <p:cNvSpPr>
            <a:spLocks noGrp="1"/>
          </p:cNvSpPr>
          <p:nvPr>
            <p:ph type="sldNum" sz="quarter" idx="12"/>
          </p:nvPr>
        </p:nvSpPr>
        <p:spPr/>
        <p:txBody>
          <a:bodyPr/>
          <a:lstStyle/>
          <a:p>
            <a:fld id="{41FB2E6D-A811-4D06-AD04-24853B6E8336}" type="slidenum">
              <a:rPr lang="en-IN" smtClean="0"/>
              <a:t>‹#›</a:t>
            </a:fld>
            <a:endParaRPr lang="en-IN"/>
          </a:p>
        </p:txBody>
      </p:sp>
    </p:spTree>
    <p:extLst>
      <p:ext uri="{BB962C8B-B14F-4D97-AF65-F5344CB8AC3E}">
        <p14:creationId xmlns:p14="http://schemas.microsoft.com/office/powerpoint/2010/main" val="9521706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67919-DB39-2FAB-D7F9-B7F9ED7AB1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8E13B8D-7BA9-65C7-0E76-F295BA7F1E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150F97B-D0EB-16FF-7BA2-4A652CAB06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B6B344-C22B-39AC-FD82-E85889ACE8B9}"/>
              </a:ext>
            </a:extLst>
          </p:cNvPr>
          <p:cNvSpPr>
            <a:spLocks noGrp="1"/>
          </p:cNvSpPr>
          <p:nvPr>
            <p:ph type="dt" sz="half" idx="10"/>
          </p:nvPr>
        </p:nvSpPr>
        <p:spPr/>
        <p:txBody>
          <a:bodyPr/>
          <a:lstStyle/>
          <a:p>
            <a:fld id="{122791AE-638B-4A2C-8F68-CE0AC717AA1F}" type="datetimeFigureOut">
              <a:rPr lang="en-IN" smtClean="0"/>
              <a:t>02-11-2025</a:t>
            </a:fld>
            <a:endParaRPr lang="en-IN"/>
          </a:p>
        </p:txBody>
      </p:sp>
      <p:sp>
        <p:nvSpPr>
          <p:cNvPr id="6" name="Footer Placeholder 5">
            <a:extLst>
              <a:ext uri="{FF2B5EF4-FFF2-40B4-BE49-F238E27FC236}">
                <a16:creationId xmlns:a16="http://schemas.microsoft.com/office/drawing/2014/main" id="{93585FA7-A63C-D4DC-6A77-72B5D876B9E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26C8541-A8DD-432D-5757-4AFC02D2F8F8}"/>
              </a:ext>
            </a:extLst>
          </p:cNvPr>
          <p:cNvSpPr>
            <a:spLocks noGrp="1"/>
          </p:cNvSpPr>
          <p:nvPr>
            <p:ph type="sldNum" sz="quarter" idx="12"/>
          </p:nvPr>
        </p:nvSpPr>
        <p:spPr/>
        <p:txBody>
          <a:bodyPr/>
          <a:lstStyle/>
          <a:p>
            <a:fld id="{41FB2E6D-A811-4D06-AD04-24853B6E8336}" type="slidenum">
              <a:rPr lang="en-IN" smtClean="0"/>
              <a:t>‹#›</a:t>
            </a:fld>
            <a:endParaRPr lang="en-IN"/>
          </a:p>
        </p:txBody>
      </p:sp>
    </p:spTree>
    <p:extLst>
      <p:ext uri="{BB962C8B-B14F-4D97-AF65-F5344CB8AC3E}">
        <p14:creationId xmlns:p14="http://schemas.microsoft.com/office/powerpoint/2010/main" val="38592148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50685-865E-4B47-3AB4-ED3C401EA45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CA6060C-0AD6-0D36-57B2-2A42FD1CCD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2637FC3-0C90-3923-49AA-856B837D5305}"/>
              </a:ext>
            </a:extLst>
          </p:cNvPr>
          <p:cNvSpPr>
            <a:spLocks noGrp="1"/>
          </p:cNvSpPr>
          <p:nvPr>
            <p:ph type="dt" sz="half" idx="10"/>
          </p:nvPr>
        </p:nvSpPr>
        <p:spPr/>
        <p:txBody>
          <a:bodyPr/>
          <a:lstStyle/>
          <a:p>
            <a:fld id="{122791AE-638B-4A2C-8F68-CE0AC717AA1F}" type="datetimeFigureOut">
              <a:rPr lang="en-IN" smtClean="0"/>
              <a:t>02-11-2025</a:t>
            </a:fld>
            <a:endParaRPr lang="en-IN"/>
          </a:p>
        </p:txBody>
      </p:sp>
      <p:sp>
        <p:nvSpPr>
          <p:cNvPr id="5" name="Footer Placeholder 4">
            <a:extLst>
              <a:ext uri="{FF2B5EF4-FFF2-40B4-BE49-F238E27FC236}">
                <a16:creationId xmlns:a16="http://schemas.microsoft.com/office/drawing/2014/main" id="{F63F305C-EA6B-F49D-87DD-DE6CE236A1B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825D70-F883-9F22-FBE3-1EB87F0267A2}"/>
              </a:ext>
            </a:extLst>
          </p:cNvPr>
          <p:cNvSpPr>
            <a:spLocks noGrp="1"/>
          </p:cNvSpPr>
          <p:nvPr>
            <p:ph type="sldNum" sz="quarter" idx="12"/>
          </p:nvPr>
        </p:nvSpPr>
        <p:spPr/>
        <p:txBody>
          <a:bodyPr/>
          <a:lstStyle/>
          <a:p>
            <a:fld id="{41FB2E6D-A811-4D06-AD04-24853B6E8336}" type="slidenum">
              <a:rPr lang="en-IN" smtClean="0"/>
              <a:t>‹#›</a:t>
            </a:fld>
            <a:endParaRPr lang="en-IN"/>
          </a:p>
        </p:txBody>
      </p:sp>
    </p:spTree>
    <p:extLst>
      <p:ext uri="{BB962C8B-B14F-4D97-AF65-F5344CB8AC3E}">
        <p14:creationId xmlns:p14="http://schemas.microsoft.com/office/powerpoint/2010/main" val="11081347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662434C-7E33-D8C5-1CD7-420BD5F8DF9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ECFDA59-368C-973A-0194-49FCC51A46C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B06E303-A9FA-CEF1-C1A0-460C67553733}"/>
              </a:ext>
            </a:extLst>
          </p:cNvPr>
          <p:cNvSpPr>
            <a:spLocks noGrp="1"/>
          </p:cNvSpPr>
          <p:nvPr>
            <p:ph type="dt" sz="half" idx="10"/>
          </p:nvPr>
        </p:nvSpPr>
        <p:spPr/>
        <p:txBody>
          <a:bodyPr/>
          <a:lstStyle/>
          <a:p>
            <a:fld id="{122791AE-638B-4A2C-8F68-CE0AC717AA1F}" type="datetimeFigureOut">
              <a:rPr lang="en-IN" smtClean="0"/>
              <a:t>02-11-2025</a:t>
            </a:fld>
            <a:endParaRPr lang="en-IN"/>
          </a:p>
        </p:txBody>
      </p:sp>
      <p:sp>
        <p:nvSpPr>
          <p:cNvPr id="5" name="Footer Placeholder 4">
            <a:extLst>
              <a:ext uri="{FF2B5EF4-FFF2-40B4-BE49-F238E27FC236}">
                <a16:creationId xmlns:a16="http://schemas.microsoft.com/office/drawing/2014/main" id="{AFF0174F-8892-9052-5421-75555242B0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2E216DD-9FB4-1190-AF84-E9C315460ACB}"/>
              </a:ext>
            </a:extLst>
          </p:cNvPr>
          <p:cNvSpPr>
            <a:spLocks noGrp="1"/>
          </p:cNvSpPr>
          <p:nvPr>
            <p:ph type="sldNum" sz="quarter" idx="12"/>
          </p:nvPr>
        </p:nvSpPr>
        <p:spPr/>
        <p:txBody>
          <a:bodyPr/>
          <a:lstStyle/>
          <a:p>
            <a:fld id="{41FB2E6D-A811-4D06-AD04-24853B6E8336}" type="slidenum">
              <a:rPr lang="en-IN" smtClean="0"/>
              <a:t>‹#›</a:t>
            </a:fld>
            <a:endParaRPr lang="en-IN"/>
          </a:p>
        </p:txBody>
      </p:sp>
    </p:spTree>
    <p:extLst>
      <p:ext uri="{BB962C8B-B14F-4D97-AF65-F5344CB8AC3E}">
        <p14:creationId xmlns:p14="http://schemas.microsoft.com/office/powerpoint/2010/main" val="20219099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2041216-E7DF-EF76-9E66-38BF8378CB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ADB67AC-3A41-D9AC-BF82-7E24C86F66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DB59E6-6EFC-0D94-32CC-F5847470FF6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2791AE-638B-4A2C-8F68-CE0AC717AA1F}" type="datetimeFigureOut">
              <a:rPr lang="en-IN" smtClean="0"/>
              <a:t>02-11-2025</a:t>
            </a:fld>
            <a:endParaRPr lang="en-IN"/>
          </a:p>
        </p:txBody>
      </p:sp>
      <p:sp>
        <p:nvSpPr>
          <p:cNvPr id="5" name="Footer Placeholder 4">
            <a:extLst>
              <a:ext uri="{FF2B5EF4-FFF2-40B4-BE49-F238E27FC236}">
                <a16:creationId xmlns:a16="http://schemas.microsoft.com/office/drawing/2014/main" id="{9DA233E5-62DC-F604-28DB-945AFE8F3DA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B8D6737-3385-9020-65FC-C65F9CAB60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FB2E6D-A811-4D06-AD04-24853B6E8336}" type="slidenum">
              <a:rPr lang="en-IN" smtClean="0"/>
              <a:t>‹#›</a:t>
            </a:fld>
            <a:endParaRPr lang="en-IN"/>
          </a:p>
        </p:txBody>
      </p:sp>
    </p:spTree>
    <p:extLst>
      <p:ext uri="{BB962C8B-B14F-4D97-AF65-F5344CB8AC3E}">
        <p14:creationId xmlns:p14="http://schemas.microsoft.com/office/powerpoint/2010/main" val="88067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microsoft.com/office/2018/10/relationships/comments" Target="../comments/modernComment_104_D4903D06.xml"/><Relationship Id="rId1" Type="http://schemas.openxmlformats.org/officeDocument/2006/relationships/slideLayout" Target="../slideLayouts/slideLayout7.xml"/><Relationship Id="rId5" Type="http://schemas.openxmlformats.org/officeDocument/2006/relationships/image" Target="../media/image10.emf"/><Relationship Id="rId4" Type="http://schemas.openxmlformats.org/officeDocument/2006/relationships/package" Target="../embeddings/Microsoft_Excel_Worksheet.xlsx"/></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alpha val="80000"/>
          </a:schemeClr>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40C4291-AAD0-E4F8-CCC0-1EEFD9CC4E45}"/>
              </a:ext>
            </a:extLst>
          </p:cNvPr>
          <p:cNvPicPr>
            <a:picLocks noChangeAspect="1"/>
          </p:cNvPicPr>
          <p:nvPr/>
        </p:nvPicPr>
        <p:blipFill>
          <a:blip r:embed="rId2"/>
          <a:stretch>
            <a:fillRect/>
          </a:stretch>
        </p:blipFill>
        <p:spPr>
          <a:xfrm>
            <a:off x="2381686" y="0"/>
            <a:ext cx="6858000" cy="6858000"/>
          </a:xfrm>
          <a:prstGeom prst="rect">
            <a:avLst/>
          </a:prstGeom>
        </p:spPr>
      </p:pic>
      <p:sp>
        <p:nvSpPr>
          <p:cNvPr id="3" name="Rectangle 2">
            <a:extLst>
              <a:ext uri="{FF2B5EF4-FFF2-40B4-BE49-F238E27FC236}">
                <a16:creationId xmlns:a16="http://schemas.microsoft.com/office/drawing/2014/main" id="{6A2DFA63-D565-619E-9517-D837AE6DC8F4}"/>
              </a:ext>
            </a:extLst>
          </p:cNvPr>
          <p:cNvSpPr/>
          <p:nvPr/>
        </p:nvSpPr>
        <p:spPr>
          <a:xfrm>
            <a:off x="-320483" y="0"/>
            <a:ext cx="12192000" cy="6858000"/>
          </a:xfrm>
          <a:prstGeom prst="rect">
            <a:avLst/>
          </a:prstGeom>
          <a:solidFill>
            <a:schemeClr val="bg1">
              <a:alpha val="7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dirty="0"/>
              <a:t>M</a:t>
            </a:r>
          </a:p>
        </p:txBody>
      </p:sp>
      <p:sp>
        <p:nvSpPr>
          <p:cNvPr id="7" name="TextBox 6">
            <a:extLst>
              <a:ext uri="{FF2B5EF4-FFF2-40B4-BE49-F238E27FC236}">
                <a16:creationId xmlns:a16="http://schemas.microsoft.com/office/drawing/2014/main" id="{08C030C5-D602-A2CA-3913-6DDCD29C25B1}"/>
              </a:ext>
            </a:extLst>
          </p:cNvPr>
          <p:cNvSpPr txBox="1"/>
          <p:nvPr/>
        </p:nvSpPr>
        <p:spPr>
          <a:xfrm>
            <a:off x="-160242" y="481671"/>
            <a:ext cx="11871517" cy="1200329"/>
          </a:xfrm>
          <a:prstGeom prst="rect">
            <a:avLst/>
          </a:prstGeom>
          <a:noFill/>
        </p:spPr>
        <p:txBody>
          <a:bodyPr wrap="square" rtlCol="0">
            <a:spAutoFit/>
          </a:bodyPr>
          <a:lstStyle/>
          <a:p>
            <a:pPr algn="ctr"/>
            <a:r>
              <a:rPr lang="en-IN" sz="3600" b="1" dirty="0">
                <a:solidFill>
                  <a:schemeClr val="accent2">
                    <a:lumMod val="50000"/>
                  </a:schemeClr>
                </a:solidFill>
                <a:latin typeface="Algerian" panose="04020705040A02060702" pitchFamily="82" charset="0"/>
              </a:rPr>
              <a:t>Personalized music discovery</a:t>
            </a:r>
          </a:p>
          <a:p>
            <a:pPr algn="ctr"/>
            <a:endParaRPr lang="en-IN" sz="3600" b="1" dirty="0">
              <a:solidFill>
                <a:schemeClr val="accent2">
                  <a:lumMod val="50000"/>
                </a:schemeClr>
              </a:solidFill>
              <a:latin typeface="Algerian" panose="04020705040A02060702" pitchFamily="82" charset="0"/>
            </a:endParaRPr>
          </a:p>
        </p:txBody>
      </p:sp>
      <p:sp>
        <p:nvSpPr>
          <p:cNvPr id="9" name="TextBox 8">
            <a:extLst>
              <a:ext uri="{FF2B5EF4-FFF2-40B4-BE49-F238E27FC236}">
                <a16:creationId xmlns:a16="http://schemas.microsoft.com/office/drawing/2014/main" id="{CE54FEAC-E3F4-81B0-315C-B97A218A58EE}"/>
              </a:ext>
            </a:extLst>
          </p:cNvPr>
          <p:cNvSpPr txBox="1"/>
          <p:nvPr/>
        </p:nvSpPr>
        <p:spPr>
          <a:xfrm>
            <a:off x="117231" y="1621180"/>
            <a:ext cx="11754286" cy="4154984"/>
          </a:xfrm>
          <a:prstGeom prst="rect">
            <a:avLst/>
          </a:prstGeom>
          <a:noFill/>
        </p:spPr>
        <p:txBody>
          <a:bodyPr wrap="square" rtlCol="0">
            <a:spAutoFit/>
          </a:bodyPr>
          <a:lstStyle/>
          <a:p>
            <a:r>
              <a:rPr lang="en-US" sz="2400" dirty="0">
                <a:latin typeface="Bell MT" panose="02020503060305020303" pitchFamily="18" charset="0"/>
              </a:rPr>
              <a:t>🎵 Introduction </a:t>
            </a:r>
            <a:r>
              <a:rPr lang="en-US" sz="2400">
                <a:latin typeface="Bell MT" panose="02020503060305020303" pitchFamily="18" charset="0"/>
              </a:rPr>
              <a:t>to is </a:t>
            </a:r>
            <a:r>
              <a:rPr lang="en-US" sz="2400" dirty="0">
                <a:latin typeface="Bell MT" panose="02020503060305020303" pitchFamily="18" charset="0"/>
              </a:rPr>
              <a:t>a digital platform that allows users to listen to music online without downloading audio files. It provides instant access to millions of songs, albums, and playlists from various artists and genres through the internet. Users can stream music on-demand, create personalized playlists, discover new tracks, and enjoy high-quality audio from anywhere, at any time. Modern music streaming apps like Spotify, Apple Music, YouTube Music, and Gaana have transformed how people consume music by combining technology, user preferences, and AI-driven recommendations. These apps use cloud storage, data analytics, and machine learning to offer customized listening experiences based on the user’s mood, taste, and listening </a:t>
            </a:r>
            <a:r>
              <a:rPr lang="en-US" sz="2400" dirty="0" err="1">
                <a:latin typeface="Bell MT" panose="02020503060305020303" pitchFamily="18" charset="0"/>
              </a:rPr>
              <a:t>history.In</a:t>
            </a:r>
            <a:r>
              <a:rPr lang="en-US" sz="2400" dirty="0">
                <a:latin typeface="Bell MT" panose="02020503060305020303" pitchFamily="18" charset="0"/>
              </a:rPr>
              <a:t> essence, a music streaming app eliminates the need for physical storage, enhances accessibility, and revolutionizes the way users interact with music in the digital age.</a:t>
            </a:r>
            <a:endParaRPr lang="en-IN" sz="2400" dirty="0">
              <a:latin typeface="Bell MT" panose="02020503060305020303" pitchFamily="18" charset="0"/>
            </a:endParaRPr>
          </a:p>
        </p:txBody>
      </p:sp>
    </p:spTree>
    <p:extLst>
      <p:ext uri="{BB962C8B-B14F-4D97-AF65-F5344CB8AC3E}">
        <p14:creationId xmlns:p14="http://schemas.microsoft.com/office/powerpoint/2010/main" val="32650779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84ACD89-6AD3-D72A-2333-04F94D4EFCCE}"/>
              </a:ext>
            </a:extLst>
          </p:cNvPr>
          <p:cNvPicPr>
            <a:picLocks noChangeAspect="1"/>
          </p:cNvPicPr>
          <p:nvPr/>
        </p:nvPicPr>
        <p:blipFill>
          <a:blip r:embed="rId2"/>
          <a:stretch>
            <a:fillRect/>
          </a:stretch>
        </p:blipFill>
        <p:spPr>
          <a:xfrm>
            <a:off x="2667000" y="0"/>
            <a:ext cx="6858000" cy="6858000"/>
          </a:xfrm>
          <a:prstGeom prst="rect">
            <a:avLst/>
          </a:prstGeom>
        </p:spPr>
      </p:pic>
      <p:sp>
        <p:nvSpPr>
          <p:cNvPr id="3" name="Rectangle 2">
            <a:extLst>
              <a:ext uri="{FF2B5EF4-FFF2-40B4-BE49-F238E27FC236}">
                <a16:creationId xmlns:a16="http://schemas.microsoft.com/office/drawing/2014/main" id="{2B830638-4D02-81C3-D055-B3407E1FB6C7}"/>
              </a:ext>
            </a:extLst>
          </p:cNvPr>
          <p:cNvSpPr/>
          <p:nvPr/>
        </p:nvSpPr>
        <p:spPr>
          <a:xfrm>
            <a:off x="0" y="0"/>
            <a:ext cx="12192000" cy="6858000"/>
          </a:xfrm>
          <a:prstGeom prst="rect">
            <a:avLst/>
          </a:prstGeom>
          <a:solidFill>
            <a:schemeClr val="bg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err="1"/>
              <a:t>roblem</a:t>
            </a:r>
            <a:r>
              <a:rPr lang="en-IN" dirty="0"/>
              <a:t> statement</a:t>
            </a:r>
          </a:p>
        </p:txBody>
      </p:sp>
      <p:sp>
        <p:nvSpPr>
          <p:cNvPr id="4" name="TextBox 3">
            <a:extLst>
              <a:ext uri="{FF2B5EF4-FFF2-40B4-BE49-F238E27FC236}">
                <a16:creationId xmlns:a16="http://schemas.microsoft.com/office/drawing/2014/main" id="{0AC2730D-3B3F-C7EF-F574-4F06FBC5F538}"/>
              </a:ext>
            </a:extLst>
          </p:cNvPr>
          <p:cNvSpPr txBox="1"/>
          <p:nvPr/>
        </p:nvSpPr>
        <p:spPr>
          <a:xfrm>
            <a:off x="658090" y="831272"/>
            <a:ext cx="10138064" cy="3416320"/>
          </a:xfrm>
          <a:prstGeom prst="rect">
            <a:avLst/>
          </a:prstGeom>
          <a:noFill/>
        </p:spPr>
        <p:txBody>
          <a:bodyPr wrap="square" rtlCol="0">
            <a:spAutoFit/>
          </a:bodyPr>
          <a:lstStyle/>
          <a:p>
            <a:r>
              <a:rPr lang="en-IN" dirty="0"/>
              <a:t>Problem statement</a:t>
            </a:r>
          </a:p>
          <a:p>
            <a:endParaRPr lang="en-IN" dirty="0"/>
          </a:p>
          <a:p>
            <a:r>
              <a:rPr lang="en-US" dirty="0"/>
              <a:t>In today’s digital era, users have access to millions of songs across various streaming platforms. However, discovering music that truly aligns with an individual’s unique taste, mood, and listening habits remains a significant challenge. Existing recommendation systems often rely heavily on general popularity trends or limited user data, resulting in repetitive or irrelevant suggestions.</a:t>
            </a:r>
          </a:p>
          <a:p>
            <a:endParaRPr lang="en-US" dirty="0"/>
          </a:p>
          <a:p>
            <a:r>
              <a:rPr lang="en-US" dirty="0"/>
              <a:t>There is a need for an intelligent and adaptive music discovery system that can </a:t>
            </a:r>
            <a:r>
              <a:rPr lang="en-US" b="1" dirty="0"/>
              <a:t>analyze user preferences, behavior, and contextual factors</a:t>
            </a:r>
            <a:r>
              <a:rPr lang="en-US" dirty="0"/>
              <a:t> (such as mood, time of day, and activity) to deliver </a:t>
            </a:r>
            <a:r>
              <a:rPr lang="en-US" b="1" dirty="0"/>
              <a:t>highly personalized music recommendations</a:t>
            </a:r>
            <a:r>
              <a:rPr lang="en-US" dirty="0"/>
              <a:t>. Such a system should enhance user engagement, satisfaction, and the overall listening experience by continuously learning and evolving with the user’s musical journey.</a:t>
            </a:r>
          </a:p>
          <a:p>
            <a:endParaRPr lang="en-IN" dirty="0"/>
          </a:p>
        </p:txBody>
      </p:sp>
    </p:spTree>
    <p:extLst>
      <p:ext uri="{BB962C8B-B14F-4D97-AF65-F5344CB8AC3E}">
        <p14:creationId xmlns:p14="http://schemas.microsoft.com/office/powerpoint/2010/main" val="31616626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8E43B32-3D5F-DB45-F354-D1E70BB37644}"/>
              </a:ext>
            </a:extLst>
          </p:cNvPr>
          <p:cNvPicPr>
            <a:picLocks noChangeAspect="1"/>
          </p:cNvPicPr>
          <p:nvPr/>
        </p:nvPicPr>
        <p:blipFill>
          <a:blip r:embed="rId2"/>
          <a:stretch>
            <a:fillRect/>
          </a:stretch>
        </p:blipFill>
        <p:spPr>
          <a:xfrm>
            <a:off x="2157845" y="0"/>
            <a:ext cx="6858000" cy="6858000"/>
          </a:xfrm>
          <a:prstGeom prst="rect">
            <a:avLst/>
          </a:prstGeom>
        </p:spPr>
      </p:pic>
      <p:sp>
        <p:nvSpPr>
          <p:cNvPr id="3" name="Rectangle 2">
            <a:extLst>
              <a:ext uri="{FF2B5EF4-FFF2-40B4-BE49-F238E27FC236}">
                <a16:creationId xmlns:a16="http://schemas.microsoft.com/office/drawing/2014/main" id="{FEDFB06A-5605-B3D6-58BA-09E7E2E2952C}"/>
              </a:ext>
            </a:extLst>
          </p:cNvPr>
          <p:cNvSpPr/>
          <p:nvPr/>
        </p:nvSpPr>
        <p:spPr>
          <a:xfrm>
            <a:off x="0" y="0"/>
            <a:ext cx="12192000" cy="6858000"/>
          </a:xfrm>
          <a:prstGeom prst="rect">
            <a:avLst/>
          </a:prstGeom>
          <a:solidFill>
            <a:schemeClr val="bg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235DE051-B483-FF93-FA14-486EAD015D23}"/>
              </a:ext>
            </a:extLst>
          </p:cNvPr>
          <p:cNvSpPr txBox="1"/>
          <p:nvPr/>
        </p:nvSpPr>
        <p:spPr>
          <a:xfrm>
            <a:off x="117231" y="128954"/>
            <a:ext cx="12192000" cy="6370975"/>
          </a:xfrm>
          <a:prstGeom prst="rect">
            <a:avLst/>
          </a:prstGeom>
          <a:noFill/>
        </p:spPr>
        <p:txBody>
          <a:bodyPr wrap="square" rtlCol="0">
            <a:spAutoFit/>
          </a:bodyPr>
          <a:lstStyle/>
          <a:p>
            <a:pPr>
              <a:buNone/>
            </a:pPr>
            <a:r>
              <a:rPr lang="en-US" sz="2400" b="1" dirty="0">
                <a:solidFill>
                  <a:schemeClr val="accent2">
                    <a:lumMod val="50000"/>
                  </a:schemeClr>
                </a:solidFill>
                <a:latin typeface="Bodoni MT Black" panose="02070A03080606020203" pitchFamily="18" charset="0"/>
              </a:rPr>
              <a:t>🎧 Research &amp; User Understanding        </a:t>
            </a:r>
          </a:p>
          <a:p>
            <a:pPr>
              <a:buNone/>
            </a:pPr>
            <a:r>
              <a:rPr lang="en-US" sz="2400" b="1" dirty="0">
                <a:solidFill>
                  <a:schemeClr val="accent2">
                    <a:lumMod val="50000"/>
                  </a:schemeClr>
                </a:solidFill>
                <a:latin typeface="Bell MT" panose="02020503060305020303" pitchFamily="18" charset="0"/>
              </a:rPr>
              <a:t>  </a:t>
            </a:r>
          </a:p>
          <a:p>
            <a:pPr>
              <a:buNone/>
            </a:pPr>
            <a:r>
              <a:rPr lang="en-US" sz="2400" b="1" dirty="0">
                <a:solidFill>
                  <a:srgbClr val="00B0F0"/>
                </a:solidFill>
                <a:latin typeface="Bell MT" panose="02020503060305020303" pitchFamily="18" charset="0"/>
              </a:rPr>
              <a:t>1. Purpose of Research</a:t>
            </a:r>
          </a:p>
          <a:p>
            <a:pPr>
              <a:buNone/>
            </a:pPr>
            <a:r>
              <a:rPr lang="en-US" sz="2400" dirty="0">
                <a:latin typeface="Bell MT" panose="02020503060305020303" pitchFamily="18" charset="0"/>
              </a:rPr>
              <a:t>The main goal of user research is to understand how people listen to music, what features they value most in a music streaming service, and what pain points they face with existing platforms. This helps in designing an app that meets real user needs and provides an enjoyable listening experience.</a:t>
            </a:r>
          </a:p>
          <a:p>
            <a:pPr>
              <a:buNone/>
            </a:pPr>
            <a:br>
              <a:rPr lang="en-US" sz="2400" dirty="0">
                <a:latin typeface="Bell MT" panose="02020503060305020303" pitchFamily="18" charset="0"/>
              </a:rPr>
            </a:br>
            <a:r>
              <a:rPr lang="en-US" sz="2400" b="1" dirty="0">
                <a:solidFill>
                  <a:srgbClr val="00B0F0"/>
                </a:solidFill>
                <a:latin typeface="Bell MT" panose="02020503060305020303" pitchFamily="18" charset="0"/>
              </a:rPr>
              <a:t>2. Research Methods</a:t>
            </a:r>
          </a:p>
          <a:p>
            <a:pPr>
              <a:buNone/>
            </a:pPr>
            <a:r>
              <a:rPr lang="en-US" sz="2400" dirty="0">
                <a:latin typeface="Bell MT" panose="02020503060305020303" pitchFamily="18" charset="0"/>
              </a:rPr>
              <a:t>To gather insights, both </a:t>
            </a:r>
            <a:r>
              <a:rPr lang="en-US" sz="2400" b="1" dirty="0">
                <a:latin typeface="Bell MT" panose="02020503060305020303" pitchFamily="18" charset="0"/>
              </a:rPr>
              <a:t>qualitative</a:t>
            </a:r>
            <a:r>
              <a:rPr lang="en-US" sz="2400" dirty="0">
                <a:latin typeface="Bell MT" panose="02020503060305020303" pitchFamily="18" charset="0"/>
              </a:rPr>
              <a:t> and </a:t>
            </a:r>
            <a:r>
              <a:rPr lang="en-US" sz="2400" b="1" dirty="0">
                <a:latin typeface="Bell MT" panose="02020503060305020303" pitchFamily="18" charset="0"/>
              </a:rPr>
              <a:t>quantitative</a:t>
            </a:r>
            <a:r>
              <a:rPr lang="en-US" sz="2400" dirty="0">
                <a:latin typeface="Bell MT" panose="02020503060305020303" pitchFamily="18" charset="0"/>
              </a:rPr>
              <a:t> research methods can be used:</a:t>
            </a:r>
          </a:p>
          <a:p>
            <a:pPr>
              <a:buFont typeface="Arial" panose="020B0604020202020204" pitchFamily="34" charset="0"/>
              <a:buChar char="•"/>
            </a:pPr>
            <a:r>
              <a:rPr lang="en-US" sz="2400" b="1" dirty="0">
                <a:latin typeface="Bell MT" panose="02020503060305020303" pitchFamily="18" charset="0"/>
              </a:rPr>
              <a:t>Surveys &amp; Questionnaires:</a:t>
            </a:r>
            <a:r>
              <a:rPr lang="en-US" sz="2400" dirty="0">
                <a:latin typeface="Bell MT" panose="02020503060305020303" pitchFamily="18" charset="0"/>
              </a:rPr>
              <a:t> To collect user preferences about genres, listening frequency, and favorite features.</a:t>
            </a:r>
          </a:p>
          <a:p>
            <a:pPr>
              <a:buFont typeface="Arial" panose="020B0604020202020204" pitchFamily="34" charset="0"/>
              <a:buChar char="•"/>
            </a:pPr>
            <a:r>
              <a:rPr lang="en-US" sz="2400" b="1" dirty="0">
                <a:latin typeface="Bell MT" panose="02020503060305020303" pitchFamily="18" charset="0"/>
              </a:rPr>
              <a:t>Interviews:</a:t>
            </a:r>
            <a:r>
              <a:rPr lang="en-US" sz="2400" dirty="0">
                <a:latin typeface="Bell MT" panose="02020503060305020303" pitchFamily="18" charset="0"/>
              </a:rPr>
              <a:t> To gain deeper understanding of user motivations and frustrations.</a:t>
            </a:r>
          </a:p>
          <a:p>
            <a:pPr>
              <a:buFont typeface="Arial" panose="020B0604020202020204" pitchFamily="34" charset="0"/>
              <a:buChar char="•"/>
            </a:pPr>
            <a:r>
              <a:rPr lang="en-US" sz="2400" b="1" dirty="0">
                <a:latin typeface="Bell MT" panose="02020503060305020303" pitchFamily="18" charset="0"/>
              </a:rPr>
              <a:t>Competitor Analysis:</a:t>
            </a:r>
            <a:r>
              <a:rPr lang="en-US" sz="2400" dirty="0">
                <a:latin typeface="Bell MT" panose="02020503060305020303" pitchFamily="18" charset="0"/>
              </a:rPr>
              <a:t> Studying existing apps like Spotify, YouTube Music, and Apple Music to identify gaps and opportunities.</a:t>
            </a:r>
          </a:p>
          <a:p>
            <a:pPr>
              <a:buFont typeface="Arial" panose="020B0604020202020204" pitchFamily="34" charset="0"/>
              <a:buChar char="•"/>
            </a:pPr>
            <a:r>
              <a:rPr lang="en-US" sz="2400" b="1" dirty="0">
                <a:latin typeface="Bell MT" panose="02020503060305020303" pitchFamily="18" charset="0"/>
              </a:rPr>
              <a:t>Usability Testing:</a:t>
            </a:r>
            <a:r>
              <a:rPr lang="en-US" sz="2400" dirty="0">
                <a:latin typeface="Bell MT" panose="02020503060305020303" pitchFamily="18" charset="0"/>
              </a:rPr>
              <a:t> Observing how users interact with music interfaces to improve navigation and flow</a:t>
            </a:r>
            <a:r>
              <a:rPr lang="en-US" dirty="0">
                <a:latin typeface="Bell MT" panose="02020503060305020303" pitchFamily="18" charset="0"/>
              </a:rPr>
              <a:t>.</a:t>
            </a:r>
          </a:p>
        </p:txBody>
      </p:sp>
    </p:spTree>
    <p:extLst>
      <p:ext uri="{BB962C8B-B14F-4D97-AF65-F5344CB8AC3E}">
        <p14:creationId xmlns:p14="http://schemas.microsoft.com/office/powerpoint/2010/main" val="3003657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Music symbols Images - Free Download on Freepik">
            <a:extLst>
              <a:ext uri="{FF2B5EF4-FFF2-40B4-BE49-F238E27FC236}">
                <a16:creationId xmlns:a16="http://schemas.microsoft.com/office/drawing/2014/main" id="{87119C3D-F98A-A7E0-0C4D-FDD3580C17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0"/>
            <a:ext cx="6858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B52F8B1E-3742-F5FB-857F-1ED28B0A3921}"/>
              </a:ext>
            </a:extLst>
          </p:cNvPr>
          <p:cNvSpPr/>
          <p:nvPr/>
        </p:nvSpPr>
        <p:spPr>
          <a:xfrm>
            <a:off x="0" y="0"/>
            <a:ext cx="12192000" cy="6858000"/>
          </a:xfrm>
          <a:prstGeom prst="rect">
            <a:avLst/>
          </a:prstGeom>
          <a:solidFill>
            <a:schemeClr val="bg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B602CF26-CE89-84B4-1D68-E08B4FA02B3B}"/>
              </a:ext>
            </a:extLst>
          </p:cNvPr>
          <p:cNvSpPr txBox="1"/>
          <p:nvPr/>
        </p:nvSpPr>
        <p:spPr>
          <a:xfrm>
            <a:off x="0" y="0"/>
            <a:ext cx="12192000" cy="6370975"/>
          </a:xfrm>
          <a:prstGeom prst="rect">
            <a:avLst/>
          </a:prstGeom>
          <a:noFill/>
        </p:spPr>
        <p:txBody>
          <a:bodyPr wrap="square" rtlCol="0">
            <a:spAutoFit/>
          </a:bodyPr>
          <a:lstStyle/>
          <a:p>
            <a:pPr>
              <a:buNone/>
            </a:pPr>
            <a:endParaRPr lang="en-US" sz="2400" b="1" dirty="0">
              <a:latin typeface="Bell MT" panose="02020503060305020303" pitchFamily="18" charset="0"/>
            </a:endParaRPr>
          </a:p>
          <a:p>
            <a:pPr>
              <a:buNone/>
            </a:pPr>
            <a:r>
              <a:rPr lang="en-US" sz="2400" b="1" dirty="0">
                <a:solidFill>
                  <a:srgbClr val="00B0F0"/>
                </a:solidFill>
                <a:latin typeface="Bell MT" panose="02020503060305020303" pitchFamily="18" charset="0"/>
              </a:rPr>
              <a:t>3. Key Findings</a:t>
            </a:r>
          </a:p>
          <a:p>
            <a:pPr>
              <a:buNone/>
            </a:pPr>
            <a:r>
              <a:rPr lang="en-US" sz="2400" dirty="0">
                <a:latin typeface="Bell MT" panose="02020503060305020303" pitchFamily="18" charset="0"/>
              </a:rPr>
              <a:t>From the research, common trends and needs include:</a:t>
            </a:r>
          </a:p>
          <a:p>
            <a:pPr>
              <a:buFont typeface="Arial" panose="020B0604020202020204" pitchFamily="34" charset="0"/>
              <a:buChar char="•"/>
            </a:pPr>
            <a:r>
              <a:rPr lang="en-US" sz="2400" dirty="0">
                <a:latin typeface="Bell MT" panose="02020503060305020303" pitchFamily="18" charset="0"/>
              </a:rPr>
              <a:t>Users want </a:t>
            </a:r>
            <a:r>
              <a:rPr lang="en-US" sz="2400" b="1" dirty="0">
                <a:latin typeface="Bell MT" panose="02020503060305020303" pitchFamily="18" charset="0"/>
              </a:rPr>
              <a:t>easy access</a:t>
            </a:r>
            <a:r>
              <a:rPr lang="en-US" sz="2400" dirty="0">
                <a:latin typeface="Bell MT" panose="02020503060305020303" pitchFamily="18" charset="0"/>
              </a:rPr>
              <a:t> to music and </a:t>
            </a:r>
            <a:r>
              <a:rPr lang="en-US" sz="2400" b="1" dirty="0">
                <a:latin typeface="Bell MT" panose="02020503060305020303" pitchFamily="18" charset="0"/>
              </a:rPr>
              <a:t>personalized recommendations</a:t>
            </a:r>
            <a:r>
              <a:rPr lang="en-US" sz="2400" dirty="0">
                <a:latin typeface="Bell MT" panose="02020503060305020303" pitchFamily="18" charset="0"/>
              </a:rPr>
              <a:t>.</a:t>
            </a:r>
          </a:p>
          <a:p>
            <a:pPr>
              <a:buFont typeface="Arial" panose="020B0604020202020204" pitchFamily="34" charset="0"/>
              <a:buChar char="•"/>
            </a:pPr>
            <a:r>
              <a:rPr lang="en-US" sz="2400" b="1" dirty="0">
                <a:latin typeface="Bell MT" panose="02020503060305020303" pitchFamily="18" charset="0"/>
              </a:rPr>
              <a:t>Offline listening</a:t>
            </a:r>
            <a:r>
              <a:rPr lang="en-US" sz="2400" dirty="0">
                <a:latin typeface="Bell MT" panose="02020503060305020303" pitchFamily="18" charset="0"/>
              </a:rPr>
              <a:t> and </a:t>
            </a:r>
            <a:r>
              <a:rPr lang="en-US" sz="2400" b="1" dirty="0">
                <a:latin typeface="Bell MT" panose="02020503060305020303" pitchFamily="18" charset="0"/>
              </a:rPr>
              <a:t>ad-free experience</a:t>
            </a:r>
            <a:r>
              <a:rPr lang="en-US" sz="2400" dirty="0">
                <a:latin typeface="Bell MT" panose="02020503060305020303" pitchFamily="18" charset="0"/>
              </a:rPr>
              <a:t> are highly valued.</a:t>
            </a:r>
          </a:p>
          <a:p>
            <a:pPr>
              <a:buFont typeface="Arial" panose="020B0604020202020204" pitchFamily="34" charset="0"/>
              <a:buChar char="•"/>
            </a:pPr>
            <a:r>
              <a:rPr lang="en-US" sz="2400" b="1" dirty="0">
                <a:latin typeface="Bell MT" panose="02020503060305020303" pitchFamily="18" charset="0"/>
              </a:rPr>
              <a:t>Simple, attractive UI</a:t>
            </a:r>
            <a:r>
              <a:rPr lang="en-US" sz="2400" dirty="0">
                <a:latin typeface="Bell MT" panose="02020503060305020303" pitchFamily="18" charset="0"/>
              </a:rPr>
              <a:t> and </a:t>
            </a:r>
            <a:r>
              <a:rPr lang="en-US" sz="2400" b="1" dirty="0">
                <a:latin typeface="Bell MT" panose="02020503060305020303" pitchFamily="18" charset="0"/>
              </a:rPr>
              <a:t>fast load times</a:t>
            </a:r>
            <a:r>
              <a:rPr lang="en-US" sz="2400" dirty="0">
                <a:latin typeface="Bell MT" panose="02020503060305020303" pitchFamily="18" charset="0"/>
              </a:rPr>
              <a:t> increase satisfaction.</a:t>
            </a:r>
          </a:p>
          <a:p>
            <a:pPr>
              <a:buFont typeface="Arial" panose="020B0604020202020204" pitchFamily="34" charset="0"/>
              <a:buChar char="•"/>
            </a:pPr>
            <a:r>
              <a:rPr lang="en-US" sz="2400" dirty="0">
                <a:latin typeface="Bell MT" panose="02020503060305020303" pitchFamily="18" charset="0"/>
              </a:rPr>
              <a:t>Many users enjoy </a:t>
            </a:r>
            <a:r>
              <a:rPr lang="en-US" sz="2400" b="1" dirty="0">
                <a:latin typeface="Bell MT" panose="02020503060305020303" pitchFamily="18" charset="0"/>
              </a:rPr>
              <a:t>social sharing features</a:t>
            </a:r>
            <a:r>
              <a:rPr lang="en-US" sz="2400" dirty="0">
                <a:latin typeface="Bell MT" panose="02020503060305020303" pitchFamily="18" charset="0"/>
              </a:rPr>
              <a:t> like playlists and song recommendations.</a:t>
            </a:r>
          </a:p>
          <a:p>
            <a:pPr>
              <a:buFont typeface="Arial" panose="020B0604020202020204" pitchFamily="34" charset="0"/>
              <a:buChar char="•"/>
            </a:pPr>
            <a:r>
              <a:rPr lang="en-US" sz="2400" dirty="0">
                <a:latin typeface="Bell MT" panose="02020503060305020303" pitchFamily="18" charset="0"/>
              </a:rPr>
              <a:t>Young users (18–30) prefer </a:t>
            </a:r>
            <a:r>
              <a:rPr lang="en-US" sz="2400" b="1" dirty="0">
                <a:latin typeface="Bell MT" panose="02020503060305020303" pitchFamily="18" charset="0"/>
              </a:rPr>
              <a:t>AI-based mood playlists</a:t>
            </a:r>
            <a:r>
              <a:rPr lang="en-US" sz="2400" dirty="0">
                <a:latin typeface="Bell MT" panose="02020503060305020303" pitchFamily="18" charset="0"/>
              </a:rPr>
              <a:t> and </a:t>
            </a:r>
            <a:r>
              <a:rPr lang="en-US" sz="2400" b="1" dirty="0">
                <a:latin typeface="Bell MT" panose="02020503060305020303" pitchFamily="18" charset="0"/>
              </a:rPr>
              <a:t>cross-device sync</a:t>
            </a:r>
            <a:r>
              <a:rPr lang="en-US" sz="2400" dirty="0">
                <a:latin typeface="Bell MT" panose="02020503060305020303" pitchFamily="18" charset="0"/>
              </a:rPr>
              <a:t>.</a:t>
            </a:r>
          </a:p>
          <a:p>
            <a:pPr>
              <a:buNone/>
            </a:pPr>
            <a:br>
              <a:rPr lang="en-US" sz="2400" dirty="0">
                <a:latin typeface="Bell MT" panose="02020503060305020303" pitchFamily="18" charset="0"/>
              </a:rPr>
            </a:br>
            <a:r>
              <a:rPr lang="en-US" sz="2400" b="1" dirty="0">
                <a:solidFill>
                  <a:srgbClr val="00B0F0"/>
                </a:solidFill>
                <a:latin typeface="Bell MT" panose="02020503060305020303" pitchFamily="18" charset="0"/>
              </a:rPr>
              <a:t>4 . User Personas</a:t>
            </a:r>
          </a:p>
          <a:p>
            <a:pPr>
              <a:buNone/>
            </a:pPr>
            <a:r>
              <a:rPr lang="en-US" sz="2400" b="1" dirty="0">
                <a:latin typeface="Bell MT" panose="02020503060305020303" pitchFamily="18" charset="0"/>
              </a:rPr>
              <a:t>Example Persona:</a:t>
            </a:r>
            <a:br>
              <a:rPr lang="en-US" sz="2400" dirty="0">
                <a:latin typeface="Bell MT" panose="02020503060305020303" pitchFamily="18" charset="0"/>
              </a:rPr>
            </a:br>
            <a:r>
              <a:rPr lang="en-US" sz="2400" b="1" dirty="0">
                <a:latin typeface="Bell MT" panose="02020503060305020303" pitchFamily="18" charset="0"/>
              </a:rPr>
              <a:t>Name:</a:t>
            </a:r>
            <a:r>
              <a:rPr lang="en-US" sz="2400" dirty="0">
                <a:latin typeface="Bell MT" panose="02020503060305020303" pitchFamily="18" charset="0"/>
              </a:rPr>
              <a:t> Riya Sharma</a:t>
            </a:r>
            <a:br>
              <a:rPr lang="en-US" sz="2400" dirty="0">
                <a:latin typeface="Bell MT" panose="02020503060305020303" pitchFamily="18" charset="0"/>
              </a:rPr>
            </a:br>
            <a:r>
              <a:rPr lang="en-US" sz="2400" b="1" dirty="0">
                <a:latin typeface="Bell MT" panose="02020503060305020303" pitchFamily="18" charset="0"/>
              </a:rPr>
              <a:t>Age:</a:t>
            </a:r>
            <a:r>
              <a:rPr lang="en-US" sz="2400" dirty="0">
                <a:latin typeface="Bell MT" panose="02020503060305020303" pitchFamily="18" charset="0"/>
              </a:rPr>
              <a:t> 21</a:t>
            </a:r>
            <a:br>
              <a:rPr lang="en-US" sz="2400" dirty="0">
                <a:latin typeface="Bell MT" panose="02020503060305020303" pitchFamily="18" charset="0"/>
              </a:rPr>
            </a:br>
            <a:r>
              <a:rPr lang="en-US" sz="2400" b="1" dirty="0">
                <a:latin typeface="Bell MT" panose="02020503060305020303" pitchFamily="18" charset="0"/>
              </a:rPr>
              <a:t>Occupation:</a:t>
            </a:r>
            <a:r>
              <a:rPr lang="en-US" sz="2400" dirty="0">
                <a:latin typeface="Bell MT" panose="02020503060305020303" pitchFamily="18" charset="0"/>
              </a:rPr>
              <a:t> Student</a:t>
            </a:r>
            <a:br>
              <a:rPr lang="en-US" sz="2400" dirty="0">
                <a:latin typeface="Bell MT" panose="02020503060305020303" pitchFamily="18" charset="0"/>
              </a:rPr>
            </a:br>
            <a:r>
              <a:rPr lang="en-US" sz="2400" b="1" dirty="0">
                <a:latin typeface="Bell MT" panose="02020503060305020303" pitchFamily="18" charset="0"/>
              </a:rPr>
              <a:t>Music Habits:</a:t>
            </a:r>
            <a:r>
              <a:rPr lang="en-US" sz="2400" dirty="0">
                <a:latin typeface="Bell MT" panose="02020503060305020303" pitchFamily="18" charset="0"/>
              </a:rPr>
              <a:t> Listens daily while studying and traveling.</a:t>
            </a:r>
            <a:br>
              <a:rPr lang="en-US" sz="2400" dirty="0">
                <a:latin typeface="Bell MT" panose="02020503060305020303" pitchFamily="18" charset="0"/>
              </a:rPr>
            </a:br>
            <a:r>
              <a:rPr lang="en-US" sz="2400" b="1" dirty="0">
                <a:latin typeface="Bell MT" panose="02020503060305020303" pitchFamily="18" charset="0"/>
              </a:rPr>
              <a:t>Pain Points:</a:t>
            </a:r>
            <a:r>
              <a:rPr lang="en-US" sz="2400" dirty="0">
                <a:latin typeface="Bell MT" panose="02020503060305020303" pitchFamily="18" charset="0"/>
              </a:rPr>
              <a:t> Too many ads, confusing navigation, repetitive recommendations.</a:t>
            </a:r>
            <a:br>
              <a:rPr lang="en-US" sz="2400" dirty="0">
                <a:latin typeface="Bell MT" panose="02020503060305020303" pitchFamily="18" charset="0"/>
              </a:rPr>
            </a:br>
            <a:r>
              <a:rPr lang="en-US" sz="2400" b="1" dirty="0">
                <a:latin typeface="Bell MT" panose="02020503060305020303" pitchFamily="18" charset="0"/>
              </a:rPr>
              <a:t>Goals:</a:t>
            </a:r>
            <a:r>
              <a:rPr lang="en-US" sz="2400" dirty="0">
                <a:latin typeface="Bell MT" panose="02020503060305020303" pitchFamily="18" charset="0"/>
              </a:rPr>
              <a:t> Wants quick song access, mood-based playlists, and smooth playback.</a:t>
            </a:r>
          </a:p>
        </p:txBody>
      </p:sp>
    </p:spTree>
    <p:extLst>
      <p:ext uri="{BB962C8B-B14F-4D97-AF65-F5344CB8AC3E}">
        <p14:creationId xmlns:p14="http://schemas.microsoft.com/office/powerpoint/2010/main" val="37857737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Music symbols Images - Free Download on Freepik">
            <a:extLst>
              <a:ext uri="{FF2B5EF4-FFF2-40B4-BE49-F238E27FC236}">
                <a16:creationId xmlns:a16="http://schemas.microsoft.com/office/drawing/2014/main" id="{8538D3C4-4285-EC5C-1F18-E2500EED11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0"/>
            <a:ext cx="6858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EB335947-337F-742F-2A6D-45723889D5F4}"/>
              </a:ext>
            </a:extLst>
          </p:cNvPr>
          <p:cNvSpPr/>
          <p:nvPr/>
        </p:nvSpPr>
        <p:spPr>
          <a:xfrm>
            <a:off x="0" y="0"/>
            <a:ext cx="12192000" cy="6858000"/>
          </a:xfrm>
          <a:prstGeom prst="rect">
            <a:avLst/>
          </a:prstGeom>
          <a:solidFill>
            <a:schemeClr val="bg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3BE97259-1ECC-4169-C138-17C15D33AA5E}"/>
              </a:ext>
            </a:extLst>
          </p:cNvPr>
          <p:cNvSpPr txBox="1"/>
          <p:nvPr/>
        </p:nvSpPr>
        <p:spPr>
          <a:xfrm>
            <a:off x="0" y="0"/>
            <a:ext cx="12192000" cy="3046988"/>
          </a:xfrm>
          <a:prstGeom prst="rect">
            <a:avLst/>
          </a:prstGeom>
          <a:noFill/>
        </p:spPr>
        <p:txBody>
          <a:bodyPr wrap="square" rtlCol="0">
            <a:spAutoFit/>
          </a:bodyPr>
          <a:lstStyle/>
          <a:p>
            <a:endParaRPr lang="en-US" sz="2400" b="1" dirty="0">
              <a:latin typeface="Bell MT" panose="02020503060305020303" pitchFamily="18" charset="0"/>
            </a:endParaRPr>
          </a:p>
          <a:p>
            <a:r>
              <a:rPr lang="en-US" sz="2400" b="1" dirty="0">
                <a:solidFill>
                  <a:srgbClr val="00B0F0"/>
                </a:solidFill>
                <a:latin typeface="Bell MT" panose="02020503060305020303" pitchFamily="18" charset="0"/>
              </a:rPr>
              <a:t>5. Insights &amp; Design Implications </a:t>
            </a:r>
          </a:p>
          <a:p>
            <a:endParaRPr lang="en-US" sz="2400" b="1" dirty="0">
              <a:latin typeface="Bell MT" panose="02020503060305020303" pitchFamily="18" charset="0"/>
            </a:endParaRPr>
          </a:p>
          <a:p>
            <a:r>
              <a:rPr lang="en-US" sz="2400" dirty="0">
                <a:latin typeface="Bell MT" panose="02020503060305020303" pitchFamily="18" charset="0"/>
              </a:rPr>
              <a:t>Focus on </a:t>
            </a:r>
            <a:r>
              <a:rPr lang="en-US" sz="2400" b="1" dirty="0">
                <a:latin typeface="Bell MT" panose="02020503060305020303" pitchFamily="18" charset="0"/>
              </a:rPr>
              <a:t>personalization</a:t>
            </a:r>
            <a:r>
              <a:rPr lang="en-US" sz="2400" dirty="0">
                <a:latin typeface="Bell MT" panose="02020503060305020303" pitchFamily="18" charset="0"/>
              </a:rPr>
              <a:t> and </a:t>
            </a:r>
            <a:r>
              <a:rPr lang="en-US" sz="2400" b="1" dirty="0">
                <a:latin typeface="Bell MT" panose="02020503060305020303" pitchFamily="18" charset="0"/>
              </a:rPr>
              <a:t>user control</a:t>
            </a:r>
            <a:r>
              <a:rPr lang="en-US" sz="2400" dirty="0">
                <a:latin typeface="Bell MT" panose="02020503060305020303" pitchFamily="18" charset="0"/>
              </a:rPr>
              <a:t> over playlists.</a:t>
            </a:r>
          </a:p>
          <a:p>
            <a:r>
              <a:rPr lang="en-US" sz="2400" dirty="0">
                <a:latin typeface="Bell MT" panose="02020503060305020303" pitchFamily="18" charset="0"/>
              </a:rPr>
              <a:t>Ensure </a:t>
            </a:r>
            <a:r>
              <a:rPr lang="en-US" sz="2400" b="1" dirty="0">
                <a:latin typeface="Bell MT" panose="02020503060305020303" pitchFamily="18" charset="0"/>
              </a:rPr>
              <a:t>clean, intuitive UI/UX</a:t>
            </a:r>
            <a:r>
              <a:rPr lang="en-US" sz="2400" dirty="0">
                <a:latin typeface="Bell MT" panose="02020503060305020303" pitchFamily="18" charset="0"/>
              </a:rPr>
              <a:t> with minimal steps to play a song.</a:t>
            </a:r>
          </a:p>
          <a:p>
            <a:r>
              <a:rPr lang="en-US" sz="2400" dirty="0">
                <a:latin typeface="Bell MT" panose="02020503060305020303" pitchFamily="18" charset="0"/>
              </a:rPr>
              <a:t>Provide </a:t>
            </a:r>
            <a:r>
              <a:rPr lang="en-US" sz="2400" b="1" dirty="0">
                <a:latin typeface="Bell MT" panose="02020503060305020303" pitchFamily="18" charset="0"/>
              </a:rPr>
              <a:t>seamless performance</a:t>
            </a:r>
            <a:r>
              <a:rPr lang="en-US" sz="2400" dirty="0">
                <a:latin typeface="Bell MT" panose="02020503060305020303" pitchFamily="18" charset="0"/>
              </a:rPr>
              <a:t>, even on low-speed connections.</a:t>
            </a:r>
          </a:p>
          <a:p>
            <a:r>
              <a:rPr lang="en-US" sz="2400" dirty="0">
                <a:latin typeface="Bell MT" panose="02020503060305020303" pitchFamily="18" charset="0"/>
              </a:rPr>
              <a:t>Offer </a:t>
            </a:r>
            <a:r>
              <a:rPr lang="en-US" sz="2400" b="1" dirty="0">
                <a:latin typeface="Bell MT" panose="02020503060305020303" pitchFamily="18" charset="0"/>
              </a:rPr>
              <a:t>freemium model</a:t>
            </a:r>
            <a:r>
              <a:rPr lang="en-US" sz="2400" dirty="0">
                <a:latin typeface="Bell MT" panose="02020503060305020303" pitchFamily="18" charset="0"/>
              </a:rPr>
              <a:t> – free version with ads and premium for ad-free, offline use.</a:t>
            </a:r>
          </a:p>
          <a:p>
            <a:endParaRPr lang="en-IN" sz="2400" dirty="0">
              <a:latin typeface="Bell MT" panose="02020503060305020303" pitchFamily="18" charset="0"/>
            </a:endParaRPr>
          </a:p>
        </p:txBody>
      </p:sp>
      <p:sp>
        <p:nvSpPr>
          <p:cNvPr id="4" name="TextBox 3">
            <a:extLst>
              <a:ext uri="{FF2B5EF4-FFF2-40B4-BE49-F238E27FC236}">
                <a16:creationId xmlns:a16="http://schemas.microsoft.com/office/drawing/2014/main" id="{E7772D8A-7DBD-6CB4-E5A9-739387CC3D8E}"/>
              </a:ext>
            </a:extLst>
          </p:cNvPr>
          <p:cNvSpPr txBox="1"/>
          <p:nvPr/>
        </p:nvSpPr>
        <p:spPr>
          <a:xfrm>
            <a:off x="41563" y="2426017"/>
            <a:ext cx="12108873" cy="4431983"/>
          </a:xfrm>
          <a:prstGeom prst="rect">
            <a:avLst/>
          </a:prstGeom>
          <a:noFill/>
        </p:spPr>
        <p:txBody>
          <a:bodyPr wrap="square" rtlCol="0">
            <a:spAutoFit/>
          </a:bodyPr>
          <a:lstStyle/>
          <a:p>
            <a:pPr>
              <a:buNone/>
            </a:pPr>
            <a:endParaRPr lang="en-US" dirty="0"/>
          </a:p>
          <a:p>
            <a:pPr>
              <a:buNone/>
            </a:pPr>
            <a:r>
              <a:rPr lang="en-US" sz="2400" b="1" dirty="0">
                <a:solidFill>
                  <a:srgbClr val="C00000"/>
                </a:solidFill>
                <a:latin typeface="Bodoni MT Black" panose="02070A03080606020203" pitchFamily="18" charset="0"/>
              </a:rPr>
              <a:t>🎵 Information Architecture (IA) for Music Streaming App</a:t>
            </a:r>
          </a:p>
          <a:p>
            <a:pPr>
              <a:buNone/>
            </a:pPr>
            <a:endParaRPr lang="en-US" sz="2400" b="1" dirty="0">
              <a:latin typeface="Bell MT" panose="02020503060305020303" pitchFamily="18" charset="0"/>
            </a:endParaRPr>
          </a:p>
          <a:p>
            <a:pPr>
              <a:buNone/>
            </a:pPr>
            <a:r>
              <a:rPr lang="en-US" sz="2400" b="1" dirty="0">
                <a:latin typeface="Bell MT" panose="02020503060305020303" pitchFamily="18" charset="0"/>
              </a:rPr>
              <a:t>Information Architecture (IA)</a:t>
            </a:r>
            <a:r>
              <a:rPr lang="en-US" sz="2400" dirty="0">
                <a:latin typeface="Bell MT" panose="02020503060305020303" pitchFamily="18" charset="0"/>
              </a:rPr>
              <a:t> defines how the content and features are structured, organized, and connected so users can easily navigate and find what they need.</a:t>
            </a:r>
          </a:p>
          <a:p>
            <a:pPr>
              <a:buNone/>
            </a:pPr>
            <a:endParaRPr lang="en-US" sz="2400" dirty="0">
              <a:latin typeface="Bell MT" panose="02020503060305020303" pitchFamily="18" charset="0"/>
            </a:endParaRPr>
          </a:p>
          <a:p>
            <a:r>
              <a:rPr lang="en-US" sz="2400" b="1" dirty="0">
                <a:solidFill>
                  <a:srgbClr val="00B0F0"/>
                </a:solidFill>
                <a:latin typeface="Bell MT" panose="02020503060305020303" pitchFamily="18" charset="0"/>
              </a:rPr>
              <a:t>1.Main Sections (Top-Level Structure)</a:t>
            </a:r>
          </a:p>
          <a:p>
            <a:endParaRPr lang="en-US" sz="2400" b="1" dirty="0">
              <a:latin typeface="Bell MT" panose="02020503060305020303" pitchFamily="18" charset="0"/>
            </a:endParaRPr>
          </a:p>
          <a:p>
            <a:pPr>
              <a:buFont typeface="Arial" panose="020B0604020202020204" pitchFamily="34" charset="0"/>
              <a:buChar char="•"/>
            </a:pPr>
            <a:r>
              <a:rPr lang="en-US" sz="2400" b="1" dirty="0">
                <a:solidFill>
                  <a:srgbClr val="7030A0"/>
                </a:solidFill>
                <a:latin typeface="Bell MT" panose="02020503060305020303" pitchFamily="18" charset="0"/>
              </a:rPr>
              <a:t>Home</a:t>
            </a:r>
            <a:endParaRPr lang="en-US" sz="2400" dirty="0">
              <a:solidFill>
                <a:srgbClr val="7030A0"/>
              </a:solidFill>
              <a:latin typeface="Bell MT" panose="02020503060305020303" pitchFamily="18" charset="0"/>
            </a:endParaRPr>
          </a:p>
          <a:p>
            <a:pPr marL="742950" lvl="1" indent="-285750">
              <a:buFont typeface="Arial" panose="020B0604020202020204" pitchFamily="34" charset="0"/>
              <a:buChar char="•"/>
            </a:pPr>
            <a:r>
              <a:rPr lang="en-US" sz="2400" dirty="0">
                <a:latin typeface="Bell MT" panose="02020503060305020303" pitchFamily="18" charset="0"/>
              </a:rPr>
              <a:t>Personalized playlists (e.g., "Made for You", "Recently Played")</a:t>
            </a:r>
          </a:p>
          <a:p>
            <a:pPr marL="742950" lvl="1" indent="-285750">
              <a:buFont typeface="Arial" panose="020B0604020202020204" pitchFamily="34" charset="0"/>
              <a:buChar char="•"/>
            </a:pPr>
            <a:r>
              <a:rPr lang="en-US" sz="2400" dirty="0">
                <a:latin typeface="Bell MT" panose="02020503060305020303" pitchFamily="18" charset="0"/>
              </a:rPr>
              <a:t>Trending songs/albums</a:t>
            </a:r>
          </a:p>
          <a:p>
            <a:pPr marL="742950" lvl="1" indent="-285750">
              <a:buFont typeface="Arial" panose="020B0604020202020204" pitchFamily="34" charset="0"/>
              <a:buChar char="•"/>
            </a:pPr>
            <a:r>
              <a:rPr lang="en-US" sz="2400" dirty="0">
                <a:latin typeface="Bell MT" panose="02020503060305020303" pitchFamily="18" charset="0"/>
              </a:rPr>
              <a:t>Recommended artists/genres</a:t>
            </a:r>
          </a:p>
        </p:txBody>
      </p:sp>
    </p:spTree>
    <p:extLst>
      <p:ext uri="{BB962C8B-B14F-4D97-AF65-F5344CB8AC3E}">
        <p14:creationId xmlns:p14="http://schemas.microsoft.com/office/powerpoint/2010/main" val="4112987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Music symbols Images - Free Download on Freepik">
            <a:extLst>
              <a:ext uri="{FF2B5EF4-FFF2-40B4-BE49-F238E27FC236}">
                <a16:creationId xmlns:a16="http://schemas.microsoft.com/office/drawing/2014/main" id="{2217FDE7-ADD4-B4CA-3211-97B6568936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0"/>
            <a:ext cx="6858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5E2F0D6E-E24D-C7E4-1033-4B4E4F3B5FD6}"/>
              </a:ext>
            </a:extLst>
          </p:cNvPr>
          <p:cNvSpPr/>
          <p:nvPr/>
        </p:nvSpPr>
        <p:spPr>
          <a:xfrm>
            <a:off x="0" y="0"/>
            <a:ext cx="12192000" cy="6858000"/>
          </a:xfrm>
          <a:prstGeom prst="rect">
            <a:avLst/>
          </a:prstGeom>
          <a:solidFill>
            <a:schemeClr val="bg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4">
            <a:extLst>
              <a:ext uri="{FF2B5EF4-FFF2-40B4-BE49-F238E27FC236}">
                <a16:creationId xmlns:a16="http://schemas.microsoft.com/office/drawing/2014/main" id="{B7E8605E-18FC-F61A-2A21-1769909D1ECC}"/>
              </a:ext>
            </a:extLst>
          </p:cNvPr>
          <p:cNvSpPr>
            <a:spLocks noChangeArrowheads="1"/>
          </p:cNvSpPr>
          <p:nvPr/>
        </p:nvSpPr>
        <p:spPr bwMode="auto">
          <a:xfrm>
            <a:off x="218209" y="199719"/>
            <a:ext cx="5605404" cy="6832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7030A0"/>
                </a:solidFill>
                <a:effectLst/>
                <a:latin typeface="Bell MT" panose="02020503060305020303" pitchFamily="18" charset="0"/>
              </a:rPr>
              <a:t>Search</a:t>
            </a:r>
            <a:endParaRPr kumimoji="0" lang="en-US" altLang="en-US" sz="2000" b="0" i="0" u="none" strike="noStrike" cap="none" normalizeH="0" baseline="0" dirty="0">
              <a:ln>
                <a:noFill/>
              </a:ln>
              <a:solidFill>
                <a:srgbClr val="7030A0"/>
              </a:solidFill>
              <a:effectLst/>
              <a:latin typeface="Bell MT" panose="02020503060305020303"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Bell MT" panose="02020503060305020303" pitchFamily="18" charset="0"/>
              </a:rPr>
              <a:t>      Filters (genre, mood, language)</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Bell MT" panose="02020503060305020303" pitchFamily="18" charset="0"/>
              </a:rPr>
              <a:t>      Suggested searches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7030A0"/>
                </a:solidFill>
                <a:effectLst/>
                <a:latin typeface="Bell MT" panose="02020503060305020303" pitchFamily="18" charset="0"/>
              </a:rPr>
              <a:t>Library / Your Music</a:t>
            </a:r>
            <a:endParaRPr kumimoji="0" lang="en-US" altLang="en-US" sz="2000" b="0" i="0" u="none" strike="noStrike" cap="none" normalizeH="0" baseline="0" dirty="0">
              <a:ln>
                <a:noFill/>
              </a:ln>
              <a:solidFill>
                <a:srgbClr val="7030A0"/>
              </a:solidFill>
              <a:effectLst/>
              <a:latin typeface="Bell MT" panose="02020503060305020303"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Bell MT" panose="02020503060305020303" pitchFamily="18" charset="0"/>
              </a:rPr>
              <a:t>       Playlists</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Bell MT" panose="02020503060305020303" pitchFamily="18" charset="0"/>
              </a:rPr>
              <a:t>       Search bar (songs, artists, albums, podcasts)</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Bell MT" panose="02020503060305020303" pitchFamily="18" charset="0"/>
              </a:rPr>
              <a:t>       Liked songs</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Bell MT" panose="02020503060305020303" pitchFamily="18" charset="0"/>
              </a:rPr>
              <a:t>       Albums</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Bell MT" panose="02020503060305020303" pitchFamily="18" charset="0"/>
              </a:rPr>
              <a:t>       Artists</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Bell MT" panose="02020503060305020303" pitchFamily="18" charset="0"/>
              </a:rPr>
              <a:t>       Downloads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7030A0"/>
                </a:solidFill>
                <a:effectLst/>
                <a:latin typeface="Bell MT" panose="02020503060305020303" pitchFamily="18" charset="0"/>
              </a:rPr>
              <a:t>Now Playing</a:t>
            </a:r>
            <a:endParaRPr kumimoji="0" lang="en-US" altLang="en-US" sz="2000" b="0" i="0" u="none" strike="noStrike" cap="none" normalizeH="0" baseline="0" dirty="0">
              <a:ln>
                <a:noFill/>
              </a:ln>
              <a:solidFill>
                <a:srgbClr val="7030A0"/>
              </a:solidFill>
              <a:effectLst/>
              <a:latin typeface="Bell MT" panose="02020503060305020303"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Bell MT" panose="02020503060305020303" pitchFamily="18" charset="0"/>
              </a:rPr>
              <a:t>       Song info (title, artist, album art)</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Bell MT" panose="02020503060305020303" pitchFamily="18" charset="0"/>
              </a:rPr>
              <a:t>       Controls (play/pause, next/previous,               shuffle/repeat)</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Bell MT" panose="02020503060305020303" pitchFamily="18" charset="0"/>
              </a:rPr>
              <a:t>       Lyrics</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Bell MT" panose="02020503060305020303" pitchFamily="18" charset="0"/>
              </a:rPr>
              <a:t>       Queue list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7030A0"/>
                </a:solidFill>
                <a:effectLst/>
                <a:latin typeface="Bell MT" panose="02020503060305020303" pitchFamily="18" charset="0"/>
              </a:rPr>
              <a:t>Profile / Settings</a:t>
            </a:r>
            <a:endParaRPr kumimoji="0" lang="en-US" altLang="en-US" sz="2000" b="0" i="0" u="none" strike="noStrike" cap="none" normalizeH="0" baseline="0" dirty="0">
              <a:ln>
                <a:noFill/>
              </a:ln>
              <a:solidFill>
                <a:srgbClr val="7030A0"/>
              </a:solidFill>
              <a:effectLst/>
              <a:latin typeface="Bell MT" panose="02020503060305020303"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Bell MT" panose="02020503060305020303" pitchFamily="18" charset="0"/>
              </a:rPr>
              <a:t>       Account details</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Bell MT" panose="02020503060305020303" pitchFamily="18" charset="0"/>
              </a:rPr>
              <a:t>       Subscription plan</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Bell MT" panose="02020503060305020303" pitchFamily="18" charset="0"/>
              </a:rPr>
              <a:t>       Preferences (language, theme)</a:t>
            </a:r>
          </a:p>
          <a:p>
            <a:pPr marL="0" marR="0" lvl="0" indent="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Bell MT" panose="02020503060305020303" pitchFamily="18" charset="0"/>
              </a:rPr>
              <a:t>       App settings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052615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Music symbols Images - Free Download on Freepik">
            <a:extLst>
              <a:ext uri="{FF2B5EF4-FFF2-40B4-BE49-F238E27FC236}">
                <a16:creationId xmlns:a16="http://schemas.microsoft.com/office/drawing/2014/main" id="{5D227F47-F5F9-9972-1C67-84E9DD4B7A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0"/>
            <a:ext cx="6858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DB9B9E-080B-3488-A815-D8576347AB43}"/>
              </a:ext>
            </a:extLst>
          </p:cNvPr>
          <p:cNvSpPr/>
          <p:nvPr/>
        </p:nvSpPr>
        <p:spPr>
          <a:xfrm>
            <a:off x="0" y="0"/>
            <a:ext cx="12192000" cy="6858000"/>
          </a:xfrm>
          <a:prstGeom prst="rect">
            <a:avLst/>
          </a:prstGeom>
          <a:solidFill>
            <a:schemeClr val="bg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2F88334F-AE8C-A3BB-D8C3-A368A3FD729E}"/>
              </a:ext>
            </a:extLst>
          </p:cNvPr>
          <p:cNvSpPr txBox="1"/>
          <p:nvPr/>
        </p:nvSpPr>
        <p:spPr>
          <a:xfrm>
            <a:off x="93518" y="320456"/>
            <a:ext cx="12098482" cy="6832640"/>
          </a:xfrm>
          <a:prstGeom prst="rect">
            <a:avLst/>
          </a:prstGeom>
          <a:noFill/>
        </p:spPr>
        <p:txBody>
          <a:bodyPr wrap="square" rtlCol="0">
            <a:spAutoFit/>
          </a:bodyPr>
          <a:lstStyle/>
          <a:p>
            <a:r>
              <a:rPr lang="en-IN" sz="2000" b="1" dirty="0">
                <a:solidFill>
                  <a:srgbClr val="00B0F0"/>
                </a:solidFill>
                <a:latin typeface="Bell MT" panose="02020503060305020303" pitchFamily="18" charset="0"/>
              </a:rPr>
              <a:t>2. User Flow Example</a:t>
            </a:r>
          </a:p>
          <a:p>
            <a:endParaRPr lang="en-IN" sz="2000" b="1" dirty="0">
              <a:solidFill>
                <a:srgbClr val="00B0F0"/>
              </a:solidFill>
              <a:latin typeface="Bell MT" panose="02020503060305020303" pitchFamily="18" charset="0"/>
            </a:endParaRPr>
          </a:p>
          <a:p>
            <a:r>
              <a:rPr lang="en-IN" sz="2000" b="1" dirty="0">
                <a:solidFill>
                  <a:srgbClr val="7030A0"/>
                </a:solidFill>
                <a:latin typeface="Bell MT" panose="02020503060305020303" pitchFamily="18" charset="0"/>
              </a:rPr>
              <a:t>User Goal</a:t>
            </a:r>
            <a:r>
              <a:rPr lang="en-IN" sz="2000" b="1" dirty="0">
                <a:latin typeface="Bell MT" panose="02020503060305020303" pitchFamily="18" charset="0"/>
              </a:rPr>
              <a:t>:</a:t>
            </a:r>
            <a:r>
              <a:rPr lang="en-IN" sz="2000" dirty="0">
                <a:latin typeface="Bell MT" panose="02020503060305020303" pitchFamily="18" charset="0"/>
              </a:rPr>
              <a:t> Listen to a </a:t>
            </a:r>
            <a:r>
              <a:rPr lang="en-IN" sz="2000" dirty="0" err="1">
                <a:latin typeface="Bell MT" panose="02020503060305020303" pitchFamily="18" charset="0"/>
              </a:rPr>
              <a:t>favorite</a:t>
            </a:r>
            <a:r>
              <a:rPr lang="en-IN" sz="2000" dirty="0">
                <a:latin typeface="Bell MT" panose="02020503060305020303" pitchFamily="18" charset="0"/>
              </a:rPr>
              <a:t> artist</a:t>
            </a:r>
          </a:p>
          <a:p>
            <a:r>
              <a:rPr lang="en-IN" sz="2000" dirty="0">
                <a:latin typeface="Bell MT" panose="02020503060305020303" pitchFamily="18" charset="0"/>
              </a:rPr>
              <a:t>Open app → Home Screen</a:t>
            </a:r>
          </a:p>
          <a:p>
            <a:r>
              <a:rPr lang="en-IN" sz="2000" dirty="0">
                <a:latin typeface="Bell MT" panose="02020503060305020303" pitchFamily="18" charset="0"/>
              </a:rPr>
              <a:t>Tap </a:t>
            </a:r>
            <a:r>
              <a:rPr lang="en-IN" sz="2000" b="1" dirty="0">
                <a:latin typeface="Bell MT" panose="02020503060305020303" pitchFamily="18" charset="0"/>
              </a:rPr>
              <a:t>Search</a:t>
            </a:r>
            <a:r>
              <a:rPr lang="en-IN" sz="2000" dirty="0">
                <a:latin typeface="Bell MT" panose="02020503060305020303" pitchFamily="18" charset="0"/>
              </a:rPr>
              <a:t> → Type artist name</a:t>
            </a:r>
          </a:p>
          <a:p>
            <a:r>
              <a:rPr lang="en-IN" sz="2000" dirty="0">
                <a:latin typeface="Bell MT" panose="02020503060305020303" pitchFamily="18" charset="0"/>
              </a:rPr>
              <a:t>Select artist profile → View top songs/albums</a:t>
            </a:r>
          </a:p>
          <a:p>
            <a:r>
              <a:rPr lang="en-IN" sz="2000" dirty="0">
                <a:latin typeface="Bell MT" panose="02020503060305020303" pitchFamily="18" charset="0"/>
              </a:rPr>
              <a:t>Choose song → </a:t>
            </a:r>
            <a:r>
              <a:rPr lang="en-IN" sz="2000" b="1" dirty="0">
                <a:latin typeface="Bell MT" panose="02020503060305020303" pitchFamily="18" charset="0"/>
              </a:rPr>
              <a:t>Now Playing Screen</a:t>
            </a:r>
            <a:endParaRPr lang="en-IN" sz="2000" dirty="0">
              <a:latin typeface="Bell MT" panose="02020503060305020303" pitchFamily="18" charset="0"/>
            </a:endParaRPr>
          </a:p>
          <a:p>
            <a:r>
              <a:rPr lang="en-IN" sz="2000" dirty="0">
                <a:latin typeface="Bell MT" panose="02020503060305020303" pitchFamily="18" charset="0"/>
              </a:rPr>
              <a:t>Add to playlist or download</a:t>
            </a:r>
          </a:p>
          <a:p>
            <a:endParaRPr lang="en-IN" sz="2000" dirty="0">
              <a:latin typeface="Bell MT" panose="02020503060305020303" pitchFamily="18" charset="0"/>
            </a:endParaRPr>
          </a:p>
          <a:p>
            <a:r>
              <a:rPr lang="en-US" sz="2000" b="1" dirty="0">
                <a:solidFill>
                  <a:srgbClr val="C00000"/>
                </a:solidFill>
                <a:latin typeface="Bodoni MT Black" panose="02070A03080606020203" pitchFamily="18" charset="0"/>
              </a:rPr>
              <a:t>🧩 Wireframing (Low-Fidelity Sketch)</a:t>
            </a:r>
          </a:p>
          <a:p>
            <a:endParaRPr lang="en-US" sz="2000" b="1" dirty="0">
              <a:solidFill>
                <a:srgbClr val="C00000"/>
              </a:solidFill>
              <a:latin typeface="Bell MT" panose="02020503060305020303" pitchFamily="18" charset="0"/>
            </a:endParaRPr>
          </a:p>
          <a:p>
            <a:r>
              <a:rPr lang="en-US" sz="2000" b="1" dirty="0">
                <a:latin typeface="Bell MT" panose="02020503060305020303" pitchFamily="18" charset="0"/>
              </a:rPr>
              <a:t>Wireframes</a:t>
            </a:r>
            <a:r>
              <a:rPr lang="en-US" sz="2000" dirty="0">
                <a:latin typeface="Bell MT" panose="02020503060305020303" pitchFamily="18" charset="0"/>
              </a:rPr>
              <a:t> are simple blueprints that show layout and functionality — not visual design.</a:t>
            </a:r>
          </a:p>
          <a:p>
            <a:r>
              <a:rPr lang="en-US" sz="2000" dirty="0">
                <a:latin typeface="Bell MT" panose="02020503060305020303" pitchFamily="18" charset="0"/>
              </a:rPr>
              <a:t>Here’s how you can structure main screens:</a:t>
            </a:r>
          </a:p>
          <a:p>
            <a:endParaRPr lang="en-US" sz="2000" dirty="0">
              <a:latin typeface="Bell MT" panose="02020503060305020303" pitchFamily="18" charset="0"/>
            </a:endParaRPr>
          </a:p>
          <a:p>
            <a:r>
              <a:rPr lang="en-US" sz="2000" b="1" dirty="0">
                <a:solidFill>
                  <a:srgbClr val="00B0F0"/>
                </a:solidFill>
                <a:latin typeface="Bell MT" panose="02020503060305020303" pitchFamily="18" charset="0"/>
              </a:rPr>
              <a:t>1. Home Screen</a:t>
            </a:r>
          </a:p>
          <a:p>
            <a:r>
              <a:rPr lang="en-US" sz="2000" b="1" dirty="0">
                <a:latin typeface="Bell MT" panose="02020503060305020303" pitchFamily="18" charset="0"/>
              </a:rPr>
              <a:t>Sections:</a:t>
            </a:r>
            <a:endParaRPr lang="en-US" sz="2000" dirty="0">
              <a:latin typeface="Bell MT" panose="02020503060305020303" pitchFamily="18" charset="0"/>
            </a:endParaRPr>
          </a:p>
          <a:p>
            <a:r>
              <a:rPr lang="en-US" sz="2000" dirty="0">
                <a:latin typeface="Bell MT" panose="02020503060305020303" pitchFamily="18" charset="0"/>
              </a:rPr>
              <a:t>Top bar → Logo, Profile icon</a:t>
            </a:r>
          </a:p>
          <a:p>
            <a:r>
              <a:rPr lang="en-US" sz="2000" dirty="0">
                <a:latin typeface="Bell MT" panose="02020503060305020303" pitchFamily="18" charset="0"/>
              </a:rPr>
              <a:t>Search bar</a:t>
            </a:r>
          </a:p>
          <a:p>
            <a:r>
              <a:rPr lang="en-US" sz="2000" dirty="0">
                <a:latin typeface="Bell MT" panose="02020503060305020303" pitchFamily="18" charset="0"/>
              </a:rPr>
              <a:t>Carousel → Featured playlists or artists</a:t>
            </a:r>
          </a:p>
          <a:p>
            <a:r>
              <a:rPr lang="en-US" sz="2000" dirty="0">
                <a:latin typeface="Bell MT" panose="02020503060305020303" pitchFamily="18" charset="0"/>
              </a:rPr>
              <a:t>Horizontal lists → “Recently Played”, “For You”, “New Releases”</a:t>
            </a:r>
          </a:p>
          <a:p>
            <a:endParaRPr lang="en-IN" sz="2000" dirty="0">
              <a:latin typeface="Bell MT" panose="02020503060305020303" pitchFamily="18" charset="0"/>
            </a:endParaRPr>
          </a:p>
          <a:p>
            <a:endParaRPr lang="en-IN" dirty="0"/>
          </a:p>
        </p:txBody>
      </p:sp>
    </p:spTree>
    <p:extLst>
      <p:ext uri="{BB962C8B-B14F-4D97-AF65-F5344CB8AC3E}">
        <p14:creationId xmlns:p14="http://schemas.microsoft.com/office/powerpoint/2010/main" val="39639162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33A5C6F-F4AB-0CCC-63B9-5C7E1CB1DE9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6" name="Picture 5">
            <a:extLst>
              <a:ext uri="{FF2B5EF4-FFF2-40B4-BE49-F238E27FC236}">
                <a16:creationId xmlns:a16="http://schemas.microsoft.com/office/drawing/2014/main" id="{5435C4A7-5A47-2A85-468E-A105F3EF2F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45888" y="106026"/>
            <a:ext cx="4500224" cy="6666729"/>
          </a:xfrm>
          <a:prstGeom prst="rect">
            <a:avLst/>
          </a:prstGeom>
        </p:spPr>
      </p:pic>
    </p:spTree>
    <p:extLst>
      <p:ext uri="{BB962C8B-B14F-4D97-AF65-F5344CB8AC3E}">
        <p14:creationId xmlns:p14="http://schemas.microsoft.com/office/powerpoint/2010/main" val="2200050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F525305-1544-0ADD-111F-05367CCF79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02584" y="0"/>
            <a:ext cx="4186832" cy="6858000"/>
          </a:xfrm>
          <a:prstGeom prst="rect">
            <a:avLst/>
          </a:prstGeom>
        </p:spPr>
      </p:pic>
    </p:spTree>
    <p:extLst>
      <p:ext uri="{BB962C8B-B14F-4D97-AF65-F5344CB8AC3E}">
        <p14:creationId xmlns:p14="http://schemas.microsoft.com/office/powerpoint/2010/main" val="2735016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EEC913C-5AA3-5CDA-A850-5E26C24DBE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79194" y="0"/>
            <a:ext cx="4233612" cy="6858000"/>
          </a:xfrm>
          <a:prstGeom prst="rect">
            <a:avLst/>
          </a:prstGeom>
        </p:spPr>
      </p:pic>
    </p:spTree>
    <p:extLst>
      <p:ext uri="{BB962C8B-B14F-4D97-AF65-F5344CB8AC3E}">
        <p14:creationId xmlns:p14="http://schemas.microsoft.com/office/powerpoint/2010/main" val="27027384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91BBDFF-DCC3-EE42-7462-CFA80EE7F0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25417" y="0"/>
            <a:ext cx="4341166" cy="6858000"/>
          </a:xfrm>
          <a:prstGeom prst="rect">
            <a:avLst/>
          </a:prstGeom>
        </p:spPr>
      </p:pic>
    </p:spTree>
    <p:extLst>
      <p:ext uri="{BB962C8B-B14F-4D97-AF65-F5344CB8AC3E}">
        <p14:creationId xmlns:p14="http://schemas.microsoft.com/office/powerpoint/2010/main" val="20563285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AC45163-AD3C-C88A-FAEE-C55ABFFDAF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22038" y="0"/>
            <a:ext cx="4147924" cy="6858000"/>
          </a:xfrm>
          <a:prstGeom prst="rect">
            <a:avLst/>
          </a:prstGeom>
        </p:spPr>
      </p:pic>
    </p:spTree>
    <p:extLst>
      <p:ext uri="{BB962C8B-B14F-4D97-AF65-F5344CB8AC3E}">
        <p14:creationId xmlns:p14="http://schemas.microsoft.com/office/powerpoint/2010/main" val="21275972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08897A-45FA-7893-4660-180BDBD24F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13032" y="0"/>
            <a:ext cx="4165935" cy="6858000"/>
          </a:xfrm>
          <a:prstGeom prst="rect">
            <a:avLst/>
          </a:prstGeom>
        </p:spPr>
      </p:pic>
    </p:spTree>
    <p:extLst>
      <p:ext uri="{BB962C8B-B14F-4D97-AF65-F5344CB8AC3E}">
        <p14:creationId xmlns:p14="http://schemas.microsoft.com/office/powerpoint/2010/main" val="12862721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Music symbols Images - Free Download on Freepik">
            <a:extLst>
              <a:ext uri="{FF2B5EF4-FFF2-40B4-BE49-F238E27FC236}">
                <a16:creationId xmlns:a16="http://schemas.microsoft.com/office/drawing/2014/main" id="{E38F29CC-673B-3DEB-2799-5097324CC7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0"/>
            <a:ext cx="6858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EB5924AD-A0A5-4B5F-B3E7-E34CD4302D97}"/>
              </a:ext>
            </a:extLst>
          </p:cNvPr>
          <p:cNvSpPr/>
          <p:nvPr/>
        </p:nvSpPr>
        <p:spPr>
          <a:xfrm>
            <a:off x="0" y="0"/>
            <a:ext cx="12192000" cy="6858000"/>
          </a:xfrm>
          <a:prstGeom prst="rect">
            <a:avLst/>
          </a:prstGeom>
          <a:solidFill>
            <a:schemeClr val="bg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2562AD50-0C77-1431-11E2-90BA4BB6B8E5}"/>
              </a:ext>
            </a:extLst>
          </p:cNvPr>
          <p:cNvSpPr txBox="1"/>
          <p:nvPr/>
        </p:nvSpPr>
        <p:spPr>
          <a:xfrm>
            <a:off x="83127" y="0"/>
            <a:ext cx="12108873" cy="7171194"/>
          </a:xfrm>
          <a:prstGeom prst="rect">
            <a:avLst/>
          </a:prstGeom>
          <a:noFill/>
        </p:spPr>
        <p:txBody>
          <a:bodyPr wrap="square" rtlCol="0">
            <a:spAutoFit/>
          </a:bodyPr>
          <a:lstStyle/>
          <a:p>
            <a:r>
              <a:rPr lang="en-IN" sz="2000" b="1" dirty="0">
                <a:solidFill>
                  <a:srgbClr val="00B0F0"/>
                </a:solidFill>
                <a:latin typeface="Bell MT" panose="02020503060305020303" pitchFamily="18" charset="0"/>
              </a:rPr>
              <a:t>2. Search Screen</a:t>
            </a:r>
          </a:p>
          <a:p>
            <a:endParaRPr lang="en-IN" sz="2000" b="1" dirty="0">
              <a:solidFill>
                <a:srgbClr val="00B0F0"/>
              </a:solidFill>
              <a:latin typeface="Bell MT" panose="02020503060305020303" pitchFamily="18" charset="0"/>
            </a:endParaRPr>
          </a:p>
          <a:p>
            <a:r>
              <a:rPr lang="en-IN" sz="2000" b="1" dirty="0">
                <a:solidFill>
                  <a:srgbClr val="7030A0"/>
                </a:solidFill>
                <a:latin typeface="Bell MT" panose="02020503060305020303" pitchFamily="18" charset="0"/>
              </a:rPr>
              <a:t>Layout:</a:t>
            </a:r>
            <a:endParaRPr lang="en-IN" sz="2000" dirty="0">
              <a:solidFill>
                <a:srgbClr val="7030A0"/>
              </a:solidFill>
              <a:latin typeface="Bell MT" panose="02020503060305020303" pitchFamily="18" charset="0"/>
            </a:endParaRPr>
          </a:p>
          <a:p>
            <a:r>
              <a:rPr lang="en-IN" sz="2000" dirty="0">
                <a:latin typeface="Bell MT" panose="02020503060305020303" pitchFamily="18" charset="0"/>
              </a:rPr>
              <a:t>         Top → Search input field</a:t>
            </a:r>
          </a:p>
          <a:p>
            <a:r>
              <a:rPr lang="en-IN" sz="2000" dirty="0">
                <a:latin typeface="Bell MT" panose="02020503060305020303" pitchFamily="18" charset="0"/>
              </a:rPr>
              <a:t>         Categories grid → Genres, Moods, Podcasts</a:t>
            </a:r>
          </a:p>
          <a:p>
            <a:r>
              <a:rPr lang="en-IN" sz="2000" dirty="0">
                <a:latin typeface="Bell MT" panose="02020503060305020303" pitchFamily="18" charset="0"/>
              </a:rPr>
              <a:t>Recent searches</a:t>
            </a:r>
          </a:p>
          <a:p>
            <a:r>
              <a:rPr lang="en-IN" sz="2000" dirty="0">
                <a:latin typeface="Bell MT" panose="02020503060305020303" pitchFamily="18" charset="0"/>
              </a:rPr>
              <a:t>          Suggested artists or playlists</a:t>
            </a:r>
          </a:p>
          <a:p>
            <a:endParaRPr lang="en-IN" sz="2000" b="1" dirty="0">
              <a:solidFill>
                <a:srgbClr val="00B0F0"/>
              </a:solidFill>
              <a:latin typeface="Bell MT" panose="02020503060305020303" pitchFamily="18" charset="0"/>
            </a:endParaRPr>
          </a:p>
          <a:p>
            <a:r>
              <a:rPr lang="en-IN" sz="2000" b="1" dirty="0">
                <a:solidFill>
                  <a:srgbClr val="00B0F0"/>
                </a:solidFill>
                <a:latin typeface="Bell MT" panose="02020503060305020303" pitchFamily="18" charset="0"/>
              </a:rPr>
              <a:t>3. Library Screen</a:t>
            </a:r>
          </a:p>
          <a:p>
            <a:endParaRPr lang="en-IN" sz="2000" b="1" dirty="0">
              <a:solidFill>
                <a:srgbClr val="00B0F0"/>
              </a:solidFill>
              <a:latin typeface="Bell MT" panose="02020503060305020303" pitchFamily="18" charset="0"/>
            </a:endParaRPr>
          </a:p>
          <a:p>
            <a:r>
              <a:rPr lang="en-IN" sz="2000" b="1" dirty="0">
                <a:solidFill>
                  <a:srgbClr val="7030A0"/>
                </a:solidFill>
                <a:latin typeface="Bell MT" panose="02020503060305020303" pitchFamily="18" charset="0"/>
              </a:rPr>
              <a:t>    Tabs:</a:t>
            </a:r>
            <a:endParaRPr lang="en-IN" sz="2000" dirty="0">
              <a:solidFill>
                <a:srgbClr val="7030A0"/>
              </a:solidFill>
              <a:latin typeface="Bell MT" panose="02020503060305020303" pitchFamily="18" charset="0"/>
            </a:endParaRPr>
          </a:p>
          <a:p>
            <a:r>
              <a:rPr lang="en-IN" sz="2000" dirty="0">
                <a:latin typeface="Bell MT" panose="02020503060305020303" pitchFamily="18" charset="0"/>
              </a:rPr>
              <a:t>            Playlists | Songs | Albums | Artists | Downloads</a:t>
            </a:r>
            <a:br>
              <a:rPr lang="en-IN" sz="2000" dirty="0">
                <a:latin typeface="Bell MT" panose="02020503060305020303" pitchFamily="18" charset="0"/>
              </a:rPr>
            </a:br>
            <a:r>
              <a:rPr lang="en-IN" sz="2000" dirty="0">
                <a:latin typeface="Bell MT" panose="02020503060305020303" pitchFamily="18" charset="0"/>
              </a:rPr>
              <a:t> Each shows a scrollable list with album art and title.</a:t>
            </a:r>
          </a:p>
          <a:p>
            <a:endParaRPr lang="en-IN" sz="2000" dirty="0">
              <a:latin typeface="Bell MT" panose="02020503060305020303" pitchFamily="18" charset="0"/>
            </a:endParaRPr>
          </a:p>
          <a:p>
            <a:r>
              <a:rPr lang="en-US" sz="2000" b="1" dirty="0">
                <a:solidFill>
                  <a:srgbClr val="00B0F0"/>
                </a:solidFill>
                <a:latin typeface="Bell MT" panose="02020503060305020303" pitchFamily="18" charset="0"/>
              </a:rPr>
              <a:t>4. Now Playing Screen</a:t>
            </a:r>
          </a:p>
          <a:p>
            <a:r>
              <a:rPr lang="en-US" sz="2000" b="1" dirty="0">
                <a:solidFill>
                  <a:srgbClr val="7030A0"/>
                </a:solidFill>
                <a:latin typeface="Bell MT" panose="02020503060305020303" pitchFamily="18" charset="0"/>
              </a:rPr>
              <a:t>Elements:</a:t>
            </a:r>
            <a:endParaRPr lang="en-US" sz="2000" dirty="0">
              <a:solidFill>
                <a:srgbClr val="7030A0"/>
              </a:solidFill>
              <a:latin typeface="Bell MT" panose="02020503060305020303" pitchFamily="18" charset="0"/>
            </a:endParaRPr>
          </a:p>
          <a:p>
            <a:r>
              <a:rPr lang="en-US" sz="2000" dirty="0">
                <a:latin typeface="Bell MT" panose="02020503060305020303" pitchFamily="18" charset="0"/>
              </a:rPr>
              <a:t>         Album art (center)</a:t>
            </a:r>
          </a:p>
          <a:p>
            <a:r>
              <a:rPr lang="en-US" sz="2000" dirty="0">
                <a:latin typeface="Bell MT" panose="02020503060305020303" pitchFamily="18" charset="0"/>
              </a:rPr>
              <a:t>         Song title + artist</a:t>
            </a:r>
          </a:p>
          <a:p>
            <a:r>
              <a:rPr lang="en-US" sz="2000" dirty="0">
                <a:latin typeface="Bell MT" panose="02020503060305020303" pitchFamily="18" charset="0"/>
              </a:rPr>
              <a:t>Progress bar</a:t>
            </a:r>
          </a:p>
          <a:p>
            <a:r>
              <a:rPr lang="en-US" sz="2000" dirty="0">
                <a:latin typeface="Bell MT" panose="02020503060305020303" pitchFamily="18" charset="0"/>
              </a:rPr>
              <a:t>          Controls → Play, Pause, Skip, Shuffle, Repeat</a:t>
            </a:r>
          </a:p>
          <a:p>
            <a:r>
              <a:rPr lang="en-US" sz="2000" dirty="0">
                <a:latin typeface="Bell MT" panose="02020503060305020303" pitchFamily="18" charset="0"/>
              </a:rPr>
              <a:t>Lyrics (expandable)</a:t>
            </a:r>
          </a:p>
          <a:p>
            <a:r>
              <a:rPr lang="en-US" sz="2000" dirty="0">
                <a:latin typeface="Bell MT" panose="02020503060305020303" pitchFamily="18" charset="0"/>
              </a:rPr>
              <a:t>          Add to playlist / Like button</a:t>
            </a:r>
          </a:p>
          <a:p>
            <a:endParaRPr lang="en-IN" sz="2000" dirty="0">
              <a:latin typeface="Bell MT" panose="02020503060305020303" pitchFamily="18" charset="0"/>
            </a:endParaRPr>
          </a:p>
        </p:txBody>
      </p:sp>
    </p:spTree>
    <p:extLst>
      <p:ext uri="{BB962C8B-B14F-4D97-AF65-F5344CB8AC3E}">
        <p14:creationId xmlns:p14="http://schemas.microsoft.com/office/powerpoint/2010/main" val="20276169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Music symbols Images - Free Download on Freepik">
            <a:extLst>
              <a:ext uri="{FF2B5EF4-FFF2-40B4-BE49-F238E27FC236}">
                <a16:creationId xmlns:a16="http://schemas.microsoft.com/office/drawing/2014/main" id="{2E809CBA-6C86-1745-F914-5046A305E7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0"/>
            <a:ext cx="6858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524E5F7C-5871-3F2D-FD1B-0D806ECA3E04}"/>
              </a:ext>
            </a:extLst>
          </p:cNvPr>
          <p:cNvSpPr/>
          <p:nvPr/>
        </p:nvSpPr>
        <p:spPr>
          <a:xfrm>
            <a:off x="0" y="0"/>
            <a:ext cx="12192000" cy="6858000"/>
          </a:xfrm>
          <a:prstGeom prst="rect">
            <a:avLst/>
          </a:prstGeom>
          <a:solidFill>
            <a:schemeClr val="bg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8D7A9779-DE5A-9AF0-3BE2-94501C1F94FB}"/>
              </a:ext>
            </a:extLst>
          </p:cNvPr>
          <p:cNvSpPr txBox="1"/>
          <p:nvPr/>
        </p:nvSpPr>
        <p:spPr>
          <a:xfrm>
            <a:off x="0" y="0"/>
            <a:ext cx="12192000" cy="6217087"/>
          </a:xfrm>
          <a:prstGeom prst="rect">
            <a:avLst/>
          </a:prstGeom>
          <a:noFill/>
        </p:spPr>
        <p:txBody>
          <a:bodyPr wrap="square" rtlCol="0">
            <a:spAutoFit/>
          </a:bodyPr>
          <a:lstStyle/>
          <a:p>
            <a:r>
              <a:rPr lang="en-US" sz="2000" b="1" dirty="0">
                <a:solidFill>
                  <a:srgbClr val="00B0F0"/>
                </a:solidFill>
                <a:latin typeface="Bell MT" panose="02020503060305020303" pitchFamily="18" charset="0"/>
              </a:rPr>
              <a:t>5. Profile / Settings</a:t>
            </a:r>
          </a:p>
          <a:p>
            <a:endParaRPr lang="en-US" sz="2000" b="1" dirty="0">
              <a:solidFill>
                <a:srgbClr val="00B0F0"/>
              </a:solidFill>
              <a:latin typeface="Bell MT" panose="02020503060305020303" pitchFamily="18" charset="0"/>
            </a:endParaRPr>
          </a:p>
          <a:p>
            <a:r>
              <a:rPr lang="en-US" sz="2000" b="1" dirty="0">
                <a:solidFill>
                  <a:srgbClr val="7030A0"/>
                </a:solidFill>
                <a:latin typeface="Bell MT" panose="02020503060305020303" pitchFamily="18" charset="0"/>
              </a:rPr>
              <a:t>Sections:</a:t>
            </a:r>
            <a:endParaRPr lang="en-US" sz="2000" dirty="0">
              <a:solidFill>
                <a:srgbClr val="7030A0"/>
              </a:solidFill>
              <a:latin typeface="Bell MT" panose="02020503060305020303" pitchFamily="18" charset="0"/>
            </a:endParaRPr>
          </a:p>
          <a:p>
            <a:r>
              <a:rPr lang="en-US" sz="2000" dirty="0">
                <a:latin typeface="Bell MT" panose="02020503060305020303" pitchFamily="18" charset="0"/>
              </a:rPr>
              <a:t>      User name + avatar</a:t>
            </a:r>
          </a:p>
          <a:p>
            <a:r>
              <a:rPr lang="en-US" sz="2000" dirty="0">
                <a:latin typeface="Bell MT" panose="02020503060305020303" pitchFamily="18" charset="0"/>
              </a:rPr>
              <a:t>      Subscription info</a:t>
            </a:r>
          </a:p>
          <a:p>
            <a:r>
              <a:rPr lang="en-US" sz="2000" dirty="0">
                <a:latin typeface="Bell MT" panose="02020503060305020303" pitchFamily="18" charset="0"/>
              </a:rPr>
              <a:t>      Preferences (Dark mode, Notifications)</a:t>
            </a:r>
          </a:p>
          <a:p>
            <a:r>
              <a:rPr lang="en-US" sz="2000" dirty="0">
                <a:latin typeface="Bell MT" panose="02020503060305020303" pitchFamily="18" charset="0"/>
              </a:rPr>
              <a:t>      Log out button</a:t>
            </a:r>
          </a:p>
          <a:p>
            <a:endParaRPr lang="en-US" sz="2000" dirty="0">
              <a:latin typeface="Bell MT" panose="02020503060305020303" pitchFamily="18" charset="0"/>
            </a:endParaRPr>
          </a:p>
          <a:p>
            <a:r>
              <a:rPr lang="en-IN" sz="2000" b="1" dirty="0">
                <a:solidFill>
                  <a:srgbClr val="C00000"/>
                </a:solidFill>
                <a:latin typeface="Bell MT" panose="02020503060305020303" pitchFamily="18" charset="0"/>
              </a:rPr>
              <a:t>🎨 1. Visual Design (UI Design Phase)</a:t>
            </a:r>
          </a:p>
          <a:p>
            <a:r>
              <a:rPr lang="en-IN" sz="2000" dirty="0">
                <a:latin typeface="Bell MT" panose="02020503060305020303" pitchFamily="18" charset="0"/>
              </a:rPr>
              <a:t>                 Visual design defines how your app </a:t>
            </a:r>
            <a:r>
              <a:rPr lang="en-IN" sz="2000" i="1" dirty="0">
                <a:latin typeface="Bell MT" panose="02020503060305020303" pitchFamily="18" charset="0"/>
              </a:rPr>
              <a:t>looks</a:t>
            </a:r>
            <a:r>
              <a:rPr lang="en-IN" sz="2000" dirty="0">
                <a:latin typeface="Bell MT" panose="02020503060305020303" pitchFamily="18" charset="0"/>
              </a:rPr>
              <a:t> — the </a:t>
            </a:r>
            <a:r>
              <a:rPr lang="en-IN" sz="2000" dirty="0" err="1">
                <a:latin typeface="Bell MT" panose="02020503060305020303" pitchFamily="18" charset="0"/>
              </a:rPr>
              <a:t>colors</a:t>
            </a:r>
            <a:r>
              <a:rPr lang="en-IN" sz="2000" dirty="0">
                <a:latin typeface="Bell MT" panose="02020503060305020303" pitchFamily="18" charset="0"/>
              </a:rPr>
              <a:t>, typography, icons, images, and overall mood.</a:t>
            </a:r>
          </a:p>
          <a:p>
            <a:br>
              <a:rPr lang="en-IN" sz="2000" dirty="0">
                <a:latin typeface="Bell MT" panose="02020503060305020303" pitchFamily="18" charset="0"/>
              </a:rPr>
            </a:br>
            <a:endParaRPr lang="en-IN" sz="2000" dirty="0">
              <a:latin typeface="Bell MT" panose="02020503060305020303" pitchFamily="18" charset="0"/>
            </a:endParaRPr>
          </a:p>
          <a:p>
            <a:r>
              <a:rPr lang="en-IN" sz="2000" b="1" dirty="0">
                <a:solidFill>
                  <a:srgbClr val="00B0F0"/>
                </a:solidFill>
                <a:latin typeface="Bell MT" panose="02020503060305020303" pitchFamily="18" charset="0"/>
              </a:rPr>
              <a:t>A. Design Style &amp; Theme</a:t>
            </a:r>
          </a:p>
          <a:p>
            <a:r>
              <a:rPr lang="en-IN" sz="2000" b="1" dirty="0">
                <a:solidFill>
                  <a:srgbClr val="7030A0"/>
                </a:solidFill>
                <a:latin typeface="Bell MT" panose="02020503060305020303" pitchFamily="18" charset="0"/>
              </a:rPr>
              <a:t>      Goal:</a:t>
            </a:r>
            <a:r>
              <a:rPr lang="en-IN" sz="2000" dirty="0">
                <a:solidFill>
                  <a:srgbClr val="7030A0"/>
                </a:solidFill>
                <a:latin typeface="Bell MT" panose="02020503060305020303" pitchFamily="18" charset="0"/>
              </a:rPr>
              <a:t> </a:t>
            </a:r>
            <a:r>
              <a:rPr lang="en-IN" sz="2000" dirty="0">
                <a:latin typeface="Bell MT" panose="02020503060305020303" pitchFamily="18" charset="0"/>
              </a:rPr>
              <a:t>Create a mood that matches your app’s identity.</a:t>
            </a:r>
            <a:br>
              <a:rPr lang="en-IN" sz="2000" dirty="0">
                <a:latin typeface="Bell MT" panose="02020503060305020303" pitchFamily="18" charset="0"/>
              </a:rPr>
            </a:br>
            <a:r>
              <a:rPr lang="en-IN" sz="2000" dirty="0">
                <a:latin typeface="Bell MT" panose="02020503060305020303" pitchFamily="18" charset="0"/>
              </a:rPr>
              <a:t> Example themes for music apps:</a:t>
            </a:r>
          </a:p>
          <a:p>
            <a:r>
              <a:rPr lang="en-IN" sz="2000" dirty="0">
                <a:latin typeface="Bell MT" panose="02020503060305020303" pitchFamily="18" charset="0"/>
              </a:rPr>
              <a:t>     🎧 </a:t>
            </a:r>
            <a:r>
              <a:rPr lang="en-IN" sz="2000" b="1" dirty="0">
                <a:solidFill>
                  <a:srgbClr val="7030A0"/>
                </a:solidFill>
                <a:latin typeface="Bell MT" panose="02020503060305020303" pitchFamily="18" charset="0"/>
              </a:rPr>
              <a:t>Dark Mode (Popular</a:t>
            </a:r>
            <a:r>
              <a:rPr lang="en-IN" sz="2000" b="1" dirty="0">
                <a:latin typeface="Bell MT" panose="02020503060305020303" pitchFamily="18" charset="0"/>
              </a:rPr>
              <a:t>)</a:t>
            </a:r>
            <a:r>
              <a:rPr lang="en-IN" sz="2000" dirty="0">
                <a:latin typeface="Bell MT" panose="02020503060305020303" pitchFamily="18" charset="0"/>
              </a:rPr>
              <a:t> → Black, dark </a:t>
            </a:r>
            <a:r>
              <a:rPr lang="en-IN" sz="2000" dirty="0" err="1">
                <a:latin typeface="Bell MT" panose="02020503060305020303" pitchFamily="18" charset="0"/>
              </a:rPr>
              <a:t>gray</a:t>
            </a:r>
            <a:r>
              <a:rPr lang="en-IN" sz="2000" dirty="0">
                <a:latin typeface="Bell MT" panose="02020503060305020303" pitchFamily="18" charset="0"/>
              </a:rPr>
              <a:t> backgrounds with vibrant accent </a:t>
            </a:r>
            <a:r>
              <a:rPr lang="en-IN" sz="2000" dirty="0" err="1">
                <a:latin typeface="Bell MT" panose="02020503060305020303" pitchFamily="18" charset="0"/>
              </a:rPr>
              <a:t>colors</a:t>
            </a:r>
            <a:r>
              <a:rPr lang="en-IN" sz="2000" dirty="0">
                <a:latin typeface="Bell MT" panose="02020503060305020303" pitchFamily="18" charset="0"/>
              </a:rPr>
              <a:t> (Spotify-style).</a:t>
            </a:r>
          </a:p>
          <a:p>
            <a:r>
              <a:rPr lang="en-IN" sz="2000" dirty="0">
                <a:latin typeface="Bell MT" panose="02020503060305020303" pitchFamily="18" charset="0"/>
              </a:rPr>
              <a:t>     🌅 </a:t>
            </a:r>
            <a:r>
              <a:rPr lang="en-IN" sz="2000" b="1" dirty="0">
                <a:solidFill>
                  <a:srgbClr val="7030A0"/>
                </a:solidFill>
                <a:latin typeface="Bell MT" panose="02020503060305020303" pitchFamily="18" charset="0"/>
              </a:rPr>
              <a:t>Vibrant Theme</a:t>
            </a:r>
            <a:r>
              <a:rPr lang="en-IN" sz="2000" dirty="0">
                <a:solidFill>
                  <a:srgbClr val="7030A0"/>
                </a:solidFill>
                <a:latin typeface="Bell MT" panose="02020503060305020303" pitchFamily="18" charset="0"/>
              </a:rPr>
              <a:t> </a:t>
            </a:r>
            <a:r>
              <a:rPr lang="en-IN" sz="2000" dirty="0">
                <a:latin typeface="Bell MT" panose="02020503060305020303" pitchFamily="18" charset="0"/>
              </a:rPr>
              <a:t>→ Gradient backgrounds (e.g., purple → pink, or blue → cyan).</a:t>
            </a:r>
          </a:p>
          <a:p>
            <a:r>
              <a:rPr lang="en-IN" sz="2000" dirty="0">
                <a:latin typeface="Bell MT" panose="02020503060305020303" pitchFamily="18" charset="0"/>
              </a:rPr>
              <a:t>     🩵 </a:t>
            </a:r>
            <a:r>
              <a:rPr lang="en-IN" sz="2000" b="1" dirty="0">
                <a:solidFill>
                  <a:srgbClr val="7030A0"/>
                </a:solidFill>
                <a:latin typeface="Bell MT" panose="02020503060305020303" pitchFamily="18" charset="0"/>
              </a:rPr>
              <a:t>Minimal Th</a:t>
            </a:r>
            <a:r>
              <a:rPr lang="en-IN" sz="2000" dirty="0">
                <a:latin typeface="Bell MT" panose="02020503060305020303" pitchFamily="18" charset="0"/>
              </a:rPr>
              <a:t>→ Clean white background with pastel accents.</a:t>
            </a:r>
          </a:p>
          <a:p>
            <a:endParaRPr lang="en-US" sz="2000" dirty="0">
              <a:latin typeface="Bell MT" panose="02020503060305020303" pitchFamily="18" charset="0"/>
            </a:endParaRPr>
          </a:p>
          <a:p>
            <a:r>
              <a:rPr lang="en-IN" dirty="0"/>
              <a:t>  </a:t>
            </a:r>
          </a:p>
        </p:txBody>
      </p:sp>
    </p:spTree>
    <p:extLst>
      <p:ext uri="{BB962C8B-B14F-4D97-AF65-F5344CB8AC3E}">
        <p14:creationId xmlns:p14="http://schemas.microsoft.com/office/powerpoint/2010/main" val="13604473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usic symbols Images - Free Download on Freepik">
            <a:extLst>
              <a:ext uri="{FF2B5EF4-FFF2-40B4-BE49-F238E27FC236}">
                <a16:creationId xmlns:a16="http://schemas.microsoft.com/office/drawing/2014/main" id="{734E0DD6-09F1-FC12-063A-BC19E16A95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0"/>
            <a:ext cx="6858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501BA720-3AFB-3D5D-910C-7B8B0D6C1660}"/>
              </a:ext>
            </a:extLst>
          </p:cNvPr>
          <p:cNvSpPr/>
          <p:nvPr/>
        </p:nvSpPr>
        <p:spPr>
          <a:xfrm>
            <a:off x="0" y="0"/>
            <a:ext cx="12192000" cy="6941127"/>
          </a:xfrm>
          <a:prstGeom prst="rect">
            <a:avLst/>
          </a:prstGeom>
          <a:solidFill>
            <a:schemeClr val="bg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000">
              <a:latin typeface="Bell MT" panose="02020503060305020303" pitchFamily="18" charset="0"/>
            </a:endParaRPr>
          </a:p>
        </p:txBody>
      </p:sp>
      <p:sp>
        <p:nvSpPr>
          <p:cNvPr id="4" name="TextBox 3">
            <a:extLst>
              <a:ext uri="{FF2B5EF4-FFF2-40B4-BE49-F238E27FC236}">
                <a16:creationId xmlns:a16="http://schemas.microsoft.com/office/drawing/2014/main" id="{149BABE5-55F3-1F01-8150-7DBB65E6CD79}"/>
              </a:ext>
            </a:extLst>
          </p:cNvPr>
          <p:cNvSpPr txBox="1"/>
          <p:nvPr/>
        </p:nvSpPr>
        <p:spPr>
          <a:xfrm>
            <a:off x="0" y="0"/>
            <a:ext cx="12192000" cy="400110"/>
          </a:xfrm>
          <a:prstGeom prst="rect">
            <a:avLst/>
          </a:prstGeom>
          <a:noFill/>
        </p:spPr>
        <p:txBody>
          <a:bodyPr wrap="square" rtlCol="0">
            <a:spAutoFit/>
          </a:bodyPr>
          <a:lstStyle/>
          <a:p>
            <a:endParaRPr lang="en-IN" sz="2000" dirty="0">
              <a:latin typeface="Bell MT" panose="02020503060305020303" pitchFamily="18" charset="0"/>
            </a:endParaRPr>
          </a:p>
        </p:txBody>
      </p:sp>
      <p:graphicFrame>
        <p:nvGraphicFramePr>
          <p:cNvPr id="15" name="Table 14">
            <a:extLst>
              <a:ext uri="{FF2B5EF4-FFF2-40B4-BE49-F238E27FC236}">
                <a16:creationId xmlns:a16="http://schemas.microsoft.com/office/drawing/2014/main" id="{7BE23659-765E-A807-2872-F98EAF9B5B0D}"/>
              </a:ext>
            </a:extLst>
          </p:cNvPr>
          <p:cNvGraphicFramePr>
            <a:graphicFrameLocks noGrp="1"/>
          </p:cNvGraphicFramePr>
          <p:nvPr>
            <p:extLst>
              <p:ext uri="{D42A27DB-BD31-4B8C-83A1-F6EECF244321}">
                <p14:modId xmlns:p14="http://schemas.microsoft.com/office/powerpoint/2010/main" val="671782052"/>
              </p:ext>
            </p:extLst>
          </p:nvPr>
        </p:nvGraphicFramePr>
        <p:xfrm>
          <a:off x="628650" y="719305"/>
          <a:ext cx="10515600" cy="2194560"/>
        </p:xfrm>
        <a:graphic>
          <a:graphicData uri="http://schemas.openxmlformats.org/drawingml/2006/table">
            <a:tbl>
              <a:tblPr>
                <a:tableStyleId>{8A107856-5554-42FB-B03E-39F5DBC370BA}</a:tableStyleId>
              </a:tblPr>
              <a:tblGrid>
                <a:gridCol w="5257800">
                  <a:extLst>
                    <a:ext uri="{9D8B030D-6E8A-4147-A177-3AD203B41FA5}">
                      <a16:colId xmlns:a16="http://schemas.microsoft.com/office/drawing/2014/main" val="3927925068"/>
                    </a:ext>
                  </a:extLst>
                </a:gridCol>
                <a:gridCol w="5257800">
                  <a:extLst>
                    <a:ext uri="{9D8B030D-6E8A-4147-A177-3AD203B41FA5}">
                      <a16:colId xmlns:a16="http://schemas.microsoft.com/office/drawing/2014/main" val="345991581"/>
                    </a:ext>
                  </a:extLst>
                </a:gridCol>
              </a:tblGrid>
              <a:tr h="0">
                <a:tc>
                  <a:txBody>
                    <a:bodyPr/>
                    <a:lstStyle/>
                    <a:p>
                      <a:pPr>
                        <a:buNone/>
                      </a:pPr>
                      <a:r>
                        <a:rPr lang="en-IN" dirty="0"/>
                        <a:t>Purpose</a:t>
                      </a:r>
                    </a:p>
                  </a:txBody>
                  <a:tcPr anchor="ctr">
                    <a:solidFill>
                      <a:srgbClr val="F4EAFA"/>
                    </a:solidFill>
                  </a:tcPr>
                </a:tc>
                <a:tc>
                  <a:txBody>
                    <a:bodyPr/>
                    <a:lstStyle/>
                    <a:p>
                      <a:pPr>
                        <a:buNone/>
                      </a:pPr>
                      <a:r>
                        <a:rPr lang="en-IN"/>
                        <a:t>Color Example</a:t>
                      </a:r>
                    </a:p>
                  </a:txBody>
                  <a:tcPr anchor="ctr">
                    <a:solidFill>
                      <a:srgbClr val="F4EAFA"/>
                    </a:solidFill>
                  </a:tcPr>
                </a:tc>
                <a:extLst>
                  <a:ext uri="{0D108BD9-81ED-4DB2-BD59-A6C34878D82A}">
                    <a16:rowId xmlns:a16="http://schemas.microsoft.com/office/drawing/2014/main" val="328171929"/>
                  </a:ext>
                </a:extLst>
              </a:tr>
              <a:tr h="0">
                <a:tc>
                  <a:txBody>
                    <a:bodyPr/>
                    <a:lstStyle/>
                    <a:p>
                      <a:pPr>
                        <a:buNone/>
                      </a:pPr>
                      <a:r>
                        <a:rPr lang="en-IN" dirty="0"/>
                        <a:t>Background</a:t>
                      </a:r>
                    </a:p>
                  </a:txBody>
                  <a:tcPr anchor="ctr">
                    <a:solidFill>
                      <a:srgbClr val="F4EAFA"/>
                    </a:solidFill>
                  </a:tcPr>
                </a:tc>
                <a:tc>
                  <a:txBody>
                    <a:bodyPr/>
                    <a:lstStyle/>
                    <a:p>
                      <a:pPr>
                        <a:buNone/>
                      </a:pPr>
                      <a:r>
                        <a:rPr lang="en-IN" dirty="0"/>
                        <a:t>#121212 (dark </a:t>
                      </a:r>
                      <a:r>
                        <a:rPr lang="en-IN" dirty="0" err="1"/>
                        <a:t>gray</a:t>
                      </a:r>
                      <a:r>
                        <a:rPr lang="en-IN" dirty="0"/>
                        <a:t>)</a:t>
                      </a:r>
                    </a:p>
                  </a:txBody>
                  <a:tcPr anchor="ctr">
                    <a:solidFill>
                      <a:srgbClr val="F4EAFA"/>
                    </a:solidFill>
                  </a:tcPr>
                </a:tc>
                <a:extLst>
                  <a:ext uri="{0D108BD9-81ED-4DB2-BD59-A6C34878D82A}">
                    <a16:rowId xmlns:a16="http://schemas.microsoft.com/office/drawing/2014/main" val="2701119722"/>
                  </a:ext>
                </a:extLst>
              </a:tr>
              <a:tr h="0">
                <a:tc>
                  <a:txBody>
                    <a:bodyPr/>
                    <a:lstStyle/>
                    <a:p>
                      <a:pPr>
                        <a:buNone/>
                      </a:pPr>
                      <a:r>
                        <a:rPr lang="en-IN" dirty="0"/>
                        <a:t>Primary Accent</a:t>
                      </a:r>
                    </a:p>
                  </a:txBody>
                  <a:tcPr anchor="ctr">
                    <a:solidFill>
                      <a:srgbClr val="F4EAFA"/>
                    </a:solidFill>
                  </a:tcPr>
                </a:tc>
                <a:tc>
                  <a:txBody>
                    <a:bodyPr/>
                    <a:lstStyle/>
                    <a:p>
                      <a:pPr>
                        <a:buNone/>
                      </a:pPr>
                      <a:r>
                        <a:rPr lang="en-IN"/>
                        <a:t>#1DB954 (green)</a:t>
                      </a:r>
                    </a:p>
                  </a:txBody>
                  <a:tcPr anchor="ctr">
                    <a:solidFill>
                      <a:srgbClr val="F4EAFA"/>
                    </a:solidFill>
                  </a:tcPr>
                </a:tc>
                <a:extLst>
                  <a:ext uri="{0D108BD9-81ED-4DB2-BD59-A6C34878D82A}">
                    <a16:rowId xmlns:a16="http://schemas.microsoft.com/office/drawing/2014/main" val="2739504894"/>
                  </a:ext>
                </a:extLst>
              </a:tr>
              <a:tr h="145515">
                <a:tc>
                  <a:txBody>
                    <a:bodyPr/>
                    <a:lstStyle/>
                    <a:p>
                      <a:pPr>
                        <a:buNone/>
                      </a:pPr>
                      <a:r>
                        <a:rPr lang="en-IN" dirty="0"/>
                        <a:t>Secondary Accent</a:t>
                      </a:r>
                    </a:p>
                  </a:txBody>
                  <a:tcPr anchor="ctr">
                    <a:solidFill>
                      <a:srgbClr val="F4EAFA"/>
                    </a:solidFill>
                  </a:tcPr>
                </a:tc>
                <a:tc>
                  <a:txBody>
                    <a:bodyPr/>
                    <a:lstStyle/>
                    <a:p>
                      <a:pPr>
                        <a:buNone/>
                      </a:pPr>
                      <a:r>
                        <a:rPr lang="en-IN" dirty="0"/>
                        <a:t>#FF4B4B (red for likes)</a:t>
                      </a:r>
                    </a:p>
                  </a:txBody>
                  <a:tcPr anchor="ctr">
                    <a:solidFill>
                      <a:srgbClr val="F4EAFA"/>
                    </a:solidFill>
                  </a:tcPr>
                </a:tc>
                <a:extLst>
                  <a:ext uri="{0D108BD9-81ED-4DB2-BD59-A6C34878D82A}">
                    <a16:rowId xmlns:a16="http://schemas.microsoft.com/office/drawing/2014/main" val="2549379028"/>
                  </a:ext>
                </a:extLst>
              </a:tr>
              <a:tr h="0">
                <a:tc>
                  <a:txBody>
                    <a:bodyPr/>
                    <a:lstStyle/>
                    <a:p>
                      <a:pPr>
                        <a:buNone/>
                      </a:pPr>
                      <a:r>
                        <a:rPr lang="en-IN" dirty="0"/>
                        <a:t>Text</a:t>
                      </a:r>
                    </a:p>
                  </a:txBody>
                  <a:tcPr anchor="ctr">
                    <a:solidFill>
                      <a:srgbClr val="F4EAFA"/>
                    </a:solidFill>
                  </a:tcPr>
                </a:tc>
                <a:tc>
                  <a:txBody>
                    <a:bodyPr/>
                    <a:lstStyle/>
                    <a:p>
                      <a:pPr>
                        <a:buNone/>
                      </a:pPr>
                      <a:r>
                        <a:rPr lang="en-IN" dirty="0"/>
                        <a:t>#FFFFFF (white)</a:t>
                      </a:r>
                    </a:p>
                  </a:txBody>
                  <a:tcPr anchor="ctr">
                    <a:solidFill>
                      <a:srgbClr val="F4EAFA"/>
                    </a:solidFill>
                  </a:tcPr>
                </a:tc>
                <a:extLst>
                  <a:ext uri="{0D108BD9-81ED-4DB2-BD59-A6C34878D82A}">
                    <a16:rowId xmlns:a16="http://schemas.microsoft.com/office/drawing/2014/main" val="2337191164"/>
                  </a:ext>
                </a:extLst>
              </a:tr>
              <a:tr h="0">
                <a:tc>
                  <a:txBody>
                    <a:bodyPr/>
                    <a:lstStyle/>
                    <a:p>
                      <a:pPr>
                        <a:buNone/>
                      </a:pPr>
                      <a:r>
                        <a:rPr lang="en-IN" dirty="0"/>
                        <a:t>Inactive Icons</a:t>
                      </a:r>
                    </a:p>
                  </a:txBody>
                  <a:tcPr anchor="ctr">
                    <a:solidFill>
                      <a:srgbClr val="F4EAFA"/>
                    </a:solidFill>
                  </a:tcPr>
                </a:tc>
                <a:tc>
                  <a:txBody>
                    <a:bodyPr/>
                    <a:lstStyle/>
                    <a:p>
                      <a:pPr>
                        <a:buNone/>
                      </a:pPr>
                      <a:r>
                        <a:rPr lang="en-IN" dirty="0"/>
                        <a:t>#B3B3B3</a:t>
                      </a:r>
                    </a:p>
                  </a:txBody>
                  <a:tcPr anchor="ctr">
                    <a:solidFill>
                      <a:srgbClr val="F4EAFA"/>
                    </a:solidFill>
                  </a:tcPr>
                </a:tc>
                <a:extLst>
                  <a:ext uri="{0D108BD9-81ED-4DB2-BD59-A6C34878D82A}">
                    <a16:rowId xmlns:a16="http://schemas.microsoft.com/office/drawing/2014/main" val="1817599300"/>
                  </a:ext>
                </a:extLst>
              </a:tr>
            </a:tbl>
          </a:graphicData>
        </a:graphic>
      </p:graphicFrame>
      <p:sp>
        <p:nvSpPr>
          <p:cNvPr id="16" name="Rectangle 7">
            <a:extLst>
              <a:ext uri="{FF2B5EF4-FFF2-40B4-BE49-F238E27FC236}">
                <a16:creationId xmlns:a16="http://schemas.microsoft.com/office/drawing/2014/main" id="{F56890B5-E141-8222-5297-40A832A55D32}"/>
              </a:ext>
            </a:extLst>
          </p:cNvPr>
          <p:cNvSpPr>
            <a:spLocks noChangeArrowheads="1"/>
          </p:cNvSpPr>
          <p:nvPr/>
        </p:nvSpPr>
        <p:spPr bwMode="auto">
          <a:xfrm>
            <a:off x="497032" y="182356"/>
            <a:ext cx="280089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accent1"/>
                </a:solidFill>
                <a:effectLst/>
                <a:latin typeface="Bell MT" panose="02020503060305020303" pitchFamily="18" charset="0"/>
              </a:rPr>
              <a:t>Example Color Palette:</a:t>
            </a:r>
            <a:endParaRPr kumimoji="0" lang="en-US" altLang="en-US" sz="2000" b="0" i="0" u="none" strike="noStrike" cap="none" normalizeH="0" baseline="0" dirty="0">
              <a:ln>
                <a:noFill/>
              </a:ln>
              <a:solidFill>
                <a:schemeClr val="accent1"/>
              </a:solidFill>
              <a:effectLst/>
              <a:latin typeface="Bell MT" panose="02020503060305020303"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Bell MT" panose="02020503060305020303" pitchFamily="18" charset="0"/>
            </a:endParaRPr>
          </a:p>
        </p:txBody>
      </p:sp>
      <p:sp>
        <p:nvSpPr>
          <p:cNvPr id="18" name="Rectangle 9">
            <a:extLst>
              <a:ext uri="{FF2B5EF4-FFF2-40B4-BE49-F238E27FC236}">
                <a16:creationId xmlns:a16="http://schemas.microsoft.com/office/drawing/2014/main" id="{09388521-3055-A2D7-DE5B-AC82604ED42E}"/>
              </a:ext>
            </a:extLst>
          </p:cNvPr>
          <p:cNvSpPr>
            <a:spLocks noChangeArrowheads="1"/>
          </p:cNvSpPr>
          <p:nvPr/>
        </p:nvSpPr>
        <p:spPr bwMode="auto">
          <a:xfrm>
            <a:off x="497032" y="3315509"/>
            <a:ext cx="7709162"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B0F0"/>
                </a:solidFill>
                <a:effectLst/>
                <a:latin typeface="Bell MT" panose="02020503060305020303" pitchFamily="18" charset="0"/>
              </a:rPr>
              <a:t>B. Typography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rgbClr val="7030A0"/>
              </a:solidFill>
              <a:effectLst/>
              <a:latin typeface="Bell MT" panose="02020503060305020303"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7030A0"/>
                </a:solidFill>
                <a:effectLst/>
                <a:latin typeface="Bell MT" panose="02020503060305020303" pitchFamily="18" charset="0"/>
              </a:rPr>
              <a:t>Font Family:</a:t>
            </a:r>
            <a:r>
              <a:rPr kumimoji="0" lang="en-US" altLang="en-US" sz="2000" b="0" i="0" u="none" strike="noStrike" cap="none" normalizeH="0" baseline="0" dirty="0">
                <a:ln>
                  <a:noFill/>
                </a:ln>
                <a:solidFill>
                  <a:srgbClr val="7030A0"/>
                </a:solidFill>
                <a:effectLst/>
                <a:latin typeface="Bell MT" panose="02020503060305020303" pitchFamily="18" charset="0"/>
              </a:rPr>
              <a:t> </a:t>
            </a:r>
            <a:r>
              <a:rPr kumimoji="0" lang="en-US" altLang="en-US" sz="2000" b="0" i="0" u="none" strike="noStrike" cap="none" normalizeH="0" baseline="0" dirty="0">
                <a:ln>
                  <a:noFill/>
                </a:ln>
                <a:solidFill>
                  <a:schemeClr val="tx1"/>
                </a:solidFill>
                <a:effectLst/>
                <a:latin typeface="Bell MT" panose="02020503060305020303" pitchFamily="18" charset="0"/>
              </a:rPr>
              <a:t>Use modern sans-serif fonts like </a:t>
            </a:r>
            <a:r>
              <a:rPr kumimoji="0" lang="en-US" altLang="en-US" sz="2000" b="0" i="1" u="none" strike="noStrike" cap="none" normalizeH="0" baseline="0" dirty="0">
                <a:ln>
                  <a:noFill/>
                </a:ln>
                <a:solidFill>
                  <a:schemeClr val="tx1"/>
                </a:solidFill>
                <a:effectLst/>
                <a:latin typeface="Bell MT" panose="02020503060305020303" pitchFamily="18" charset="0"/>
              </a:rPr>
              <a:t>Poppins</a:t>
            </a:r>
            <a:r>
              <a:rPr kumimoji="0" lang="en-US" altLang="en-US" sz="2000" b="0" i="0" u="none" strike="noStrike" cap="none" normalizeH="0" baseline="0" dirty="0">
                <a:ln>
                  <a:noFill/>
                </a:ln>
                <a:solidFill>
                  <a:schemeClr val="tx1"/>
                </a:solidFill>
                <a:effectLst/>
                <a:latin typeface="Bell MT" panose="02020503060305020303" pitchFamily="18" charset="0"/>
              </a:rPr>
              <a:t>, </a:t>
            </a:r>
            <a:r>
              <a:rPr kumimoji="0" lang="en-US" altLang="en-US" sz="2000" b="0" i="1" u="none" strike="noStrike" cap="none" normalizeH="0" baseline="0" dirty="0">
                <a:ln>
                  <a:noFill/>
                </a:ln>
                <a:solidFill>
                  <a:schemeClr val="tx1"/>
                </a:solidFill>
                <a:effectLst/>
                <a:latin typeface="Bell MT" panose="02020503060305020303" pitchFamily="18" charset="0"/>
              </a:rPr>
              <a:t>Inter</a:t>
            </a:r>
            <a:r>
              <a:rPr kumimoji="0" lang="en-US" altLang="en-US" sz="2000" b="0" i="0" u="none" strike="noStrike" cap="none" normalizeH="0" baseline="0" dirty="0">
                <a:ln>
                  <a:noFill/>
                </a:ln>
                <a:solidFill>
                  <a:schemeClr val="tx1"/>
                </a:solidFill>
                <a:effectLst/>
                <a:latin typeface="Bell MT" panose="02020503060305020303" pitchFamily="18" charset="0"/>
              </a:rPr>
              <a:t>, or </a:t>
            </a:r>
            <a:r>
              <a:rPr kumimoji="0" lang="en-US" altLang="en-US" sz="2000" b="0" i="1" u="none" strike="noStrike" cap="none" normalizeH="0" baseline="0" dirty="0">
                <a:ln>
                  <a:noFill/>
                </a:ln>
                <a:solidFill>
                  <a:schemeClr val="tx1"/>
                </a:solidFill>
                <a:effectLst/>
                <a:latin typeface="Bell MT" panose="02020503060305020303" pitchFamily="18" charset="0"/>
              </a:rPr>
              <a:t>Roboto</a:t>
            </a:r>
            <a:r>
              <a:rPr kumimoji="0" lang="en-US" altLang="en-US" sz="2000" b="0" i="0" u="none" strike="noStrike" cap="none" normalizeH="0" baseline="0" dirty="0">
                <a:ln>
                  <a:noFill/>
                </a:ln>
                <a:solidFill>
                  <a:schemeClr val="tx1"/>
                </a:solidFill>
                <a:effectLst/>
                <a:latin typeface="Bell MT" panose="02020503060305020303"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rgbClr val="7030A0"/>
                </a:solidFill>
                <a:effectLst/>
                <a:latin typeface="Bell MT" panose="02020503060305020303" pitchFamily="18" charset="0"/>
              </a:rPr>
              <a:t>Font Hierarchy:</a:t>
            </a:r>
            <a:endParaRPr kumimoji="0" lang="en-US" altLang="en-US" sz="2000" b="0" i="0" u="none" strike="noStrike" cap="none" normalizeH="0" baseline="0" dirty="0">
              <a:ln>
                <a:noFill/>
              </a:ln>
              <a:solidFill>
                <a:srgbClr val="7030A0"/>
              </a:solidFill>
              <a:effectLst/>
              <a:latin typeface="Bell MT" panose="02020503060305020303" pitchFamily="18"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Bell MT" panose="02020503060305020303" pitchFamily="18" charset="0"/>
              </a:rPr>
              <a:t>Title: 20–24px, bold</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Bell MT" panose="02020503060305020303" pitchFamily="18" charset="0"/>
              </a:rPr>
              <a:t>Subtitle: 16px, medium</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Bell MT" panose="02020503060305020303" pitchFamily="18" charset="0"/>
              </a:rPr>
              <a:t>Body: 14px, regular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Bell MT" panose="02020503060305020303" pitchFamily="18" charset="0"/>
            </a:endParaRPr>
          </a:p>
        </p:txBody>
      </p:sp>
      <p:graphicFrame>
        <p:nvGraphicFramePr>
          <p:cNvPr id="19" name="Object 18">
            <a:extLst>
              <a:ext uri="{FF2B5EF4-FFF2-40B4-BE49-F238E27FC236}">
                <a16:creationId xmlns:a16="http://schemas.microsoft.com/office/drawing/2014/main" id="{A898B794-4EC7-E9AD-9EE6-A8F87287972A}"/>
              </a:ext>
            </a:extLst>
          </p:cNvPr>
          <p:cNvGraphicFramePr>
            <a:graphicFrameLocks noChangeAspect="1"/>
          </p:cNvGraphicFramePr>
          <p:nvPr>
            <p:extLst>
              <p:ext uri="{D42A27DB-BD31-4B8C-83A1-F6EECF244321}">
                <p14:modId xmlns:p14="http://schemas.microsoft.com/office/powerpoint/2010/main" val="3699230090"/>
              </p:ext>
            </p:extLst>
          </p:nvPr>
        </p:nvGraphicFramePr>
        <p:xfrm>
          <a:off x="5481638" y="3241675"/>
          <a:ext cx="1227137" cy="373063"/>
        </p:xfrm>
        <a:graphic>
          <a:graphicData uri="http://schemas.openxmlformats.org/presentationml/2006/ole">
            <mc:AlternateContent xmlns:mc="http://schemas.openxmlformats.org/markup-compatibility/2006">
              <mc:Choice xmlns:v="urn:schemas-microsoft-com:vml" Requires="v">
                <p:oleObj name="Worksheet" r:id="rId4" imgW="1226997" imgH="373301" progId="Excel.Sheet.12">
                  <p:embed/>
                </p:oleObj>
              </mc:Choice>
              <mc:Fallback>
                <p:oleObj name="Worksheet" r:id="rId4" imgW="1226997" imgH="373301" progId="Excel.Sheet.12">
                  <p:embed/>
                  <p:pic>
                    <p:nvPicPr>
                      <p:cNvPr id="0" name=""/>
                      <p:cNvPicPr/>
                      <p:nvPr/>
                    </p:nvPicPr>
                    <p:blipFill>
                      <a:blip r:embed="rId5"/>
                      <a:stretch>
                        <a:fillRect/>
                      </a:stretch>
                    </p:blipFill>
                    <p:spPr>
                      <a:xfrm>
                        <a:off x="5481638" y="3241675"/>
                        <a:ext cx="1227137" cy="373063"/>
                      </a:xfrm>
                      <a:prstGeom prst="rect">
                        <a:avLst/>
                      </a:prstGeom>
                    </p:spPr>
                  </p:pic>
                </p:oleObj>
              </mc:Fallback>
            </mc:AlternateContent>
          </a:graphicData>
        </a:graphic>
      </p:graphicFrame>
    </p:spTree>
    <p:extLst>
      <p:ext uri="{BB962C8B-B14F-4D97-AF65-F5344CB8AC3E}">
        <p14:creationId xmlns:p14="http://schemas.microsoft.com/office/powerpoint/2010/main" val="3566222598"/>
      </p:ext>
    </p:extLst>
  </p:cSld>
  <p:clrMapOvr>
    <a:masterClrMapping/>
  </p:clrMapOvr>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Music symbols Images - Free Download on Freepik">
            <a:extLst>
              <a:ext uri="{FF2B5EF4-FFF2-40B4-BE49-F238E27FC236}">
                <a16:creationId xmlns:a16="http://schemas.microsoft.com/office/drawing/2014/main" id="{C58A54C4-EF7F-7E52-96D3-226888BCF2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0"/>
            <a:ext cx="6858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8C971187-1BB7-F376-38A1-498B8D211F28}"/>
              </a:ext>
            </a:extLst>
          </p:cNvPr>
          <p:cNvSpPr/>
          <p:nvPr/>
        </p:nvSpPr>
        <p:spPr>
          <a:xfrm>
            <a:off x="0" y="0"/>
            <a:ext cx="12192000" cy="6858000"/>
          </a:xfrm>
          <a:prstGeom prst="rect">
            <a:avLst/>
          </a:prstGeom>
          <a:solidFill>
            <a:schemeClr val="bg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1136EB1F-9471-DFBB-FFB7-30929E7AA2C2}"/>
              </a:ext>
            </a:extLst>
          </p:cNvPr>
          <p:cNvSpPr txBox="1"/>
          <p:nvPr/>
        </p:nvSpPr>
        <p:spPr>
          <a:xfrm>
            <a:off x="83127" y="0"/>
            <a:ext cx="12108873" cy="6832640"/>
          </a:xfrm>
          <a:prstGeom prst="rect">
            <a:avLst/>
          </a:prstGeom>
          <a:noFill/>
        </p:spPr>
        <p:txBody>
          <a:bodyPr wrap="square" rtlCol="0">
            <a:spAutoFit/>
          </a:bodyPr>
          <a:lstStyle/>
          <a:p>
            <a:endParaRPr lang="en-IN" sz="2000" b="1" dirty="0">
              <a:latin typeface="Bell MT" panose="02020503060305020303" pitchFamily="18" charset="0"/>
            </a:endParaRPr>
          </a:p>
          <a:p>
            <a:r>
              <a:rPr lang="en-IN" sz="2000" b="1" dirty="0">
                <a:solidFill>
                  <a:srgbClr val="00B0F0"/>
                </a:solidFill>
                <a:latin typeface="Bell MT" panose="02020503060305020303" pitchFamily="18" charset="0"/>
              </a:rPr>
              <a:t>C. UI Components</a:t>
            </a:r>
          </a:p>
          <a:p>
            <a:endParaRPr lang="en-IN" sz="2000" b="1" dirty="0">
              <a:latin typeface="Bell MT" panose="02020503060305020303" pitchFamily="18" charset="0"/>
            </a:endParaRPr>
          </a:p>
          <a:p>
            <a:r>
              <a:rPr lang="en-IN" sz="2000" b="1" dirty="0">
                <a:solidFill>
                  <a:srgbClr val="7030A0"/>
                </a:solidFill>
                <a:latin typeface="Bell MT" panose="02020503060305020303" pitchFamily="18" charset="0"/>
              </a:rPr>
              <a:t>Buttons</a:t>
            </a:r>
            <a:r>
              <a:rPr lang="en-IN" sz="2000" b="1" dirty="0">
                <a:latin typeface="Bell MT" panose="02020503060305020303" pitchFamily="18" charset="0"/>
              </a:rPr>
              <a:t>:</a:t>
            </a:r>
            <a:r>
              <a:rPr lang="en-IN" sz="2000" dirty="0">
                <a:latin typeface="Bell MT" panose="02020503060305020303" pitchFamily="18" charset="0"/>
              </a:rPr>
              <a:t> Rounded corners, soft shadows</a:t>
            </a:r>
          </a:p>
          <a:p>
            <a:r>
              <a:rPr lang="en-IN" sz="2000" b="1" dirty="0">
                <a:solidFill>
                  <a:srgbClr val="7030A0"/>
                </a:solidFill>
                <a:latin typeface="Bell MT" panose="02020503060305020303" pitchFamily="18" charset="0"/>
              </a:rPr>
              <a:t>Cards</a:t>
            </a:r>
            <a:r>
              <a:rPr lang="en-IN" sz="2000" b="1" dirty="0">
                <a:latin typeface="Bell MT" panose="02020503060305020303" pitchFamily="18" charset="0"/>
              </a:rPr>
              <a:t>:</a:t>
            </a:r>
            <a:r>
              <a:rPr lang="en-IN" sz="2000" dirty="0">
                <a:latin typeface="Bell MT" panose="02020503060305020303" pitchFamily="18" charset="0"/>
              </a:rPr>
              <a:t> For playlists and albums with hover effects</a:t>
            </a:r>
          </a:p>
          <a:p>
            <a:r>
              <a:rPr lang="en-IN" sz="2000" b="1" dirty="0">
                <a:solidFill>
                  <a:srgbClr val="7030A0"/>
                </a:solidFill>
                <a:latin typeface="Bell MT" panose="02020503060305020303" pitchFamily="18" charset="0"/>
              </a:rPr>
              <a:t>Icons:</a:t>
            </a:r>
            <a:r>
              <a:rPr lang="en-IN" sz="2000" dirty="0">
                <a:solidFill>
                  <a:srgbClr val="7030A0"/>
                </a:solidFill>
                <a:latin typeface="Bell MT" panose="02020503060305020303" pitchFamily="18" charset="0"/>
              </a:rPr>
              <a:t> </a:t>
            </a:r>
            <a:r>
              <a:rPr lang="en-IN" sz="2000" dirty="0">
                <a:latin typeface="Bell MT" panose="02020503060305020303" pitchFamily="18" charset="0"/>
              </a:rPr>
              <a:t>Use vector icons (</a:t>
            </a:r>
            <a:r>
              <a:rPr lang="en-IN" sz="2000" dirty="0" err="1">
                <a:latin typeface="Bell MT" panose="02020503060305020303" pitchFamily="18" charset="0"/>
              </a:rPr>
              <a:t>Lucide</a:t>
            </a:r>
            <a:r>
              <a:rPr lang="en-IN" sz="2000" dirty="0">
                <a:latin typeface="Bell MT" panose="02020503060305020303" pitchFamily="18" charset="0"/>
              </a:rPr>
              <a:t> / Material icons)</a:t>
            </a:r>
          </a:p>
          <a:p>
            <a:r>
              <a:rPr lang="en-IN" sz="2000" b="1" dirty="0">
                <a:solidFill>
                  <a:srgbClr val="7030A0"/>
                </a:solidFill>
                <a:latin typeface="Bell MT" panose="02020503060305020303" pitchFamily="18" charset="0"/>
              </a:rPr>
              <a:t>Tabs &amp; Navigation Bar:</a:t>
            </a:r>
            <a:r>
              <a:rPr lang="en-IN" sz="2000" dirty="0">
                <a:solidFill>
                  <a:srgbClr val="7030A0"/>
                </a:solidFill>
                <a:latin typeface="Bell MT" panose="02020503060305020303" pitchFamily="18" charset="0"/>
              </a:rPr>
              <a:t> </a:t>
            </a:r>
            <a:r>
              <a:rPr lang="en-IN" sz="2000" dirty="0">
                <a:latin typeface="Bell MT" panose="02020503060305020303" pitchFamily="18" charset="0"/>
              </a:rPr>
              <a:t>Minimal icons with labels like </a:t>
            </a:r>
            <a:r>
              <a:rPr lang="en-IN" sz="2000" i="1" dirty="0">
                <a:latin typeface="Bell MT" panose="02020503060305020303" pitchFamily="18" charset="0"/>
              </a:rPr>
              <a:t>Home</a:t>
            </a:r>
            <a:r>
              <a:rPr lang="en-IN" sz="2000" dirty="0">
                <a:latin typeface="Bell MT" panose="02020503060305020303" pitchFamily="18" charset="0"/>
              </a:rPr>
              <a:t>, </a:t>
            </a:r>
            <a:r>
              <a:rPr lang="en-IN" sz="2000" i="1" dirty="0">
                <a:latin typeface="Bell MT" panose="02020503060305020303" pitchFamily="18" charset="0"/>
              </a:rPr>
              <a:t>Search</a:t>
            </a:r>
            <a:r>
              <a:rPr lang="en-IN" sz="2000" dirty="0">
                <a:latin typeface="Bell MT" panose="02020503060305020303" pitchFamily="18" charset="0"/>
              </a:rPr>
              <a:t>, </a:t>
            </a:r>
            <a:r>
              <a:rPr lang="en-IN" sz="2000" i="1" dirty="0">
                <a:latin typeface="Bell MT" panose="02020503060305020303" pitchFamily="18" charset="0"/>
              </a:rPr>
              <a:t>Library</a:t>
            </a:r>
            <a:r>
              <a:rPr lang="en-IN" sz="2000" dirty="0">
                <a:latin typeface="Bell MT" panose="02020503060305020303" pitchFamily="18" charset="0"/>
              </a:rPr>
              <a:t>, </a:t>
            </a:r>
            <a:r>
              <a:rPr lang="en-IN" sz="2000" i="1" dirty="0">
                <a:latin typeface="Bell MT" panose="02020503060305020303" pitchFamily="18" charset="0"/>
              </a:rPr>
              <a:t>Profile</a:t>
            </a:r>
            <a:endParaRPr lang="en-IN" sz="2000" dirty="0">
              <a:latin typeface="Bell MT" panose="02020503060305020303" pitchFamily="18" charset="0"/>
            </a:endParaRPr>
          </a:p>
          <a:p>
            <a:br>
              <a:rPr lang="en-IN" sz="2000" dirty="0">
                <a:latin typeface="Bell MT" panose="02020503060305020303" pitchFamily="18" charset="0"/>
              </a:rPr>
            </a:br>
            <a:endParaRPr lang="en-IN" sz="2000" dirty="0">
              <a:latin typeface="Bell MT" panose="02020503060305020303" pitchFamily="18" charset="0"/>
            </a:endParaRPr>
          </a:p>
          <a:p>
            <a:r>
              <a:rPr lang="en-IN" sz="2000" b="1" dirty="0">
                <a:solidFill>
                  <a:srgbClr val="00B0F0"/>
                </a:solidFill>
                <a:latin typeface="Bell MT" panose="02020503060305020303" pitchFamily="18" charset="0"/>
              </a:rPr>
              <a:t>D. Imagery</a:t>
            </a:r>
          </a:p>
          <a:p>
            <a:endParaRPr lang="en-IN" sz="2000" b="1" dirty="0">
              <a:latin typeface="Bell MT" panose="02020503060305020303" pitchFamily="18" charset="0"/>
            </a:endParaRPr>
          </a:p>
          <a:p>
            <a:r>
              <a:rPr lang="en-IN" sz="2000" dirty="0">
                <a:latin typeface="Bell MT" panose="02020503060305020303" pitchFamily="18" charset="0"/>
              </a:rPr>
              <a:t>High-quality album art &amp; artist photos</a:t>
            </a:r>
          </a:p>
          <a:p>
            <a:r>
              <a:rPr lang="en-IN" sz="2000" dirty="0">
                <a:latin typeface="Bell MT" panose="02020503060305020303" pitchFamily="18" charset="0"/>
              </a:rPr>
              <a:t>Background blur or gradient overlays to highlight album covers</a:t>
            </a:r>
          </a:p>
          <a:p>
            <a:r>
              <a:rPr lang="en-IN" sz="2000" dirty="0">
                <a:latin typeface="Bell MT" panose="02020503060305020303" pitchFamily="18" charset="0"/>
              </a:rPr>
              <a:t>Subtle animations for transitions (e.g., play button pulse)</a:t>
            </a:r>
          </a:p>
          <a:p>
            <a:br>
              <a:rPr lang="en-IN" sz="2000" dirty="0">
                <a:latin typeface="Bell MT" panose="02020503060305020303" pitchFamily="18" charset="0"/>
              </a:rPr>
            </a:br>
            <a:endParaRPr lang="en-IN" sz="2000" dirty="0">
              <a:latin typeface="Bell MT" panose="02020503060305020303" pitchFamily="18" charset="0"/>
            </a:endParaRPr>
          </a:p>
          <a:p>
            <a:r>
              <a:rPr lang="en-IN" sz="2000" b="1" dirty="0">
                <a:solidFill>
                  <a:srgbClr val="00B0F0"/>
                </a:solidFill>
                <a:latin typeface="Bell MT" panose="02020503060305020303" pitchFamily="18" charset="0"/>
              </a:rPr>
              <a:t>E. Accessibility</a:t>
            </a:r>
          </a:p>
          <a:p>
            <a:endParaRPr lang="en-IN" sz="2000" b="1" dirty="0">
              <a:latin typeface="Bell MT" panose="02020503060305020303" pitchFamily="18" charset="0"/>
            </a:endParaRPr>
          </a:p>
          <a:p>
            <a:r>
              <a:rPr lang="en-IN" sz="2000" dirty="0">
                <a:latin typeface="Bell MT" panose="02020503060305020303" pitchFamily="18" charset="0"/>
              </a:rPr>
              <a:t>Contrast ratio &gt; 4.5:1</a:t>
            </a:r>
          </a:p>
          <a:p>
            <a:r>
              <a:rPr lang="en-IN" sz="2000" dirty="0">
                <a:latin typeface="Bell MT" panose="02020503060305020303" pitchFamily="18" charset="0"/>
              </a:rPr>
              <a:t>Font size scalable</a:t>
            </a:r>
          </a:p>
          <a:p>
            <a:r>
              <a:rPr lang="en-IN" sz="2000" dirty="0" err="1">
                <a:latin typeface="Bell MT" panose="02020503060305020303" pitchFamily="18" charset="0"/>
              </a:rPr>
              <a:t>Color</a:t>
            </a:r>
            <a:r>
              <a:rPr lang="en-IN" sz="2000" dirty="0">
                <a:latin typeface="Bell MT" panose="02020503060305020303" pitchFamily="18" charset="0"/>
              </a:rPr>
              <a:t>-blind friendly accents</a:t>
            </a:r>
          </a:p>
          <a:p>
            <a:endParaRPr lang="en-IN" dirty="0"/>
          </a:p>
        </p:txBody>
      </p:sp>
    </p:spTree>
    <p:extLst>
      <p:ext uri="{BB962C8B-B14F-4D97-AF65-F5344CB8AC3E}">
        <p14:creationId xmlns:p14="http://schemas.microsoft.com/office/powerpoint/2010/main" val="4717241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Music symbols Images - Free Download on Freepik">
            <a:extLst>
              <a:ext uri="{FF2B5EF4-FFF2-40B4-BE49-F238E27FC236}">
                <a16:creationId xmlns:a16="http://schemas.microsoft.com/office/drawing/2014/main" id="{366D5F47-77A9-187E-B86E-91422BC33D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0"/>
            <a:ext cx="6858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2840A84B-1E51-1206-6776-24A720488342}"/>
              </a:ext>
            </a:extLst>
          </p:cNvPr>
          <p:cNvSpPr/>
          <p:nvPr/>
        </p:nvSpPr>
        <p:spPr>
          <a:xfrm>
            <a:off x="0" y="0"/>
            <a:ext cx="12192000" cy="6858000"/>
          </a:xfrm>
          <a:prstGeom prst="rect">
            <a:avLst/>
          </a:prstGeom>
          <a:solidFill>
            <a:schemeClr val="bg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BFFB6CA2-4C39-1D53-915A-784A4950B6A1}"/>
              </a:ext>
            </a:extLst>
          </p:cNvPr>
          <p:cNvSpPr txBox="1"/>
          <p:nvPr/>
        </p:nvSpPr>
        <p:spPr>
          <a:xfrm>
            <a:off x="0" y="0"/>
            <a:ext cx="12192000" cy="6740307"/>
          </a:xfrm>
          <a:prstGeom prst="rect">
            <a:avLst/>
          </a:prstGeom>
          <a:noFill/>
        </p:spPr>
        <p:txBody>
          <a:bodyPr wrap="square" rtlCol="0">
            <a:spAutoFit/>
          </a:bodyPr>
          <a:lstStyle/>
          <a:p>
            <a:r>
              <a:rPr lang="en-IN" b="1" dirty="0">
                <a:solidFill>
                  <a:srgbClr val="00B0F0"/>
                </a:solidFill>
              </a:rPr>
              <a:t>⚡ 2. Prototyping (Interactive Phase)</a:t>
            </a:r>
            <a:r>
              <a:rPr lang="en-IN" b="1" dirty="0"/>
              <a:t> </a:t>
            </a:r>
          </a:p>
          <a:p>
            <a:r>
              <a:rPr lang="en-IN" b="1" dirty="0"/>
              <a:t>  </a:t>
            </a:r>
          </a:p>
          <a:p>
            <a:r>
              <a:rPr lang="en-IN" dirty="0"/>
              <a:t>                 Prototyping makes your app </a:t>
            </a:r>
            <a:r>
              <a:rPr lang="en-IN" i="1" dirty="0"/>
              <a:t>clickable</a:t>
            </a:r>
            <a:r>
              <a:rPr lang="en-IN" dirty="0"/>
              <a:t> — users can experience the flow before development.</a:t>
            </a:r>
          </a:p>
          <a:p>
            <a:endParaRPr lang="en-IN" b="1" dirty="0"/>
          </a:p>
          <a:p>
            <a:r>
              <a:rPr lang="en-IN" b="1" dirty="0">
                <a:solidFill>
                  <a:srgbClr val="7030A0"/>
                </a:solidFill>
              </a:rPr>
              <a:t>A. Tools to Use</a:t>
            </a:r>
          </a:p>
          <a:p>
            <a:r>
              <a:rPr lang="en-IN" b="1" dirty="0"/>
              <a:t>Figma / Adobe XD / </a:t>
            </a:r>
            <a:r>
              <a:rPr lang="en-IN" b="1" dirty="0" err="1"/>
              <a:t>ProtoPie</a:t>
            </a:r>
            <a:r>
              <a:rPr lang="en-IN" b="1" dirty="0"/>
              <a:t> / InVision</a:t>
            </a:r>
            <a:endParaRPr lang="en-IN" dirty="0"/>
          </a:p>
          <a:p>
            <a:pPr lvl="1"/>
            <a:r>
              <a:rPr lang="en-IN" dirty="0"/>
              <a:t>Figma is best for creating both </a:t>
            </a:r>
            <a:r>
              <a:rPr lang="en-IN" b="1" dirty="0"/>
              <a:t>visual UI</a:t>
            </a:r>
            <a:r>
              <a:rPr lang="en-IN" dirty="0"/>
              <a:t> and </a:t>
            </a:r>
            <a:r>
              <a:rPr lang="en-IN" b="1" dirty="0"/>
              <a:t>interactive prototypes</a:t>
            </a:r>
            <a:r>
              <a:rPr lang="en-IN" dirty="0"/>
              <a:t> in one place.</a:t>
            </a:r>
          </a:p>
          <a:p>
            <a:br>
              <a:rPr lang="en-IN" dirty="0"/>
            </a:br>
            <a:r>
              <a:rPr lang="en-IN" b="1" dirty="0">
                <a:solidFill>
                  <a:srgbClr val="7030A0"/>
                </a:solidFill>
              </a:rPr>
              <a:t>B. Prototype Flow Example</a:t>
            </a:r>
          </a:p>
          <a:p>
            <a:r>
              <a:rPr lang="en-IN" b="1" dirty="0"/>
              <a:t>Start Screen → Home</a:t>
            </a:r>
            <a:endParaRPr lang="en-IN" dirty="0"/>
          </a:p>
          <a:p>
            <a:pPr lvl="1"/>
            <a:r>
              <a:rPr lang="en-IN" dirty="0"/>
              <a:t>Tap on </a:t>
            </a:r>
            <a:r>
              <a:rPr lang="en-IN" i="1" dirty="0"/>
              <a:t>Trending Playlist</a:t>
            </a:r>
            <a:r>
              <a:rPr lang="en-IN" dirty="0"/>
              <a:t> → Opens </a:t>
            </a:r>
            <a:r>
              <a:rPr lang="en-IN" i="1" dirty="0"/>
              <a:t>Playlist Detail Screen</a:t>
            </a:r>
            <a:endParaRPr lang="en-IN" dirty="0"/>
          </a:p>
          <a:p>
            <a:r>
              <a:rPr lang="en-IN" b="1" dirty="0"/>
              <a:t>Playlist Detail → Song List</a:t>
            </a:r>
            <a:endParaRPr lang="en-IN" dirty="0"/>
          </a:p>
          <a:p>
            <a:pPr lvl="1"/>
            <a:r>
              <a:rPr lang="en-IN" dirty="0"/>
              <a:t>Tap </a:t>
            </a:r>
            <a:r>
              <a:rPr lang="en-IN" i="1" dirty="0"/>
              <a:t>Play</a:t>
            </a:r>
            <a:r>
              <a:rPr lang="en-IN" dirty="0"/>
              <a:t> → Opens </a:t>
            </a:r>
            <a:r>
              <a:rPr lang="en-IN" i="1" dirty="0"/>
              <a:t>Now Playing Screen</a:t>
            </a:r>
            <a:endParaRPr lang="en-IN" dirty="0"/>
          </a:p>
          <a:p>
            <a:r>
              <a:rPr lang="en-IN" b="1" dirty="0"/>
              <a:t>Now Playing → Swipe Up</a:t>
            </a:r>
            <a:endParaRPr lang="en-IN" dirty="0"/>
          </a:p>
          <a:p>
            <a:pPr lvl="1"/>
            <a:r>
              <a:rPr lang="en-IN" dirty="0"/>
              <a:t>Shows lyrics or queue</a:t>
            </a:r>
          </a:p>
          <a:p>
            <a:r>
              <a:rPr lang="en-IN" b="1" dirty="0"/>
              <a:t>Tap Heart Icon</a:t>
            </a:r>
            <a:r>
              <a:rPr lang="en-IN" dirty="0"/>
              <a:t> → Adds song to </a:t>
            </a:r>
            <a:r>
              <a:rPr lang="en-IN" i="1" dirty="0"/>
              <a:t>Liked Songs</a:t>
            </a:r>
            <a:endParaRPr lang="en-IN" dirty="0"/>
          </a:p>
          <a:p>
            <a:br>
              <a:rPr lang="en-IN" dirty="0"/>
            </a:br>
            <a:r>
              <a:rPr lang="en-IN" b="1" dirty="0">
                <a:solidFill>
                  <a:srgbClr val="7030A0"/>
                </a:solidFill>
              </a:rPr>
              <a:t>C. Animation Ideas</a:t>
            </a:r>
          </a:p>
          <a:p>
            <a:r>
              <a:rPr lang="en-IN" dirty="0" err="1"/>
              <a:t>Microinteractions</a:t>
            </a:r>
            <a:r>
              <a:rPr lang="en-IN" dirty="0"/>
              <a:t>:</a:t>
            </a:r>
          </a:p>
          <a:p>
            <a:pPr lvl="1"/>
            <a:r>
              <a:rPr lang="en-IN" dirty="0"/>
              <a:t>Heart fills when you like a song</a:t>
            </a:r>
          </a:p>
          <a:p>
            <a:pPr lvl="1"/>
            <a:r>
              <a:rPr lang="en-IN" dirty="0"/>
              <a:t>Smooth transitions between album covers</a:t>
            </a:r>
          </a:p>
          <a:p>
            <a:pPr lvl="1"/>
            <a:r>
              <a:rPr lang="en-IN" dirty="0"/>
              <a:t>Sliding progress bar while playing music</a:t>
            </a:r>
          </a:p>
          <a:p>
            <a:r>
              <a:rPr lang="en-IN" dirty="0"/>
              <a:t>Page transitions: Fade, slide-in</a:t>
            </a:r>
          </a:p>
          <a:p>
            <a:endParaRPr lang="en-IN" dirty="0"/>
          </a:p>
        </p:txBody>
      </p:sp>
    </p:spTree>
    <p:extLst>
      <p:ext uri="{BB962C8B-B14F-4D97-AF65-F5344CB8AC3E}">
        <p14:creationId xmlns:p14="http://schemas.microsoft.com/office/powerpoint/2010/main" val="38466181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Music symbols Images - Free Download on Freepik">
            <a:extLst>
              <a:ext uri="{FF2B5EF4-FFF2-40B4-BE49-F238E27FC236}">
                <a16:creationId xmlns:a16="http://schemas.microsoft.com/office/drawing/2014/main" id="{B7706FFC-0BAF-12AD-75F7-82CBEC3717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0"/>
            <a:ext cx="6858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7A543A8C-E006-6CB8-B497-5645EFEC0036}"/>
              </a:ext>
            </a:extLst>
          </p:cNvPr>
          <p:cNvSpPr/>
          <p:nvPr/>
        </p:nvSpPr>
        <p:spPr>
          <a:xfrm>
            <a:off x="0" y="1"/>
            <a:ext cx="12191999" cy="6857999"/>
          </a:xfrm>
          <a:prstGeom prst="rect">
            <a:avLst/>
          </a:prstGeom>
          <a:solidFill>
            <a:schemeClr val="bg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2131231F-3FC5-5AA7-D9C3-DB0E32B4F58C}"/>
              </a:ext>
            </a:extLst>
          </p:cNvPr>
          <p:cNvSpPr txBox="1"/>
          <p:nvPr/>
        </p:nvSpPr>
        <p:spPr>
          <a:xfrm>
            <a:off x="-13854" y="0"/>
            <a:ext cx="12191999" cy="5039591"/>
          </a:xfrm>
          <a:prstGeom prst="rect">
            <a:avLst/>
          </a:prstGeom>
          <a:noFill/>
        </p:spPr>
        <p:txBody>
          <a:bodyPr wrap="square" rtlCol="0">
            <a:spAutoFit/>
          </a:bodyPr>
          <a:lstStyle/>
          <a:p>
            <a:endParaRPr lang="en-IN" dirty="0"/>
          </a:p>
        </p:txBody>
      </p:sp>
      <p:graphicFrame>
        <p:nvGraphicFramePr>
          <p:cNvPr id="9" name="Table 8">
            <a:extLst>
              <a:ext uri="{FF2B5EF4-FFF2-40B4-BE49-F238E27FC236}">
                <a16:creationId xmlns:a16="http://schemas.microsoft.com/office/drawing/2014/main" id="{06049601-62EE-B39C-D2E3-2AF700C2835E}"/>
              </a:ext>
            </a:extLst>
          </p:cNvPr>
          <p:cNvGraphicFramePr>
            <a:graphicFrameLocks noGrp="1"/>
          </p:cNvGraphicFramePr>
          <p:nvPr>
            <p:extLst>
              <p:ext uri="{D42A27DB-BD31-4B8C-83A1-F6EECF244321}">
                <p14:modId xmlns:p14="http://schemas.microsoft.com/office/powerpoint/2010/main" val="769053774"/>
              </p:ext>
            </p:extLst>
          </p:nvPr>
        </p:nvGraphicFramePr>
        <p:xfrm>
          <a:off x="301336" y="2465921"/>
          <a:ext cx="10494819" cy="4206240"/>
        </p:xfrm>
        <a:graphic>
          <a:graphicData uri="http://schemas.openxmlformats.org/drawingml/2006/table">
            <a:tbl>
              <a:tblPr>
                <a:tableStyleId>{3C2FFA5D-87B4-456A-9821-1D502468CF0F}</a:tableStyleId>
              </a:tblPr>
              <a:tblGrid>
                <a:gridCol w="5223164">
                  <a:extLst>
                    <a:ext uri="{9D8B030D-6E8A-4147-A177-3AD203B41FA5}">
                      <a16:colId xmlns:a16="http://schemas.microsoft.com/office/drawing/2014/main" val="4179171089"/>
                    </a:ext>
                  </a:extLst>
                </a:gridCol>
                <a:gridCol w="5271655">
                  <a:extLst>
                    <a:ext uri="{9D8B030D-6E8A-4147-A177-3AD203B41FA5}">
                      <a16:colId xmlns:a16="http://schemas.microsoft.com/office/drawing/2014/main" val="1607455172"/>
                    </a:ext>
                  </a:extLst>
                </a:gridCol>
              </a:tblGrid>
              <a:tr h="0">
                <a:tc>
                  <a:txBody>
                    <a:bodyPr/>
                    <a:lstStyle/>
                    <a:p>
                      <a:pPr>
                        <a:buNone/>
                      </a:pPr>
                      <a:r>
                        <a:rPr lang="en-IN" sz="2000" dirty="0"/>
                        <a:t>Goal</a:t>
                      </a:r>
                      <a:endParaRPr lang="en-IN" sz="2000" dirty="0">
                        <a:latin typeface="Bell MT" panose="02020503060305020303" pitchFamily="18" charset="0"/>
                      </a:endParaRPr>
                    </a:p>
                  </a:txBody>
                  <a:tcPr anchor="ctr"/>
                </a:tc>
                <a:tc>
                  <a:txBody>
                    <a:bodyPr/>
                    <a:lstStyle/>
                    <a:p>
                      <a:pPr>
                        <a:buNone/>
                      </a:pPr>
                      <a:r>
                        <a:rPr lang="en-IN" sz="2000"/>
                        <a:t>Description</a:t>
                      </a:r>
                      <a:endParaRPr lang="en-IN" sz="2000">
                        <a:latin typeface="Bell MT" panose="02020503060305020303" pitchFamily="18" charset="0"/>
                      </a:endParaRPr>
                    </a:p>
                  </a:txBody>
                  <a:tcPr anchor="ctr"/>
                </a:tc>
                <a:extLst>
                  <a:ext uri="{0D108BD9-81ED-4DB2-BD59-A6C34878D82A}">
                    <a16:rowId xmlns:a16="http://schemas.microsoft.com/office/drawing/2014/main" val="2931335359"/>
                  </a:ext>
                </a:extLst>
              </a:tr>
              <a:tr h="0">
                <a:tc>
                  <a:txBody>
                    <a:bodyPr/>
                    <a:lstStyle/>
                    <a:p>
                      <a:pPr>
                        <a:buNone/>
                      </a:pPr>
                      <a:r>
                        <a:rPr lang="en-IN" sz="2000" b="1" dirty="0"/>
                        <a:t>Learnability</a:t>
                      </a:r>
                      <a:endParaRPr lang="en-IN" sz="2000" dirty="0">
                        <a:latin typeface="Bell MT" panose="02020503060305020303" pitchFamily="18" charset="0"/>
                      </a:endParaRPr>
                    </a:p>
                  </a:txBody>
                  <a:tcPr anchor="ctr"/>
                </a:tc>
                <a:tc>
                  <a:txBody>
                    <a:bodyPr/>
                    <a:lstStyle/>
                    <a:p>
                      <a:pPr>
                        <a:buNone/>
                      </a:pPr>
                      <a:r>
                        <a:rPr lang="en-US" sz="2000"/>
                        <a:t>New users should quickly understand how to use the app (e.g., play a song, search, create a playlist).</a:t>
                      </a:r>
                      <a:endParaRPr lang="en-US" sz="2000">
                        <a:latin typeface="Bell MT" panose="02020503060305020303" pitchFamily="18" charset="0"/>
                      </a:endParaRPr>
                    </a:p>
                  </a:txBody>
                  <a:tcPr anchor="ctr"/>
                </a:tc>
                <a:extLst>
                  <a:ext uri="{0D108BD9-81ED-4DB2-BD59-A6C34878D82A}">
                    <a16:rowId xmlns:a16="http://schemas.microsoft.com/office/drawing/2014/main" val="2355536163"/>
                  </a:ext>
                </a:extLst>
              </a:tr>
              <a:tr h="0">
                <a:tc>
                  <a:txBody>
                    <a:bodyPr/>
                    <a:lstStyle/>
                    <a:p>
                      <a:pPr>
                        <a:buNone/>
                      </a:pPr>
                      <a:r>
                        <a:rPr lang="en-IN" sz="2000" b="1"/>
                        <a:t>Efficiency</a:t>
                      </a:r>
                      <a:endParaRPr lang="en-IN" sz="2000">
                        <a:latin typeface="Bell MT" panose="02020503060305020303" pitchFamily="18" charset="0"/>
                      </a:endParaRPr>
                    </a:p>
                  </a:txBody>
                  <a:tcPr anchor="ctr"/>
                </a:tc>
                <a:tc>
                  <a:txBody>
                    <a:bodyPr/>
                    <a:lstStyle/>
                    <a:p>
                      <a:pPr>
                        <a:buNone/>
                      </a:pPr>
                      <a:r>
                        <a:rPr lang="en-US" sz="2000" dirty="0"/>
                        <a:t>Users can perform actions in fewer steps (e.g., one-tap play).</a:t>
                      </a:r>
                      <a:endParaRPr lang="en-US" sz="2000" dirty="0">
                        <a:latin typeface="Bell MT" panose="02020503060305020303" pitchFamily="18" charset="0"/>
                      </a:endParaRPr>
                    </a:p>
                  </a:txBody>
                  <a:tcPr anchor="ctr"/>
                </a:tc>
                <a:extLst>
                  <a:ext uri="{0D108BD9-81ED-4DB2-BD59-A6C34878D82A}">
                    <a16:rowId xmlns:a16="http://schemas.microsoft.com/office/drawing/2014/main" val="2048414602"/>
                  </a:ext>
                </a:extLst>
              </a:tr>
              <a:tr h="0">
                <a:tc>
                  <a:txBody>
                    <a:bodyPr/>
                    <a:lstStyle/>
                    <a:p>
                      <a:pPr>
                        <a:buNone/>
                      </a:pPr>
                      <a:r>
                        <a:rPr lang="en-IN" sz="2000" b="1"/>
                        <a:t>Memorability</a:t>
                      </a:r>
                      <a:endParaRPr lang="en-IN" sz="2000">
                        <a:latin typeface="Bell MT" panose="02020503060305020303" pitchFamily="18" charset="0"/>
                      </a:endParaRPr>
                    </a:p>
                  </a:txBody>
                  <a:tcPr anchor="ctr"/>
                </a:tc>
                <a:tc>
                  <a:txBody>
                    <a:bodyPr/>
                    <a:lstStyle/>
                    <a:p>
                      <a:pPr>
                        <a:buNone/>
                      </a:pPr>
                      <a:r>
                        <a:rPr lang="en-US" sz="2000" dirty="0"/>
                        <a:t>Returning users easily remember navigation and gestures.</a:t>
                      </a:r>
                      <a:endParaRPr lang="en-US" sz="2000" dirty="0">
                        <a:latin typeface="Bell MT" panose="02020503060305020303" pitchFamily="18" charset="0"/>
                      </a:endParaRPr>
                    </a:p>
                  </a:txBody>
                  <a:tcPr anchor="ctr"/>
                </a:tc>
                <a:extLst>
                  <a:ext uri="{0D108BD9-81ED-4DB2-BD59-A6C34878D82A}">
                    <a16:rowId xmlns:a16="http://schemas.microsoft.com/office/drawing/2014/main" val="1951295908"/>
                  </a:ext>
                </a:extLst>
              </a:tr>
              <a:tr h="0">
                <a:tc>
                  <a:txBody>
                    <a:bodyPr/>
                    <a:lstStyle/>
                    <a:p>
                      <a:pPr>
                        <a:buNone/>
                      </a:pPr>
                      <a:r>
                        <a:rPr lang="en-IN" sz="2000" b="1"/>
                        <a:t>Error Prevention</a:t>
                      </a:r>
                      <a:endParaRPr lang="en-IN" sz="2000">
                        <a:latin typeface="Bell MT" panose="02020503060305020303" pitchFamily="18" charset="0"/>
                      </a:endParaRPr>
                    </a:p>
                  </a:txBody>
                  <a:tcPr anchor="ctr"/>
                </a:tc>
                <a:tc>
                  <a:txBody>
                    <a:bodyPr/>
                    <a:lstStyle/>
                    <a:p>
                      <a:pPr>
                        <a:buNone/>
                      </a:pPr>
                      <a:r>
                        <a:rPr lang="en-US" sz="2000" dirty="0"/>
                        <a:t>The interface prevents mistakes (e.g., confirmation before deleting playlists).</a:t>
                      </a:r>
                      <a:endParaRPr lang="en-US" sz="2000" dirty="0">
                        <a:latin typeface="Bell MT" panose="02020503060305020303" pitchFamily="18" charset="0"/>
                      </a:endParaRPr>
                    </a:p>
                  </a:txBody>
                  <a:tcPr anchor="ctr"/>
                </a:tc>
                <a:extLst>
                  <a:ext uri="{0D108BD9-81ED-4DB2-BD59-A6C34878D82A}">
                    <a16:rowId xmlns:a16="http://schemas.microsoft.com/office/drawing/2014/main" val="2426385121"/>
                  </a:ext>
                </a:extLst>
              </a:tr>
              <a:tr h="0">
                <a:tc>
                  <a:txBody>
                    <a:bodyPr/>
                    <a:lstStyle/>
                    <a:p>
                      <a:pPr>
                        <a:buNone/>
                      </a:pPr>
                      <a:r>
                        <a:rPr lang="en-IN" sz="2000" b="1"/>
                        <a:t>Satisfaction</a:t>
                      </a:r>
                      <a:endParaRPr lang="en-IN" sz="2000">
                        <a:latin typeface="Bell MT" panose="02020503060305020303" pitchFamily="18" charset="0"/>
                      </a:endParaRPr>
                    </a:p>
                  </a:txBody>
                  <a:tcPr anchor="ctr"/>
                </a:tc>
                <a:tc>
                  <a:txBody>
                    <a:bodyPr/>
                    <a:lstStyle/>
                    <a:p>
                      <a:pPr>
                        <a:buNone/>
                      </a:pPr>
                      <a:r>
                        <a:rPr lang="en-US" sz="2000" dirty="0"/>
                        <a:t>The overall experience feels smooth, fun, and rewarding.</a:t>
                      </a:r>
                      <a:endParaRPr lang="en-US" sz="2000" dirty="0">
                        <a:latin typeface="Bell MT" panose="02020503060305020303" pitchFamily="18" charset="0"/>
                      </a:endParaRPr>
                    </a:p>
                  </a:txBody>
                  <a:tcPr anchor="ctr"/>
                </a:tc>
                <a:extLst>
                  <a:ext uri="{0D108BD9-81ED-4DB2-BD59-A6C34878D82A}">
                    <a16:rowId xmlns:a16="http://schemas.microsoft.com/office/drawing/2014/main" val="3670090139"/>
                  </a:ext>
                </a:extLst>
              </a:tr>
            </a:tbl>
          </a:graphicData>
        </a:graphic>
      </p:graphicFrame>
      <p:sp>
        <p:nvSpPr>
          <p:cNvPr id="10" name="Rectangle 4">
            <a:extLst>
              <a:ext uri="{FF2B5EF4-FFF2-40B4-BE49-F238E27FC236}">
                <a16:creationId xmlns:a16="http://schemas.microsoft.com/office/drawing/2014/main" id="{67FD5105-C7E1-432A-06B1-D6531EA83F69}"/>
              </a:ext>
            </a:extLst>
          </p:cNvPr>
          <p:cNvSpPr>
            <a:spLocks noChangeArrowheads="1"/>
          </p:cNvSpPr>
          <p:nvPr/>
        </p:nvSpPr>
        <p:spPr bwMode="auto">
          <a:xfrm>
            <a:off x="0" y="216639"/>
            <a:ext cx="6772751"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C00000"/>
                </a:solidFill>
                <a:effectLst/>
                <a:latin typeface="Bell MT" panose="02020503060305020303" pitchFamily="18" charset="0"/>
              </a:rPr>
              <a:t>🎧 Usability &amp; Interaction Design – Music Streaming App</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6">
            <a:extLst>
              <a:ext uri="{FF2B5EF4-FFF2-40B4-BE49-F238E27FC236}">
                <a16:creationId xmlns:a16="http://schemas.microsoft.com/office/drawing/2014/main" id="{C763E789-C69B-54ED-3714-B7A518E848F3}"/>
              </a:ext>
            </a:extLst>
          </p:cNvPr>
          <p:cNvSpPr>
            <a:spLocks noChangeArrowheads="1"/>
          </p:cNvSpPr>
          <p:nvPr/>
        </p:nvSpPr>
        <p:spPr bwMode="auto">
          <a:xfrm>
            <a:off x="13853" y="715888"/>
            <a:ext cx="1206394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B0F0"/>
                </a:solidFill>
                <a:effectLst/>
                <a:latin typeface="Bell MT" panose="02020503060305020303" pitchFamily="18" charset="0"/>
              </a:rPr>
              <a:t>🧩 1. Usability Design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Bell MT" panose="02020503060305020303" pitchFamily="18" charset="0"/>
              </a:rPr>
              <a:t>Usability focuses on </a:t>
            </a:r>
            <a:r>
              <a:rPr kumimoji="0" lang="en-US" altLang="en-US" sz="2000" b="1" i="0" u="none" strike="noStrike" cap="none" normalizeH="0" baseline="0" dirty="0">
                <a:ln>
                  <a:noFill/>
                </a:ln>
                <a:solidFill>
                  <a:schemeClr val="tx1"/>
                </a:solidFill>
                <a:effectLst/>
                <a:latin typeface="Bell MT" panose="02020503060305020303" pitchFamily="18" charset="0"/>
              </a:rPr>
              <a:t>how easily and efficiently users can use the app</a:t>
            </a:r>
            <a:r>
              <a:rPr kumimoji="0" lang="en-US" altLang="en-US" sz="2000" b="0" i="0" u="none" strike="noStrike" cap="none" normalizeH="0" baseline="0" dirty="0">
                <a:ln>
                  <a:noFill/>
                </a:ln>
                <a:solidFill>
                  <a:schemeClr val="tx1"/>
                </a:solidFill>
                <a:effectLst/>
                <a:latin typeface="Bell MT" panose="02020503060305020303" pitchFamily="18" charset="0"/>
              </a:rPr>
              <a:t> — making it intuitive, fast, and satisfying.</a:t>
            </a:r>
          </a:p>
        </p:txBody>
      </p:sp>
      <p:sp>
        <p:nvSpPr>
          <p:cNvPr id="14" name="Rectangle 8">
            <a:extLst>
              <a:ext uri="{FF2B5EF4-FFF2-40B4-BE49-F238E27FC236}">
                <a16:creationId xmlns:a16="http://schemas.microsoft.com/office/drawing/2014/main" id="{2CCFC675-177C-3F1B-90C6-8683D29C6F12}"/>
              </a:ext>
            </a:extLst>
          </p:cNvPr>
          <p:cNvSpPr>
            <a:spLocks noChangeArrowheads="1"/>
          </p:cNvSpPr>
          <p:nvPr/>
        </p:nvSpPr>
        <p:spPr bwMode="auto">
          <a:xfrm>
            <a:off x="13853" y="1807526"/>
            <a:ext cx="2239652" cy="800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7030A0"/>
                </a:solidFill>
                <a:effectLst/>
                <a:latin typeface="Bell MT" panose="02020503060305020303" pitchFamily="18" charset="0"/>
              </a:rPr>
              <a:t>A. Usability Goals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284079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Music symbols Images - Free Download on Freepik">
            <a:extLst>
              <a:ext uri="{FF2B5EF4-FFF2-40B4-BE49-F238E27FC236}">
                <a16:creationId xmlns:a16="http://schemas.microsoft.com/office/drawing/2014/main" id="{F4A3EB94-9A79-02DE-02E2-3B8D7C4B3B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0"/>
            <a:ext cx="6858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50781955-2BCA-1AA0-3665-93A4A8B110A8}"/>
              </a:ext>
            </a:extLst>
          </p:cNvPr>
          <p:cNvSpPr/>
          <p:nvPr/>
        </p:nvSpPr>
        <p:spPr>
          <a:xfrm>
            <a:off x="0" y="19759"/>
            <a:ext cx="12192000" cy="6858000"/>
          </a:xfrm>
          <a:prstGeom prst="rect">
            <a:avLst/>
          </a:prstGeom>
          <a:solidFill>
            <a:schemeClr val="bg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5B823522-60B1-9BFA-6CB8-9C768594E7A0}"/>
              </a:ext>
            </a:extLst>
          </p:cNvPr>
          <p:cNvSpPr txBox="1"/>
          <p:nvPr/>
        </p:nvSpPr>
        <p:spPr>
          <a:xfrm>
            <a:off x="67541" y="170938"/>
            <a:ext cx="12056918" cy="5940088"/>
          </a:xfrm>
          <a:prstGeom prst="rect">
            <a:avLst/>
          </a:prstGeom>
          <a:noFill/>
        </p:spPr>
        <p:txBody>
          <a:bodyPr wrap="square" rtlCol="0">
            <a:spAutoFit/>
          </a:bodyPr>
          <a:lstStyle/>
          <a:p>
            <a:r>
              <a:rPr lang="en-US" sz="2000" b="1" dirty="0">
                <a:solidFill>
                  <a:srgbClr val="7030A0"/>
                </a:solidFill>
                <a:latin typeface="Bell MT" panose="02020503060305020303" pitchFamily="18" charset="0"/>
              </a:rPr>
              <a:t>B. Usability Principles </a:t>
            </a:r>
          </a:p>
          <a:p>
            <a:endParaRPr lang="en-US" sz="2000" b="1" dirty="0">
              <a:latin typeface="Bell MT" panose="02020503060305020303" pitchFamily="18" charset="0"/>
            </a:endParaRPr>
          </a:p>
          <a:p>
            <a:r>
              <a:rPr lang="en-US" sz="2000" b="1" dirty="0">
                <a:latin typeface="Bell MT" panose="02020503060305020303" pitchFamily="18" charset="0"/>
              </a:rPr>
              <a:t>Consistency</a:t>
            </a:r>
            <a:r>
              <a:rPr lang="en-US" sz="2000" dirty="0">
                <a:latin typeface="Bell MT" panose="02020503060305020303" pitchFamily="18" charset="0"/>
              </a:rPr>
              <a:t> – Same icons, buttons, and layout across screens.</a:t>
            </a:r>
          </a:p>
          <a:p>
            <a:r>
              <a:rPr lang="en-US" sz="2000" b="1" dirty="0">
                <a:latin typeface="Bell MT" panose="02020503060305020303" pitchFamily="18" charset="0"/>
              </a:rPr>
              <a:t>Feedback</a:t>
            </a:r>
            <a:r>
              <a:rPr lang="en-US" sz="2000" dirty="0">
                <a:latin typeface="Bell MT" panose="02020503060305020303" pitchFamily="18" charset="0"/>
              </a:rPr>
              <a:t> – Immediate visual or audio response (e.g., heart icon fills when liked).</a:t>
            </a:r>
          </a:p>
          <a:p>
            <a:r>
              <a:rPr lang="en-US" sz="2000" b="1" dirty="0">
                <a:latin typeface="Bell MT" panose="02020503060305020303" pitchFamily="18" charset="0"/>
              </a:rPr>
              <a:t>Visibility of System Status</a:t>
            </a:r>
            <a:r>
              <a:rPr lang="en-US" sz="2000" dirty="0">
                <a:latin typeface="Bell MT" panose="02020503060305020303" pitchFamily="18" charset="0"/>
              </a:rPr>
              <a:t> – Show buffering, download progress, or “Now Playing.”</a:t>
            </a:r>
          </a:p>
          <a:p>
            <a:r>
              <a:rPr lang="en-US" sz="2000" b="1" dirty="0">
                <a:latin typeface="Bell MT" panose="02020503060305020303" pitchFamily="18" charset="0"/>
              </a:rPr>
              <a:t>Minimalist Design</a:t>
            </a:r>
            <a:r>
              <a:rPr lang="en-US" sz="2000" dirty="0">
                <a:latin typeface="Bell MT" panose="02020503060305020303" pitchFamily="18" charset="0"/>
              </a:rPr>
              <a:t> – No clutter; focus on content and controls.</a:t>
            </a:r>
          </a:p>
          <a:p>
            <a:r>
              <a:rPr lang="en-US" sz="2000" b="1" dirty="0">
                <a:latin typeface="Bell MT" panose="02020503060305020303" pitchFamily="18" charset="0"/>
              </a:rPr>
              <a:t>Accessibility</a:t>
            </a:r>
            <a:r>
              <a:rPr lang="en-US" sz="2000" dirty="0">
                <a:latin typeface="Bell MT" panose="02020503060305020303" pitchFamily="18" charset="0"/>
              </a:rPr>
              <a:t> – Large buttons, contrast-friendly colors, voice commands support.</a:t>
            </a:r>
          </a:p>
          <a:p>
            <a:br>
              <a:rPr lang="en-US" sz="2000" dirty="0">
                <a:latin typeface="Bell MT" panose="02020503060305020303" pitchFamily="18" charset="0"/>
              </a:rPr>
            </a:br>
            <a:r>
              <a:rPr lang="en-US" sz="2000" b="1" dirty="0">
                <a:solidFill>
                  <a:srgbClr val="7030A0"/>
                </a:solidFill>
                <a:latin typeface="Bell MT" panose="02020503060305020303" pitchFamily="18" charset="0"/>
              </a:rPr>
              <a:t>C. Example: Usability Flow</a:t>
            </a:r>
          </a:p>
          <a:p>
            <a:endParaRPr lang="en-US" sz="2000" b="1" dirty="0">
              <a:latin typeface="Bell MT" panose="02020503060305020303" pitchFamily="18" charset="0"/>
            </a:endParaRPr>
          </a:p>
          <a:p>
            <a:r>
              <a:rPr lang="en-US" sz="2000" b="1" dirty="0">
                <a:latin typeface="Bell MT" panose="02020503060305020303" pitchFamily="18" charset="0"/>
              </a:rPr>
              <a:t>Task:</a:t>
            </a:r>
            <a:r>
              <a:rPr lang="en-US" sz="2000" dirty="0">
                <a:latin typeface="Bell MT" panose="02020503060305020303" pitchFamily="18" charset="0"/>
              </a:rPr>
              <a:t> User wants to play a favorite song</a:t>
            </a:r>
          </a:p>
          <a:p>
            <a:r>
              <a:rPr lang="en-US" sz="2000" dirty="0">
                <a:latin typeface="Bell MT" panose="02020503060305020303" pitchFamily="18" charset="0"/>
              </a:rPr>
              <a:t>Open app → Home</a:t>
            </a:r>
          </a:p>
          <a:p>
            <a:r>
              <a:rPr lang="en-US" sz="2000" dirty="0">
                <a:latin typeface="Bell MT" panose="02020503060305020303" pitchFamily="18" charset="0"/>
              </a:rPr>
              <a:t>Tap </a:t>
            </a:r>
            <a:r>
              <a:rPr lang="en-US" sz="2000" b="1" dirty="0">
                <a:latin typeface="Bell MT" panose="02020503060305020303" pitchFamily="18" charset="0"/>
              </a:rPr>
              <a:t>Search</a:t>
            </a:r>
            <a:r>
              <a:rPr lang="en-US" sz="2000" dirty="0">
                <a:latin typeface="Bell MT" panose="02020503060305020303" pitchFamily="18" charset="0"/>
              </a:rPr>
              <a:t> → Type song/artist</a:t>
            </a:r>
          </a:p>
          <a:p>
            <a:r>
              <a:rPr lang="en-US" sz="2000" dirty="0">
                <a:latin typeface="Bell MT" panose="02020503060305020303" pitchFamily="18" charset="0"/>
              </a:rPr>
              <a:t>Select result → Play</a:t>
            </a:r>
          </a:p>
          <a:p>
            <a:r>
              <a:rPr lang="en-US" sz="2000" dirty="0">
                <a:latin typeface="Bell MT" panose="02020503060305020303" pitchFamily="18" charset="0"/>
              </a:rPr>
              <a:t>Add to Playlist → Confirmation message “Added Successfully”</a:t>
            </a:r>
          </a:p>
          <a:p>
            <a:r>
              <a:rPr lang="en-US" sz="2000" dirty="0">
                <a:latin typeface="Bell MT" panose="02020503060305020303" pitchFamily="18" charset="0"/>
              </a:rPr>
              <a:t>This flow should take </a:t>
            </a:r>
            <a:r>
              <a:rPr lang="en-US" sz="2000" b="1" dirty="0">
                <a:latin typeface="Bell MT" panose="02020503060305020303" pitchFamily="18" charset="0"/>
              </a:rPr>
              <a:t>no more than 3–4 interactions</a:t>
            </a:r>
            <a:r>
              <a:rPr lang="en-US" sz="2000" dirty="0">
                <a:latin typeface="Bell MT" panose="02020503060305020303" pitchFamily="18" charset="0"/>
              </a:rPr>
              <a:t>.</a:t>
            </a:r>
          </a:p>
          <a:p>
            <a:br>
              <a:rPr lang="en-US" sz="2000" dirty="0">
                <a:latin typeface="Bell MT" panose="02020503060305020303" pitchFamily="18" charset="0"/>
              </a:rPr>
            </a:br>
            <a:r>
              <a:rPr lang="en-US" sz="2000" b="1" dirty="0">
                <a:solidFill>
                  <a:srgbClr val="00B0F0"/>
                </a:solidFill>
                <a:latin typeface="Bell MT" panose="02020503060305020303" pitchFamily="18" charset="0"/>
              </a:rPr>
              <a:t>🖱️ 2. Interaction Design (</a:t>
            </a:r>
            <a:r>
              <a:rPr lang="en-US" sz="2000" b="1" dirty="0" err="1">
                <a:solidFill>
                  <a:srgbClr val="00B0F0"/>
                </a:solidFill>
                <a:latin typeface="Bell MT" panose="02020503060305020303" pitchFamily="18" charset="0"/>
              </a:rPr>
              <a:t>IxD</a:t>
            </a:r>
            <a:r>
              <a:rPr lang="en-US" sz="2000" b="1" dirty="0">
                <a:solidFill>
                  <a:srgbClr val="00B0F0"/>
                </a:solidFill>
                <a:latin typeface="Bell MT" panose="02020503060305020303" pitchFamily="18" charset="0"/>
              </a:rPr>
              <a:t>)</a:t>
            </a:r>
          </a:p>
          <a:p>
            <a:r>
              <a:rPr lang="en-US" sz="2000" dirty="0">
                <a:latin typeface="Bell MT" panose="02020503060305020303" pitchFamily="18" charset="0"/>
              </a:rPr>
              <a:t>Interaction Design defines </a:t>
            </a:r>
            <a:r>
              <a:rPr lang="en-US" sz="2000" b="1" dirty="0">
                <a:latin typeface="Bell MT" panose="02020503060305020303" pitchFamily="18" charset="0"/>
              </a:rPr>
              <a:t>how users interact with the interface</a:t>
            </a:r>
            <a:r>
              <a:rPr lang="en-US" sz="2000" dirty="0">
                <a:latin typeface="Bell MT" panose="02020503060305020303" pitchFamily="18" charset="0"/>
              </a:rPr>
              <a:t> — through gestures, animations, and feedback</a:t>
            </a:r>
            <a:r>
              <a:rPr lang="en-US" dirty="0"/>
              <a:t>.</a:t>
            </a:r>
          </a:p>
        </p:txBody>
      </p:sp>
    </p:spTree>
    <p:extLst>
      <p:ext uri="{BB962C8B-B14F-4D97-AF65-F5344CB8AC3E}">
        <p14:creationId xmlns:p14="http://schemas.microsoft.com/office/powerpoint/2010/main" val="41409146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Music symbols Images - Free Download on Freepik">
            <a:extLst>
              <a:ext uri="{FF2B5EF4-FFF2-40B4-BE49-F238E27FC236}">
                <a16:creationId xmlns:a16="http://schemas.microsoft.com/office/drawing/2014/main" id="{C81F7260-EF5B-AFAC-D6F2-92D5C65C42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0"/>
            <a:ext cx="6858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57F06D9D-A31B-AA3B-56D1-258D4F70C505}"/>
              </a:ext>
            </a:extLst>
          </p:cNvPr>
          <p:cNvSpPr/>
          <p:nvPr/>
        </p:nvSpPr>
        <p:spPr>
          <a:xfrm>
            <a:off x="0" y="82286"/>
            <a:ext cx="12192000" cy="6858000"/>
          </a:xfrm>
          <a:prstGeom prst="rect">
            <a:avLst/>
          </a:prstGeom>
          <a:solidFill>
            <a:schemeClr val="bg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000">
              <a:latin typeface="Bell MT" panose="02020503060305020303" pitchFamily="18" charset="0"/>
            </a:endParaRPr>
          </a:p>
        </p:txBody>
      </p:sp>
      <p:graphicFrame>
        <p:nvGraphicFramePr>
          <p:cNvPr id="5" name="Table 4">
            <a:extLst>
              <a:ext uri="{FF2B5EF4-FFF2-40B4-BE49-F238E27FC236}">
                <a16:creationId xmlns:a16="http://schemas.microsoft.com/office/drawing/2014/main" id="{80618AB8-305E-E6F8-4CFA-ADBF0B877CAD}"/>
              </a:ext>
            </a:extLst>
          </p:cNvPr>
          <p:cNvGraphicFramePr>
            <a:graphicFrameLocks noGrp="1"/>
          </p:cNvGraphicFramePr>
          <p:nvPr>
            <p:extLst>
              <p:ext uri="{D42A27DB-BD31-4B8C-83A1-F6EECF244321}">
                <p14:modId xmlns:p14="http://schemas.microsoft.com/office/powerpoint/2010/main" val="4047078715"/>
              </p:ext>
            </p:extLst>
          </p:nvPr>
        </p:nvGraphicFramePr>
        <p:xfrm>
          <a:off x="136451" y="686380"/>
          <a:ext cx="10515600" cy="2560320"/>
        </p:xfrm>
        <a:graphic>
          <a:graphicData uri="http://schemas.openxmlformats.org/drawingml/2006/table">
            <a:tbl>
              <a:tblPr>
                <a:tableStyleId>{35758FB7-9AC5-4552-8A53-C91805E547FA}</a:tableStyleId>
              </a:tblPr>
              <a:tblGrid>
                <a:gridCol w="3505200">
                  <a:extLst>
                    <a:ext uri="{9D8B030D-6E8A-4147-A177-3AD203B41FA5}">
                      <a16:colId xmlns:a16="http://schemas.microsoft.com/office/drawing/2014/main" val="1173146497"/>
                    </a:ext>
                  </a:extLst>
                </a:gridCol>
                <a:gridCol w="3505200">
                  <a:extLst>
                    <a:ext uri="{9D8B030D-6E8A-4147-A177-3AD203B41FA5}">
                      <a16:colId xmlns:a16="http://schemas.microsoft.com/office/drawing/2014/main" val="2542612718"/>
                    </a:ext>
                  </a:extLst>
                </a:gridCol>
                <a:gridCol w="3505200">
                  <a:extLst>
                    <a:ext uri="{9D8B030D-6E8A-4147-A177-3AD203B41FA5}">
                      <a16:colId xmlns:a16="http://schemas.microsoft.com/office/drawing/2014/main" val="2839150601"/>
                    </a:ext>
                  </a:extLst>
                </a:gridCol>
              </a:tblGrid>
              <a:tr h="0">
                <a:tc>
                  <a:txBody>
                    <a:bodyPr/>
                    <a:lstStyle/>
                    <a:p>
                      <a:pPr>
                        <a:buNone/>
                      </a:pPr>
                      <a:r>
                        <a:rPr lang="en-IN"/>
                        <a:t>Action</a:t>
                      </a:r>
                    </a:p>
                  </a:txBody>
                  <a:tcPr anchor="ctr"/>
                </a:tc>
                <a:tc>
                  <a:txBody>
                    <a:bodyPr/>
                    <a:lstStyle/>
                    <a:p>
                      <a:pPr>
                        <a:buNone/>
                      </a:pPr>
                      <a:r>
                        <a:rPr lang="en-IN"/>
                        <a:t>Interaction Type</a:t>
                      </a:r>
                    </a:p>
                  </a:txBody>
                  <a:tcPr anchor="ctr"/>
                </a:tc>
                <a:tc>
                  <a:txBody>
                    <a:bodyPr/>
                    <a:lstStyle/>
                    <a:p>
                      <a:pPr>
                        <a:buNone/>
                      </a:pPr>
                      <a:r>
                        <a:rPr lang="en-IN" dirty="0"/>
                        <a:t>Example</a:t>
                      </a:r>
                    </a:p>
                  </a:txBody>
                  <a:tcPr anchor="ctr"/>
                </a:tc>
                <a:extLst>
                  <a:ext uri="{0D108BD9-81ED-4DB2-BD59-A6C34878D82A}">
                    <a16:rowId xmlns:a16="http://schemas.microsoft.com/office/drawing/2014/main" val="3906914265"/>
                  </a:ext>
                </a:extLst>
              </a:tr>
              <a:tr h="0">
                <a:tc>
                  <a:txBody>
                    <a:bodyPr/>
                    <a:lstStyle/>
                    <a:p>
                      <a:pPr>
                        <a:buNone/>
                      </a:pPr>
                      <a:r>
                        <a:rPr lang="en-IN"/>
                        <a:t>Play / Pause</a:t>
                      </a:r>
                    </a:p>
                  </a:txBody>
                  <a:tcPr anchor="ctr"/>
                </a:tc>
                <a:tc>
                  <a:txBody>
                    <a:bodyPr/>
                    <a:lstStyle/>
                    <a:p>
                      <a:pPr>
                        <a:buNone/>
                      </a:pPr>
                      <a:r>
                        <a:rPr lang="en-IN"/>
                        <a:t>Tap</a:t>
                      </a:r>
                    </a:p>
                  </a:txBody>
                  <a:tcPr anchor="ctr"/>
                </a:tc>
                <a:tc>
                  <a:txBody>
                    <a:bodyPr/>
                    <a:lstStyle/>
                    <a:p>
                      <a:pPr>
                        <a:buNone/>
                      </a:pPr>
                      <a:r>
                        <a:rPr lang="en-US"/>
                        <a:t>Play icon changes to pause</a:t>
                      </a:r>
                    </a:p>
                  </a:txBody>
                  <a:tcPr anchor="ctr"/>
                </a:tc>
                <a:extLst>
                  <a:ext uri="{0D108BD9-81ED-4DB2-BD59-A6C34878D82A}">
                    <a16:rowId xmlns:a16="http://schemas.microsoft.com/office/drawing/2014/main" val="3466526756"/>
                  </a:ext>
                </a:extLst>
              </a:tr>
              <a:tr h="0">
                <a:tc>
                  <a:txBody>
                    <a:bodyPr/>
                    <a:lstStyle/>
                    <a:p>
                      <a:pPr>
                        <a:buNone/>
                      </a:pPr>
                      <a:r>
                        <a:rPr lang="en-IN"/>
                        <a:t>Next / Previous</a:t>
                      </a:r>
                    </a:p>
                  </a:txBody>
                  <a:tcPr anchor="ctr"/>
                </a:tc>
                <a:tc>
                  <a:txBody>
                    <a:bodyPr/>
                    <a:lstStyle/>
                    <a:p>
                      <a:pPr>
                        <a:buNone/>
                      </a:pPr>
                      <a:r>
                        <a:rPr lang="en-IN"/>
                        <a:t>Swipe</a:t>
                      </a:r>
                    </a:p>
                  </a:txBody>
                  <a:tcPr anchor="ctr"/>
                </a:tc>
                <a:tc>
                  <a:txBody>
                    <a:bodyPr/>
                    <a:lstStyle/>
                    <a:p>
                      <a:pPr>
                        <a:buNone/>
                      </a:pPr>
                      <a:r>
                        <a:rPr lang="en-IN"/>
                        <a:t>Song changes with animation</a:t>
                      </a:r>
                    </a:p>
                  </a:txBody>
                  <a:tcPr anchor="ctr"/>
                </a:tc>
                <a:extLst>
                  <a:ext uri="{0D108BD9-81ED-4DB2-BD59-A6C34878D82A}">
                    <a16:rowId xmlns:a16="http://schemas.microsoft.com/office/drawing/2014/main" val="84205561"/>
                  </a:ext>
                </a:extLst>
              </a:tr>
              <a:tr h="0">
                <a:tc>
                  <a:txBody>
                    <a:bodyPr/>
                    <a:lstStyle/>
                    <a:p>
                      <a:pPr>
                        <a:buNone/>
                      </a:pPr>
                      <a:r>
                        <a:rPr lang="en-IN"/>
                        <a:t>Like / Favorite</a:t>
                      </a:r>
                    </a:p>
                  </a:txBody>
                  <a:tcPr anchor="ctr"/>
                </a:tc>
                <a:tc>
                  <a:txBody>
                    <a:bodyPr/>
                    <a:lstStyle/>
                    <a:p>
                      <a:pPr>
                        <a:buNone/>
                      </a:pPr>
                      <a:r>
                        <a:rPr lang="en-IN" dirty="0"/>
                        <a:t>Tap heart</a:t>
                      </a:r>
                    </a:p>
                  </a:txBody>
                  <a:tcPr anchor="ctr"/>
                </a:tc>
                <a:tc>
                  <a:txBody>
                    <a:bodyPr/>
                    <a:lstStyle/>
                    <a:p>
                      <a:pPr>
                        <a:buNone/>
                      </a:pPr>
                      <a:r>
                        <a:rPr lang="en-IN"/>
                        <a:t>Heart fills red</a:t>
                      </a:r>
                    </a:p>
                  </a:txBody>
                  <a:tcPr anchor="ctr"/>
                </a:tc>
                <a:extLst>
                  <a:ext uri="{0D108BD9-81ED-4DB2-BD59-A6C34878D82A}">
                    <a16:rowId xmlns:a16="http://schemas.microsoft.com/office/drawing/2014/main" val="1975515512"/>
                  </a:ext>
                </a:extLst>
              </a:tr>
              <a:tr h="0">
                <a:tc>
                  <a:txBody>
                    <a:bodyPr/>
                    <a:lstStyle/>
                    <a:p>
                      <a:pPr>
                        <a:buNone/>
                      </a:pPr>
                      <a:r>
                        <a:rPr lang="en-IN"/>
                        <a:t>Search</a:t>
                      </a:r>
                    </a:p>
                  </a:txBody>
                  <a:tcPr anchor="ctr"/>
                </a:tc>
                <a:tc>
                  <a:txBody>
                    <a:bodyPr/>
                    <a:lstStyle/>
                    <a:p>
                      <a:pPr>
                        <a:buNone/>
                      </a:pPr>
                      <a:r>
                        <a:rPr lang="en-IN"/>
                        <a:t>Type / Voice input</a:t>
                      </a:r>
                    </a:p>
                  </a:txBody>
                  <a:tcPr anchor="ctr"/>
                </a:tc>
                <a:tc>
                  <a:txBody>
                    <a:bodyPr/>
                    <a:lstStyle/>
                    <a:p>
                      <a:pPr>
                        <a:buNone/>
                      </a:pPr>
                      <a:r>
                        <a:rPr lang="en-IN" dirty="0"/>
                        <a:t>Suggestions appear instantly</a:t>
                      </a:r>
                    </a:p>
                  </a:txBody>
                  <a:tcPr anchor="ctr"/>
                </a:tc>
                <a:extLst>
                  <a:ext uri="{0D108BD9-81ED-4DB2-BD59-A6C34878D82A}">
                    <a16:rowId xmlns:a16="http://schemas.microsoft.com/office/drawing/2014/main" val="2244023688"/>
                  </a:ext>
                </a:extLst>
              </a:tr>
              <a:tr h="0">
                <a:tc>
                  <a:txBody>
                    <a:bodyPr/>
                    <a:lstStyle/>
                    <a:p>
                      <a:pPr>
                        <a:buNone/>
                      </a:pPr>
                      <a:r>
                        <a:rPr lang="en-IN"/>
                        <a:t>Add to Playlist</a:t>
                      </a:r>
                    </a:p>
                  </a:txBody>
                  <a:tcPr anchor="ctr"/>
                </a:tc>
                <a:tc>
                  <a:txBody>
                    <a:bodyPr/>
                    <a:lstStyle/>
                    <a:p>
                      <a:pPr>
                        <a:buNone/>
                      </a:pPr>
                      <a:r>
                        <a:rPr lang="en-IN"/>
                        <a:t>Long press / Menu</a:t>
                      </a:r>
                    </a:p>
                  </a:txBody>
                  <a:tcPr anchor="ctr"/>
                </a:tc>
                <a:tc>
                  <a:txBody>
                    <a:bodyPr/>
                    <a:lstStyle/>
                    <a:p>
                      <a:pPr>
                        <a:buNone/>
                      </a:pPr>
                      <a:r>
                        <a:rPr lang="en-IN"/>
                        <a:t>Modal popup appears</a:t>
                      </a:r>
                    </a:p>
                  </a:txBody>
                  <a:tcPr anchor="ctr"/>
                </a:tc>
                <a:extLst>
                  <a:ext uri="{0D108BD9-81ED-4DB2-BD59-A6C34878D82A}">
                    <a16:rowId xmlns:a16="http://schemas.microsoft.com/office/drawing/2014/main" val="1137325873"/>
                  </a:ext>
                </a:extLst>
              </a:tr>
              <a:tr h="0">
                <a:tc>
                  <a:txBody>
                    <a:bodyPr/>
                    <a:lstStyle/>
                    <a:p>
                      <a:pPr>
                        <a:buNone/>
                      </a:pPr>
                      <a:r>
                        <a:rPr lang="en-IN" dirty="0"/>
                        <a:t>View Lyrics</a:t>
                      </a:r>
                    </a:p>
                  </a:txBody>
                  <a:tcPr anchor="ctr"/>
                </a:tc>
                <a:tc>
                  <a:txBody>
                    <a:bodyPr/>
                    <a:lstStyle/>
                    <a:p>
                      <a:pPr>
                        <a:buNone/>
                      </a:pPr>
                      <a:r>
                        <a:rPr lang="en-IN" dirty="0"/>
                        <a:t>Swipe up</a:t>
                      </a:r>
                    </a:p>
                  </a:txBody>
                  <a:tcPr anchor="ctr"/>
                </a:tc>
                <a:tc>
                  <a:txBody>
                    <a:bodyPr/>
                    <a:lstStyle/>
                    <a:p>
                      <a:pPr>
                        <a:buNone/>
                      </a:pPr>
                      <a:r>
                        <a:rPr lang="en-IN" dirty="0"/>
                        <a:t>Lyrics panel expands</a:t>
                      </a:r>
                    </a:p>
                  </a:txBody>
                  <a:tcPr anchor="ctr"/>
                </a:tc>
                <a:extLst>
                  <a:ext uri="{0D108BD9-81ED-4DB2-BD59-A6C34878D82A}">
                    <a16:rowId xmlns:a16="http://schemas.microsoft.com/office/drawing/2014/main" val="3867381141"/>
                  </a:ext>
                </a:extLst>
              </a:tr>
            </a:tbl>
          </a:graphicData>
        </a:graphic>
      </p:graphicFrame>
      <p:sp>
        <p:nvSpPr>
          <p:cNvPr id="6" name="Rectangle 1">
            <a:extLst>
              <a:ext uri="{FF2B5EF4-FFF2-40B4-BE49-F238E27FC236}">
                <a16:creationId xmlns:a16="http://schemas.microsoft.com/office/drawing/2014/main" id="{18195D7D-8707-5E6E-3524-1993627C91E1}"/>
              </a:ext>
            </a:extLst>
          </p:cNvPr>
          <p:cNvSpPr>
            <a:spLocks noChangeArrowheads="1"/>
          </p:cNvSpPr>
          <p:nvPr/>
        </p:nvSpPr>
        <p:spPr bwMode="auto">
          <a:xfrm>
            <a:off x="136451" y="134661"/>
            <a:ext cx="246695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7030A0"/>
                </a:solidFill>
                <a:effectLst/>
                <a:latin typeface="Bell MT" panose="02020503060305020303" pitchFamily="18" charset="0"/>
              </a:rPr>
              <a:t>A. Core Interactions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Bell MT" panose="02020503060305020303" pitchFamily="18" charset="0"/>
            </a:endParaRPr>
          </a:p>
        </p:txBody>
      </p:sp>
      <p:sp>
        <p:nvSpPr>
          <p:cNvPr id="8" name="Rectangle 3">
            <a:extLst>
              <a:ext uri="{FF2B5EF4-FFF2-40B4-BE49-F238E27FC236}">
                <a16:creationId xmlns:a16="http://schemas.microsoft.com/office/drawing/2014/main" id="{EB1D0AF2-2491-07A7-45E6-5F26EAF439DB}"/>
              </a:ext>
            </a:extLst>
          </p:cNvPr>
          <p:cNvSpPr>
            <a:spLocks noChangeArrowheads="1"/>
          </p:cNvSpPr>
          <p:nvPr/>
        </p:nvSpPr>
        <p:spPr bwMode="auto">
          <a:xfrm>
            <a:off x="356109" y="3677216"/>
            <a:ext cx="4480714"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7030A0"/>
                </a:solidFill>
                <a:effectLst/>
                <a:latin typeface="Bell MT" panose="02020503060305020303" pitchFamily="18" charset="0"/>
              </a:rPr>
              <a:t>B. Gestures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rgbClr val="7030A0"/>
              </a:solidFill>
              <a:effectLst/>
              <a:latin typeface="Bell MT" panose="02020503060305020303"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Bell MT" panose="02020503060305020303" pitchFamily="18" charset="0"/>
              </a:rPr>
              <a:t>Swipe left/right</a:t>
            </a:r>
            <a:r>
              <a:rPr kumimoji="0" lang="en-US" altLang="en-US" sz="2000" b="0" i="0" u="none" strike="noStrike" cap="none" normalizeH="0" baseline="0" dirty="0">
                <a:ln>
                  <a:noFill/>
                </a:ln>
                <a:solidFill>
                  <a:schemeClr val="tx1"/>
                </a:solidFill>
                <a:effectLst/>
                <a:latin typeface="Bell MT" panose="02020503060305020303" pitchFamily="18" charset="0"/>
              </a:rPr>
              <a:t> → Skip songs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Bell MT" panose="02020503060305020303" pitchFamily="18" charset="0"/>
              </a:rPr>
              <a:t>Swipe up</a:t>
            </a:r>
            <a:r>
              <a:rPr kumimoji="0" lang="en-US" altLang="en-US" sz="2000" b="0" i="0" u="none" strike="noStrike" cap="none" normalizeH="0" baseline="0" dirty="0">
                <a:ln>
                  <a:noFill/>
                </a:ln>
                <a:solidFill>
                  <a:schemeClr val="tx1"/>
                </a:solidFill>
                <a:effectLst/>
                <a:latin typeface="Bell MT" panose="02020503060305020303" pitchFamily="18" charset="0"/>
              </a:rPr>
              <a:t> → Expand Now Playing view</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Bell MT" panose="02020503060305020303" pitchFamily="18" charset="0"/>
              </a:rPr>
              <a:t>Drag</a:t>
            </a:r>
            <a:r>
              <a:rPr kumimoji="0" lang="en-US" altLang="en-US" sz="2000" b="0" i="0" u="none" strike="noStrike" cap="none" normalizeH="0" baseline="0" dirty="0">
                <a:ln>
                  <a:noFill/>
                </a:ln>
                <a:solidFill>
                  <a:schemeClr val="tx1"/>
                </a:solidFill>
                <a:effectLst/>
                <a:latin typeface="Bell MT" panose="02020503060305020303" pitchFamily="18" charset="0"/>
              </a:rPr>
              <a:t> → Adjust progress bar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Bell MT" panose="02020503060305020303" pitchFamily="18" charset="0"/>
              </a:rPr>
              <a:t>Tap</a:t>
            </a:r>
            <a:r>
              <a:rPr kumimoji="0" lang="en-US" altLang="en-US" sz="2000" b="0" i="0" u="none" strike="noStrike" cap="none" normalizeH="0" baseline="0" dirty="0">
                <a:ln>
                  <a:noFill/>
                </a:ln>
                <a:solidFill>
                  <a:schemeClr val="tx1"/>
                </a:solidFill>
                <a:effectLst/>
                <a:latin typeface="Bell MT" panose="02020503060305020303" pitchFamily="18" charset="0"/>
              </a:rPr>
              <a:t> → Play/pause or open menu</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Bell MT" panose="02020503060305020303" pitchFamily="18" charset="0"/>
            </a:endParaRPr>
          </a:p>
        </p:txBody>
      </p:sp>
    </p:spTree>
    <p:extLst>
      <p:ext uri="{BB962C8B-B14F-4D97-AF65-F5344CB8AC3E}">
        <p14:creationId xmlns:p14="http://schemas.microsoft.com/office/powerpoint/2010/main" val="14697033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2" descr="Music symbols Images - Free Download on Freepik">
            <a:extLst>
              <a:ext uri="{FF2B5EF4-FFF2-40B4-BE49-F238E27FC236}">
                <a16:creationId xmlns:a16="http://schemas.microsoft.com/office/drawing/2014/main" id="{1EA5AF72-E3B1-1098-BC50-D583A4A771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0"/>
            <a:ext cx="6858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C4648751-5A69-6433-01CC-242C55635A23}"/>
              </a:ext>
            </a:extLst>
          </p:cNvPr>
          <p:cNvSpPr/>
          <p:nvPr/>
        </p:nvSpPr>
        <p:spPr>
          <a:xfrm>
            <a:off x="0" y="0"/>
            <a:ext cx="12192000" cy="6858000"/>
          </a:xfrm>
          <a:prstGeom prst="rect">
            <a:avLst/>
          </a:prstGeom>
          <a:solidFill>
            <a:schemeClr val="bg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TextBox 3">
            <a:extLst>
              <a:ext uri="{FF2B5EF4-FFF2-40B4-BE49-F238E27FC236}">
                <a16:creationId xmlns:a16="http://schemas.microsoft.com/office/drawing/2014/main" id="{5E570E6D-D78E-1CE2-E31C-57EBE0E436AC}"/>
              </a:ext>
            </a:extLst>
          </p:cNvPr>
          <p:cNvSpPr txBox="1"/>
          <p:nvPr/>
        </p:nvSpPr>
        <p:spPr>
          <a:xfrm>
            <a:off x="0" y="176645"/>
            <a:ext cx="12192000" cy="5632311"/>
          </a:xfrm>
          <a:prstGeom prst="rect">
            <a:avLst/>
          </a:prstGeom>
          <a:noFill/>
        </p:spPr>
        <p:txBody>
          <a:bodyPr wrap="square" rtlCol="0">
            <a:spAutoFit/>
          </a:bodyPr>
          <a:lstStyle/>
          <a:p>
            <a:r>
              <a:rPr lang="en-US" sz="2000" b="1" dirty="0">
                <a:solidFill>
                  <a:srgbClr val="7030A0"/>
                </a:solidFill>
                <a:latin typeface="Bell MT" panose="02020503060305020303" pitchFamily="18" charset="0"/>
              </a:rPr>
              <a:t>C. </a:t>
            </a:r>
            <a:r>
              <a:rPr lang="en-US" sz="2000" b="1" dirty="0" err="1">
                <a:solidFill>
                  <a:srgbClr val="7030A0"/>
                </a:solidFill>
                <a:latin typeface="Bell MT" panose="02020503060305020303" pitchFamily="18" charset="0"/>
              </a:rPr>
              <a:t>Microinteractions</a:t>
            </a:r>
            <a:r>
              <a:rPr lang="en-US" sz="2000" b="1" dirty="0">
                <a:solidFill>
                  <a:srgbClr val="7030A0"/>
                </a:solidFill>
                <a:latin typeface="Bell MT" panose="02020503060305020303" pitchFamily="18" charset="0"/>
              </a:rPr>
              <a:t> &amp; Feedback</a:t>
            </a:r>
          </a:p>
          <a:p>
            <a:endParaRPr lang="en-US" sz="2000" b="1" dirty="0">
              <a:solidFill>
                <a:srgbClr val="7030A0"/>
              </a:solidFill>
              <a:latin typeface="Bell MT" panose="02020503060305020303" pitchFamily="18" charset="0"/>
            </a:endParaRPr>
          </a:p>
          <a:p>
            <a:r>
              <a:rPr lang="en-US" sz="2000" dirty="0" err="1">
                <a:latin typeface="Bell MT" panose="02020503060305020303" pitchFamily="18" charset="0"/>
              </a:rPr>
              <a:t>Microinteractions</a:t>
            </a:r>
            <a:r>
              <a:rPr lang="en-US" sz="2000" dirty="0">
                <a:latin typeface="Bell MT" panose="02020503060305020303" pitchFamily="18" charset="0"/>
              </a:rPr>
              <a:t> make the app feel alive ✨</a:t>
            </a:r>
          </a:p>
          <a:p>
            <a:r>
              <a:rPr lang="en-US" sz="2000" b="1" dirty="0">
                <a:latin typeface="Bell MT" panose="02020503060305020303" pitchFamily="18" charset="0"/>
              </a:rPr>
              <a:t>Button Ripple Effect</a:t>
            </a:r>
            <a:r>
              <a:rPr lang="en-US" sz="2000" dirty="0">
                <a:latin typeface="Bell MT" panose="02020503060305020303" pitchFamily="18" charset="0"/>
              </a:rPr>
              <a:t> – Visual feedback on tap.</a:t>
            </a:r>
          </a:p>
          <a:p>
            <a:r>
              <a:rPr lang="en-US" sz="2000" b="1" dirty="0">
                <a:latin typeface="Bell MT" panose="02020503060305020303" pitchFamily="18" charset="0"/>
              </a:rPr>
              <a:t>Album Art Rotation</a:t>
            </a:r>
            <a:r>
              <a:rPr lang="en-US" sz="2000" dirty="0">
                <a:latin typeface="Bell MT" panose="02020503060305020303" pitchFamily="18" charset="0"/>
              </a:rPr>
              <a:t> – While music plays.</a:t>
            </a:r>
          </a:p>
          <a:p>
            <a:r>
              <a:rPr lang="en-US" sz="2000" b="1" dirty="0">
                <a:latin typeface="Bell MT" panose="02020503060305020303" pitchFamily="18" charset="0"/>
              </a:rPr>
              <a:t>Animated Progress Bar</a:t>
            </a:r>
            <a:r>
              <a:rPr lang="en-US" sz="2000" dirty="0">
                <a:latin typeface="Bell MT" panose="02020503060305020303" pitchFamily="18" charset="0"/>
              </a:rPr>
              <a:t> – Smooth timeline motion.</a:t>
            </a:r>
          </a:p>
          <a:p>
            <a:r>
              <a:rPr lang="en-US" sz="2000" b="1" dirty="0">
                <a:latin typeface="Bell MT" panose="02020503060305020303" pitchFamily="18" charset="0"/>
              </a:rPr>
              <a:t>Heart Animation</a:t>
            </a:r>
            <a:r>
              <a:rPr lang="en-US" sz="2000" dirty="0">
                <a:latin typeface="Bell MT" panose="02020503060305020303" pitchFamily="18" charset="0"/>
              </a:rPr>
              <a:t> – Expands or glows when liked.</a:t>
            </a:r>
          </a:p>
          <a:p>
            <a:r>
              <a:rPr lang="en-US" sz="2000" b="1" dirty="0">
                <a:latin typeface="Bell MT" panose="02020503060305020303" pitchFamily="18" charset="0"/>
              </a:rPr>
              <a:t>Haptic Feedback</a:t>
            </a:r>
            <a:r>
              <a:rPr lang="en-US" sz="2000" dirty="0">
                <a:latin typeface="Bell MT" panose="02020503060305020303" pitchFamily="18" charset="0"/>
              </a:rPr>
              <a:t> – Soft vibration when actions complete.</a:t>
            </a:r>
          </a:p>
          <a:p>
            <a:br>
              <a:rPr lang="en-US" sz="2000" dirty="0">
                <a:solidFill>
                  <a:srgbClr val="7030A0"/>
                </a:solidFill>
                <a:latin typeface="Bell MT" panose="02020503060305020303" pitchFamily="18" charset="0"/>
              </a:rPr>
            </a:br>
            <a:endParaRPr lang="en-US" sz="2000" dirty="0">
              <a:solidFill>
                <a:srgbClr val="7030A0"/>
              </a:solidFill>
              <a:latin typeface="Bell MT" panose="02020503060305020303" pitchFamily="18" charset="0"/>
            </a:endParaRPr>
          </a:p>
          <a:p>
            <a:r>
              <a:rPr lang="en-US" sz="2000" b="1" dirty="0">
                <a:solidFill>
                  <a:srgbClr val="7030A0"/>
                </a:solidFill>
                <a:latin typeface="Bell MT" panose="02020503060305020303" pitchFamily="18" charset="0"/>
              </a:rPr>
              <a:t>D. Example: “Now Playing” Screen Interaction Flow</a:t>
            </a:r>
          </a:p>
          <a:p>
            <a:endParaRPr lang="en-US" sz="2000" b="1" dirty="0">
              <a:solidFill>
                <a:srgbClr val="7030A0"/>
              </a:solidFill>
              <a:latin typeface="Bell MT" panose="02020503060305020303" pitchFamily="18" charset="0"/>
            </a:endParaRPr>
          </a:p>
          <a:p>
            <a:r>
              <a:rPr lang="en-US" sz="2000" dirty="0">
                <a:latin typeface="Bell MT" panose="02020503060305020303" pitchFamily="18" charset="0"/>
              </a:rPr>
              <a:t>Tap song → Now Playing opens with smooth slide-up animation.</a:t>
            </a:r>
          </a:p>
          <a:p>
            <a:r>
              <a:rPr lang="en-US" sz="2000" dirty="0">
                <a:latin typeface="Bell MT" panose="02020503060305020303" pitchFamily="18" charset="0"/>
              </a:rPr>
              <a:t>Album art rotates while song plays.</a:t>
            </a:r>
          </a:p>
          <a:p>
            <a:r>
              <a:rPr lang="en-US" sz="2000" dirty="0">
                <a:latin typeface="Bell MT" panose="02020503060305020303" pitchFamily="18" charset="0"/>
              </a:rPr>
              <a:t>Swipe up → Lyrics fade in.</a:t>
            </a:r>
          </a:p>
          <a:p>
            <a:r>
              <a:rPr lang="en-US" sz="2000" dirty="0">
                <a:latin typeface="Bell MT" panose="02020503060305020303" pitchFamily="18" charset="0"/>
              </a:rPr>
              <a:t>Tap heart → “Liked” animation appears.</a:t>
            </a:r>
          </a:p>
          <a:p>
            <a:r>
              <a:rPr lang="en-US" sz="2000" dirty="0">
                <a:latin typeface="Bell MT" panose="02020503060305020303" pitchFamily="18" charset="0"/>
              </a:rPr>
              <a:t>Swipe down → Return to Home.</a:t>
            </a:r>
          </a:p>
          <a:p>
            <a:endParaRPr lang="en-IN" sz="2000" dirty="0">
              <a:latin typeface="Bell MT" panose="02020503060305020303" pitchFamily="18" charset="0"/>
            </a:endParaRPr>
          </a:p>
        </p:txBody>
      </p:sp>
    </p:spTree>
    <p:extLst>
      <p:ext uri="{BB962C8B-B14F-4D97-AF65-F5344CB8AC3E}">
        <p14:creationId xmlns:p14="http://schemas.microsoft.com/office/powerpoint/2010/main" val="1380036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Music symbols Images - Free Download on Freepik">
            <a:extLst>
              <a:ext uri="{FF2B5EF4-FFF2-40B4-BE49-F238E27FC236}">
                <a16:creationId xmlns:a16="http://schemas.microsoft.com/office/drawing/2014/main" id="{1D5AE088-8522-EA6F-63C1-327C110B48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1582" y="0"/>
            <a:ext cx="6858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D185E4A3-5CB4-C2CD-CA6F-0E5C8437132C}"/>
              </a:ext>
            </a:extLst>
          </p:cNvPr>
          <p:cNvSpPr/>
          <p:nvPr/>
        </p:nvSpPr>
        <p:spPr>
          <a:xfrm>
            <a:off x="-55418" y="0"/>
            <a:ext cx="12192000" cy="6858000"/>
          </a:xfrm>
          <a:prstGeom prst="rect">
            <a:avLst/>
          </a:prstGeom>
          <a:solidFill>
            <a:schemeClr val="bg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000">
              <a:latin typeface="Bell MT" panose="02020503060305020303" pitchFamily="18" charset="0"/>
            </a:endParaRPr>
          </a:p>
        </p:txBody>
      </p:sp>
      <p:graphicFrame>
        <p:nvGraphicFramePr>
          <p:cNvPr id="5" name="Table 4">
            <a:extLst>
              <a:ext uri="{FF2B5EF4-FFF2-40B4-BE49-F238E27FC236}">
                <a16:creationId xmlns:a16="http://schemas.microsoft.com/office/drawing/2014/main" id="{8AF00D52-05C4-6D74-2AAC-FF80A56981F7}"/>
              </a:ext>
            </a:extLst>
          </p:cNvPr>
          <p:cNvGraphicFramePr>
            <a:graphicFrameLocks noGrp="1"/>
          </p:cNvGraphicFramePr>
          <p:nvPr>
            <p:extLst>
              <p:ext uri="{D42A27DB-BD31-4B8C-83A1-F6EECF244321}">
                <p14:modId xmlns:p14="http://schemas.microsoft.com/office/powerpoint/2010/main" val="2656753902"/>
              </p:ext>
            </p:extLst>
          </p:nvPr>
        </p:nvGraphicFramePr>
        <p:xfrm>
          <a:off x="107373" y="1487776"/>
          <a:ext cx="10515600" cy="2377440"/>
        </p:xfrm>
        <a:graphic>
          <a:graphicData uri="http://schemas.openxmlformats.org/drawingml/2006/table">
            <a:tbl>
              <a:tblPr>
                <a:tableStyleId>{284E427A-3D55-4303-BF80-6455036E1DE7}</a:tableStyleId>
              </a:tblPr>
              <a:tblGrid>
                <a:gridCol w="3505200">
                  <a:extLst>
                    <a:ext uri="{9D8B030D-6E8A-4147-A177-3AD203B41FA5}">
                      <a16:colId xmlns:a16="http://schemas.microsoft.com/office/drawing/2014/main" val="60923066"/>
                    </a:ext>
                  </a:extLst>
                </a:gridCol>
                <a:gridCol w="3505200">
                  <a:extLst>
                    <a:ext uri="{9D8B030D-6E8A-4147-A177-3AD203B41FA5}">
                      <a16:colId xmlns:a16="http://schemas.microsoft.com/office/drawing/2014/main" val="1358561266"/>
                    </a:ext>
                  </a:extLst>
                </a:gridCol>
                <a:gridCol w="3505200">
                  <a:extLst>
                    <a:ext uri="{9D8B030D-6E8A-4147-A177-3AD203B41FA5}">
                      <a16:colId xmlns:a16="http://schemas.microsoft.com/office/drawing/2014/main" val="1799918897"/>
                    </a:ext>
                  </a:extLst>
                </a:gridCol>
              </a:tblGrid>
              <a:tr h="0">
                <a:tc>
                  <a:txBody>
                    <a:bodyPr/>
                    <a:lstStyle/>
                    <a:p>
                      <a:pPr>
                        <a:buNone/>
                      </a:pPr>
                      <a:r>
                        <a:rPr lang="en-IN" dirty="0"/>
                        <a:t>Test Type</a:t>
                      </a:r>
                      <a:endParaRPr lang="en-IN" dirty="0">
                        <a:latin typeface="Bell MT" panose="02020503060305020303" pitchFamily="18" charset="0"/>
                      </a:endParaRPr>
                    </a:p>
                  </a:txBody>
                  <a:tcPr anchor="ctr"/>
                </a:tc>
                <a:tc>
                  <a:txBody>
                    <a:bodyPr/>
                    <a:lstStyle/>
                    <a:p>
                      <a:pPr>
                        <a:buNone/>
                      </a:pPr>
                      <a:r>
                        <a:rPr lang="en-IN"/>
                        <a:t>Description</a:t>
                      </a:r>
                      <a:endParaRPr lang="en-IN">
                        <a:latin typeface="Bell MT" panose="02020503060305020303" pitchFamily="18" charset="0"/>
                      </a:endParaRPr>
                    </a:p>
                  </a:txBody>
                  <a:tcPr anchor="ctr"/>
                </a:tc>
                <a:tc>
                  <a:txBody>
                    <a:bodyPr/>
                    <a:lstStyle/>
                    <a:p>
                      <a:pPr>
                        <a:buNone/>
                      </a:pPr>
                      <a:r>
                        <a:rPr lang="en-IN" dirty="0"/>
                        <a:t>Example</a:t>
                      </a:r>
                      <a:endParaRPr lang="en-IN" dirty="0">
                        <a:latin typeface="Bell MT" panose="02020503060305020303" pitchFamily="18" charset="0"/>
                      </a:endParaRPr>
                    </a:p>
                  </a:txBody>
                  <a:tcPr anchor="ctr"/>
                </a:tc>
                <a:extLst>
                  <a:ext uri="{0D108BD9-81ED-4DB2-BD59-A6C34878D82A}">
                    <a16:rowId xmlns:a16="http://schemas.microsoft.com/office/drawing/2014/main" val="2461791902"/>
                  </a:ext>
                </a:extLst>
              </a:tr>
              <a:tr h="0">
                <a:tc>
                  <a:txBody>
                    <a:bodyPr/>
                    <a:lstStyle/>
                    <a:p>
                      <a:pPr>
                        <a:buNone/>
                      </a:pPr>
                      <a:r>
                        <a:rPr lang="en-IN" b="1" dirty="0"/>
                        <a:t>Task Testing</a:t>
                      </a:r>
                      <a:endParaRPr lang="en-IN" dirty="0">
                        <a:latin typeface="Bell MT" panose="02020503060305020303" pitchFamily="18" charset="0"/>
                      </a:endParaRPr>
                    </a:p>
                  </a:txBody>
                  <a:tcPr anchor="ctr"/>
                </a:tc>
                <a:tc>
                  <a:txBody>
                    <a:bodyPr/>
                    <a:lstStyle/>
                    <a:p>
                      <a:pPr>
                        <a:buNone/>
                      </a:pPr>
                      <a:r>
                        <a:rPr lang="en-IN"/>
                        <a:t>Observe users completing tasks</a:t>
                      </a:r>
                      <a:endParaRPr lang="en-IN">
                        <a:latin typeface="Bell MT" panose="02020503060305020303" pitchFamily="18" charset="0"/>
                      </a:endParaRPr>
                    </a:p>
                  </a:txBody>
                  <a:tcPr anchor="ctr"/>
                </a:tc>
                <a:tc>
                  <a:txBody>
                    <a:bodyPr/>
                    <a:lstStyle/>
                    <a:p>
                      <a:pPr>
                        <a:buNone/>
                      </a:pPr>
                      <a:r>
                        <a:rPr lang="en-US" dirty="0"/>
                        <a:t>“Find and play a song.”</a:t>
                      </a:r>
                      <a:endParaRPr lang="en-US" dirty="0">
                        <a:latin typeface="Bell MT" panose="02020503060305020303" pitchFamily="18" charset="0"/>
                      </a:endParaRPr>
                    </a:p>
                  </a:txBody>
                  <a:tcPr anchor="ctr"/>
                </a:tc>
                <a:extLst>
                  <a:ext uri="{0D108BD9-81ED-4DB2-BD59-A6C34878D82A}">
                    <a16:rowId xmlns:a16="http://schemas.microsoft.com/office/drawing/2014/main" val="4063607482"/>
                  </a:ext>
                </a:extLst>
              </a:tr>
              <a:tr h="0">
                <a:tc>
                  <a:txBody>
                    <a:bodyPr/>
                    <a:lstStyle/>
                    <a:p>
                      <a:pPr>
                        <a:buNone/>
                      </a:pPr>
                      <a:r>
                        <a:rPr lang="en-IN" b="1" dirty="0"/>
                        <a:t>A/B Testing</a:t>
                      </a:r>
                      <a:endParaRPr lang="en-IN" dirty="0">
                        <a:latin typeface="Bell MT" panose="02020503060305020303" pitchFamily="18" charset="0"/>
                      </a:endParaRPr>
                    </a:p>
                  </a:txBody>
                  <a:tcPr anchor="ctr"/>
                </a:tc>
                <a:tc>
                  <a:txBody>
                    <a:bodyPr/>
                    <a:lstStyle/>
                    <a:p>
                      <a:pPr>
                        <a:buNone/>
                      </a:pPr>
                      <a:r>
                        <a:rPr lang="en-IN"/>
                        <a:t>Compare two UI designs</a:t>
                      </a:r>
                      <a:endParaRPr lang="en-IN">
                        <a:latin typeface="Bell MT" panose="02020503060305020303" pitchFamily="18" charset="0"/>
                      </a:endParaRPr>
                    </a:p>
                  </a:txBody>
                  <a:tcPr anchor="ctr"/>
                </a:tc>
                <a:tc>
                  <a:txBody>
                    <a:bodyPr/>
                    <a:lstStyle/>
                    <a:p>
                      <a:pPr>
                        <a:buNone/>
                      </a:pPr>
                      <a:r>
                        <a:rPr lang="en-IN" dirty="0"/>
                        <a:t>Button styles or layout</a:t>
                      </a:r>
                      <a:endParaRPr lang="en-IN" dirty="0">
                        <a:latin typeface="Bell MT" panose="02020503060305020303" pitchFamily="18" charset="0"/>
                      </a:endParaRPr>
                    </a:p>
                  </a:txBody>
                  <a:tcPr anchor="ctr"/>
                </a:tc>
                <a:extLst>
                  <a:ext uri="{0D108BD9-81ED-4DB2-BD59-A6C34878D82A}">
                    <a16:rowId xmlns:a16="http://schemas.microsoft.com/office/drawing/2014/main" val="3936950050"/>
                  </a:ext>
                </a:extLst>
              </a:tr>
              <a:tr h="0">
                <a:tc>
                  <a:txBody>
                    <a:bodyPr/>
                    <a:lstStyle/>
                    <a:p>
                      <a:pPr>
                        <a:buNone/>
                      </a:pPr>
                      <a:r>
                        <a:rPr lang="en-IN" b="1" dirty="0"/>
                        <a:t>Think-Aloud</a:t>
                      </a:r>
                      <a:endParaRPr lang="en-IN" dirty="0">
                        <a:latin typeface="Bell MT" panose="02020503060305020303" pitchFamily="18" charset="0"/>
                      </a:endParaRPr>
                    </a:p>
                  </a:txBody>
                  <a:tcPr anchor="ctr"/>
                </a:tc>
                <a:tc>
                  <a:txBody>
                    <a:bodyPr/>
                    <a:lstStyle/>
                    <a:p>
                      <a:pPr>
                        <a:buNone/>
                      </a:pPr>
                      <a:r>
                        <a:rPr lang="en-US"/>
                        <a:t>Ask users to explain thoughts while using app</a:t>
                      </a:r>
                      <a:endParaRPr lang="en-US">
                        <a:latin typeface="Bell MT" panose="02020503060305020303" pitchFamily="18" charset="0"/>
                      </a:endParaRPr>
                    </a:p>
                  </a:txBody>
                  <a:tcPr anchor="ctr"/>
                </a:tc>
                <a:tc>
                  <a:txBody>
                    <a:bodyPr/>
                    <a:lstStyle/>
                    <a:p>
                      <a:pPr>
                        <a:buNone/>
                      </a:pPr>
                      <a:r>
                        <a:rPr lang="en-IN" dirty="0"/>
                        <a:t>Detect confusion points</a:t>
                      </a:r>
                      <a:endParaRPr lang="en-IN" dirty="0">
                        <a:latin typeface="Bell MT" panose="02020503060305020303" pitchFamily="18" charset="0"/>
                      </a:endParaRPr>
                    </a:p>
                  </a:txBody>
                  <a:tcPr anchor="ctr"/>
                </a:tc>
                <a:extLst>
                  <a:ext uri="{0D108BD9-81ED-4DB2-BD59-A6C34878D82A}">
                    <a16:rowId xmlns:a16="http://schemas.microsoft.com/office/drawing/2014/main" val="1646447200"/>
                  </a:ext>
                </a:extLst>
              </a:tr>
              <a:tr h="0">
                <a:tc>
                  <a:txBody>
                    <a:bodyPr/>
                    <a:lstStyle/>
                    <a:p>
                      <a:pPr>
                        <a:buNone/>
                      </a:pPr>
                      <a:r>
                        <a:rPr lang="en-IN" b="1" dirty="0"/>
                        <a:t>Heuristic Evaluation</a:t>
                      </a:r>
                      <a:endParaRPr lang="en-IN" dirty="0">
                        <a:latin typeface="Bell MT" panose="02020503060305020303" pitchFamily="18" charset="0"/>
                      </a:endParaRPr>
                    </a:p>
                  </a:txBody>
                  <a:tcPr anchor="ctr"/>
                </a:tc>
                <a:tc>
                  <a:txBody>
                    <a:bodyPr/>
                    <a:lstStyle/>
                    <a:p>
                      <a:pPr>
                        <a:buNone/>
                      </a:pPr>
                      <a:r>
                        <a:rPr lang="en-US" dirty="0"/>
                        <a:t>Expert checks based on usability principles</a:t>
                      </a:r>
                      <a:endParaRPr lang="en-US" dirty="0">
                        <a:latin typeface="Bell MT" panose="02020503060305020303" pitchFamily="18" charset="0"/>
                      </a:endParaRPr>
                    </a:p>
                  </a:txBody>
                  <a:tcPr anchor="ctr"/>
                </a:tc>
                <a:tc>
                  <a:txBody>
                    <a:bodyPr/>
                    <a:lstStyle/>
                    <a:p>
                      <a:pPr>
                        <a:buNone/>
                      </a:pPr>
                      <a:r>
                        <a:rPr lang="en-IN" dirty="0"/>
                        <a:t>Consistency, feedback, error prevention</a:t>
                      </a:r>
                      <a:endParaRPr lang="en-IN" dirty="0">
                        <a:latin typeface="Bell MT" panose="02020503060305020303" pitchFamily="18" charset="0"/>
                      </a:endParaRPr>
                    </a:p>
                  </a:txBody>
                  <a:tcPr anchor="ctr"/>
                </a:tc>
                <a:extLst>
                  <a:ext uri="{0D108BD9-81ED-4DB2-BD59-A6C34878D82A}">
                    <a16:rowId xmlns:a16="http://schemas.microsoft.com/office/drawing/2014/main" val="963398081"/>
                  </a:ext>
                </a:extLst>
              </a:tr>
            </a:tbl>
          </a:graphicData>
        </a:graphic>
      </p:graphicFrame>
      <p:sp>
        <p:nvSpPr>
          <p:cNvPr id="6" name="Rectangle 1">
            <a:extLst>
              <a:ext uri="{FF2B5EF4-FFF2-40B4-BE49-F238E27FC236}">
                <a16:creationId xmlns:a16="http://schemas.microsoft.com/office/drawing/2014/main" id="{C8CE08D9-F88F-CA79-387C-94D98231D03C}"/>
              </a:ext>
            </a:extLst>
          </p:cNvPr>
          <p:cNvSpPr>
            <a:spLocks noChangeArrowheads="1"/>
          </p:cNvSpPr>
          <p:nvPr/>
        </p:nvSpPr>
        <p:spPr bwMode="auto">
          <a:xfrm>
            <a:off x="190500" y="136001"/>
            <a:ext cx="7431393"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Bell MT" panose="02020503060305020303" pitchFamily="18" charset="0"/>
              </a:rPr>
              <a:t>🔍 </a:t>
            </a:r>
            <a:r>
              <a:rPr kumimoji="0" lang="en-US" altLang="en-US" sz="2000" b="1" i="0" u="none" strike="noStrike" cap="none" normalizeH="0" baseline="0" dirty="0">
                <a:ln>
                  <a:noFill/>
                </a:ln>
                <a:solidFill>
                  <a:srgbClr val="00B0F0"/>
                </a:solidFill>
                <a:effectLst/>
                <a:latin typeface="Bell MT" panose="02020503060305020303" pitchFamily="18" charset="0"/>
              </a:rPr>
              <a:t>3. Usability Testing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Bell MT" panose="02020503060305020303" pitchFamily="18" charset="0"/>
              </a:rPr>
              <a:t>After designing interactions, test with real users to check ease of use.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Bell MT" panose="02020503060305020303" pitchFamily="18" charset="0"/>
            </a:endParaRPr>
          </a:p>
        </p:txBody>
      </p:sp>
      <p:sp>
        <p:nvSpPr>
          <p:cNvPr id="8" name="Rectangle 3">
            <a:extLst>
              <a:ext uri="{FF2B5EF4-FFF2-40B4-BE49-F238E27FC236}">
                <a16:creationId xmlns:a16="http://schemas.microsoft.com/office/drawing/2014/main" id="{F8159685-619B-C4E3-7D50-FF86D43A3794}"/>
              </a:ext>
            </a:extLst>
          </p:cNvPr>
          <p:cNvSpPr>
            <a:spLocks noChangeArrowheads="1"/>
          </p:cNvSpPr>
          <p:nvPr/>
        </p:nvSpPr>
        <p:spPr bwMode="auto">
          <a:xfrm>
            <a:off x="190500" y="4383496"/>
            <a:ext cx="262604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7030A0"/>
                </a:solidFill>
                <a:effectLst/>
                <a:latin typeface="Bell MT" panose="02020503060305020303" pitchFamily="18" charset="0"/>
              </a:rPr>
              <a:t>Metrics to Measure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Bell MT" panose="02020503060305020303" pitchFamily="18" charset="0"/>
              </a:rPr>
              <a:t>Task completion time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Bell MT" panose="02020503060305020303" pitchFamily="18" charset="0"/>
              </a:rPr>
              <a:t>Clicks/taps per action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Bell MT" panose="02020503060305020303" pitchFamily="18" charset="0"/>
              </a:rPr>
              <a:t>Error rate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Bell MT" panose="02020503060305020303" pitchFamily="18" charset="0"/>
              </a:rPr>
              <a:t>User satisfaction score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Bell MT" panose="02020503060305020303" pitchFamily="18" charset="0"/>
            </a:endParaRPr>
          </a:p>
        </p:txBody>
      </p:sp>
    </p:spTree>
    <p:extLst>
      <p:ext uri="{BB962C8B-B14F-4D97-AF65-F5344CB8AC3E}">
        <p14:creationId xmlns:p14="http://schemas.microsoft.com/office/powerpoint/2010/main" val="11066247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Music symbols Images - Free Download on Freepik">
            <a:extLst>
              <a:ext uri="{FF2B5EF4-FFF2-40B4-BE49-F238E27FC236}">
                <a16:creationId xmlns:a16="http://schemas.microsoft.com/office/drawing/2014/main" id="{4C23C558-1BCD-86B4-99EC-353829EAC2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0"/>
            <a:ext cx="6858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B618B941-C7D4-5438-D7C2-7E1C8766FF8B}"/>
              </a:ext>
            </a:extLst>
          </p:cNvPr>
          <p:cNvSpPr/>
          <p:nvPr/>
        </p:nvSpPr>
        <p:spPr>
          <a:xfrm>
            <a:off x="0" y="0"/>
            <a:ext cx="12192000" cy="6858000"/>
          </a:xfrm>
          <a:prstGeom prst="rect">
            <a:avLst/>
          </a:prstGeom>
          <a:solidFill>
            <a:schemeClr val="bg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691FAF8D-C384-1866-305A-5919FD0CD1B0}"/>
              </a:ext>
            </a:extLst>
          </p:cNvPr>
          <p:cNvSpPr txBox="1"/>
          <p:nvPr/>
        </p:nvSpPr>
        <p:spPr>
          <a:xfrm>
            <a:off x="0" y="145473"/>
            <a:ext cx="12192000" cy="6832640"/>
          </a:xfrm>
          <a:prstGeom prst="rect">
            <a:avLst/>
          </a:prstGeom>
          <a:noFill/>
        </p:spPr>
        <p:txBody>
          <a:bodyPr wrap="square" rtlCol="0">
            <a:spAutoFit/>
          </a:bodyPr>
          <a:lstStyle/>
          <a:p>
            <a:r>
              <a:rPr lang="en-US" sz="2000" b="1" dirty="0">
                <a:solidFill>
                  <a:srgbClr val="00B0F0"/>
                </a:solidFill>
                <a:latin typeface="Bell MT" panose="02020503060305020303" pitchFamily="18" charset="0"/>
              </a:rPr>
              <a:t>🎯 4. Deliverables</a:t>
            </a:r>
          </a:p>
          <a:p>
            <a:endParaRPr lang="en-US" sz="2000" b="1" dirty="0">
              <a:latin typeface="Bell MT" panose="02020503060305020303" pitchFamily="18" charset="0"/>
            </a:endParaRPr>
          </a:p>
          <a:p>
            <a:r>
              <a:rPr lang="en-US" sz="2000" dirty="0">
                <a:latin typeface="Bell MT" panose="02020503060305020303" pitchFamily="18" charset="0"/>
              </a:rPr>
              <a:t>At the end of this stage, you should have:</a:t>
            </a:r>
          </a:p>
          <a:p>
            <a:r>
              <a:rPr lang="en-US" sz="2000" dirty="0">
                <a:latin typeface="Bell MT" panose="02020503060305020303" pitchFamily="18" charset="0"/>
              </a:rPr>
              <a:t>✅ </a:t>
            </a:r>
            <a:r>
              <a:rPr lang="en-US" sz="2000" b="1" dirty="0">
                <a:latin typeface="Bell MT" panose="02020503060305020303" pitchFamily="18" charset="0"/>
              </a:rPr>
              <a:t>Interactive Prototype</a:t>
            </a:r>
            <a:r>
              <a:rPr lang="en-US" sz="2000" dirty="0">
                <a:latin typeface="Bell MT" panose="02020503060305020303" pitchFamily="18" charset="0"/>
              </a:rPr>
              <a:t> (Figma, Adobe XD, or Framer)</a:t>
            </a:r>
          </a:p>
          <a:p>
            <a:r>
              <a:rPr lang="en-US" sz="2000" dirty="0">
                <a:latin typeface="Bell MT" panose="02020503060305020303" pitchFamily="18" charset="0"/>
              </a:rPr>
              <a:t>✅ </a:t>
            </a:r>
            <a:r>
              <a:rPr lang="en-US" sz="2000" b="1" dirty="0">
                <a:latin typeface="Bell MT" panose="02020503060305020303" pitchFamily="18" charset="0"/>
              </a:rPr>
              <a:t>User Flow Diagram</a:t>
            </a:r>
            <a:endParaRPr lang="en-US" sz="2000" dirty="0">
              <a:latin typeface="Bell MT" panose="02020503060305020303" pitchFamily="18" charset="0"/>
            </a:endParaRPr>
          </a:p>
          <a:p>
            <a:r>
              <a:rPr lang="en-US" sz="2000" dirty="0">
                <a:latin typeface="Bell MT" panose="02020503060305020303" pitchFamily="18" charset="0"/>
              </a:rPr>
              <a:t>✅ </a:t>
            </a:r>
            <a:r>
              <a:rPr lang="en-US" sz="2000" b="1" dirty="0">
                <a:latin typeface="Bell MT" panose="02020503060305020303" pitchFamily="18" charset="0"/>
              </a:rPr>
              <a:t>Usability Test Report</a:t>
            </a:r>
            <a:endParaRPr lang="en-US" sz="2000" dirty="0">
              <a:latin typeface="Bell MT" panose="02020503060305020303" pitchFamily="18" charset="0"/>
            </a:endParaRPr>
          </a:p>
          <a:p>
            <a:r>
              <a:rPr lang="en-US" sz="2000" dirty="0">
                <a:latin typeface="Bell MT" panose="02020503060305020303" pitchFamily="18" charset="0"/>
              </a:rPr>
              <a:t>✅ </a:t>
            </a:r>
            <a:r>
              <a:rPr lang="en-US" sz="2000" b="1" dirty="0">
                <a:latin typeface="Bell MT" panose="02020503060305020303" pitchFamily="18" charset="0"/>
              </a:rPr>
              <a:t>Refined Interaction Design</a:t>
            </a:r>
          </a:p>
          <a:p>
            <a:endParaRPr lang="en-US" sz="2000" b="1" dirty="0">
              <a:latin typeface="Bell MT" panose="02020503060305020303" pitchFamily="18" charset="0"/>
            </a:endParaRPr>
          </a:p>
          <a:p>
            <a:r>
              <a:rPr lang="en-US" sz="2000" b="1" dirty="0">
                <a:solidFill>
                  <a:srgbClr val="C00000"/>
                </a:solidFill>
                <a:latin typeface="Bell MT" panose="02020503060305020303" pitchFamily="18" charset="0"/>
              </a:rPr>
              <a:t>🎤 Presentation &amp; Documentation – Music Streaming App</a:t>
            </a:r>
          </a:p>
          <a:p>
            <a:r>
              <a:rPr lang="en-US" sz="2000" dirty="0">
                <a:latin typeface="Bell MT" panose="02020503060305020303" pitchFamily="18" charset="0"/>
              </a:rPr>
              <a:t>This final stage showcases your </a:t>
            </a:r>
            <a:r>
              <a:rPr lang="en-US" sz="2000" b="1" dirty="0">
                <a:latin typeface="Bell MT" panose="02020503060305020303" pitchFamily="18" charset="0"/>
              </a:rPr>
              <a:t>design process, outcomes, and usability insights</a:t>
            </a:r>
            <a:r>
              <a:rPr lang="en-US" sz="2000" dirty="0">
                <a:latin typeface="Bell MT" panose="02020503060305020303" pitchFamily="18" charset="0"/>
              </a:rPr>
              <a:t> clearly and attractively.</a:t>
            </a:r>
            <a:br>
              <a:rPr lang="en-US" sz="2000" dirty="0">
                <a:latin typeface="Bell MT" panose="02020503060305020303" pitchFamily="18" charset="0"/>
              </a:rPr>
            </a:br>
            <a:r>
              <a:rPr lang="en-US" sz="2000" dirty="0">
                <a:latin typeface="Bell MT" panose="02020503060305020303" pitchFamily="18" charset="0"/>
              </a:rPr>
              <a:t>It’s usually the phase where you </a:t>
            </a:r>
            <a:r>
              <a:rPr lang="en-US" sz="2000" b="1" dirty="0">
                <a:latin typeface="Bell MT" panose="02020503060305020303" pitchFamily="18" charset="0"/>
              </a:rPr>
              <a:t>present your project</a:t>
            </a:r>
            <a:r>
              <a:rPr lang="en-US" sz="2000" dirty="0">
                <a:latin typeface="Bell MT" panose="02020503060305020303" pitchFamily="18" charset="0"/>
              </a:rPr>
              <a:t> (e.g., in class or a final report).</a:t>
            </a:r>
          </a:p>
          <a:p>
            <a:br>
              <a:rPr lang="en-US" sz="2000" dirty="0">
                <a:latin typeface="Bell MT" panose="02020503060305020303" pitchFamily="18" charset="0"/>
              </a:rPr>
            </a:br>
            <a:r>
              <a:rPr lang="en-US" sz="2000" b="1" dirty="0">
                <a:solidFill>
                  <a:srgbClr val="00B0F0"/>
                </a:solidFill>
                <a:latin typeface="Bell MT" panose="02020503060305020303" pitchFamily="18" charset="0"/>
              </a:rPr>
              <a:t>🧩 1. Purpose of This Phase</a:t>
            </a:r>
          </a:p>
          <a:p>
            <a:r>
              <a:rPr lang="en-US" sz="2000" dirty="0">
                <a:latin typeface="Bell MT" panose="02020503060305020303" pitchFamily="18" charset="0"/>
              </a:rPr>
              <a:t>To </a:t>
            </a:r>
            <a:r>
              <a:rPr lang="en-US" sz="2000" b="1" dirty="0">
                <a:latin typeface="Bell MT" panose="02020503060305020303" pitchFamily="18" charset="0"/>
              </a:rPr>
              <a:t>present your entire design journey</a:t>
            </a:r>
            <a:r>
              <a:rPr lang="en-US" sz="2000" dirty="0">
                <a:latin typeface="Bell MT" panose="02020503060305020303" pitchFamily="18" charset="0"/>
              </a:rPr>
              <a:t> — from research to prototype.</a:t>
            </a:r>
          </a:p>
          <a:p>
            <a:r>
              <a:rPr lang="en-US" sz="2000" dirty="0">
                <a:latin typeface="Bell MT" panose="02020503060305020303" pitchFamily="18" charset="0"/>
              </a:rPr>
              <a:t>To </a:t>
            </a:r>
            <a:r>
              <a:rPr lang="en-US" sz="2000" b="1" dirty="0">
                <a:latin typeface="Bell MT" panose="02020503060305020303" pitchFamily="18" charset="0"/>
              </a:rPr>
              <a:t>document all findings, designs, and feedback</a:t>
            </a:r>
            <a:r>
              <a:rPr lang="en-US" sz="2000" dirty="0">
                <a:latin typeface="Bell MT" panose="02020503060305020303" pitchFamily="18" charset="0"/>
              </a:rPr>
              <a:t> in a structured, visual, and easy-to-understand way.</a:t>
            </a:r>
          </a:p>
          <a:p>
            <a:r>
              <a:rPr lang="en-US" sz="2000" dirty="0">
                <a:latin typeface="Bell MT" panose="02020503060305020303" pitchFamily="18" charset="0"/>
              </a:rPr>
              <a:t>To </a:t>
            </a:r>
            <a:r>
              <a:rPr lang="en-US" sz="2000" b="1" dirty="0">
                <a:latin typeface="Bell MT" panose="02020503060305020303" pitchFamily="18" charset="0"/>
              </a:rPr>
              <a:t>communicate</a:t>
            </a:r>
            <a:r>
              <a:rPr lang="en-US" sz="2000" dirty="0">
                <a:latin typeface="Bell MT" panose="02020503060305020303" pitchFamily="18" charset="0"/>
              </a:rPr>
              <a:t> your app’s purpose, features, and user experience effectively.</a:t>
            </a:r>
          </a:p>
          <a:p>
            <a:br>
              <a:rPr lang="en-US" sz="2000" dirty="0">
                <a:latin typeface="Bell MT" panose="02020503060305020303" pitchFamily="18" charset="0"/>
              </a:rPr>
            </a:br>
            <a:r>
              <a:rPr lang="en-US" sz="2000" b="1" dirty="0">
                <a:solidFill>
                  <a:srgbClr val="00B0F0"/>
                </a:solidFill>
                <a:latin typeface="Bell MT" panose="02020503060305020303" pitchFamily="18" charset="0"/>
              </a:rPr>
              <a:t>🖥️ 2. Presentation (Slides / Live Demo)</a:t>
            </a:r>
          </a:p>
          <a:p>
            <a:r>
              <a:rPr lang="en-US" sz="2000" dirty="0">
                <a:latin typeface="Bell MT" panose="02020503060305020303" pitchFamily="18" charset="0"/>
              </a:rPr>
              <a:t>Your presentation should tell a </a:t>
            </a:r>
            <a:r>
              <a:rPr lang="en-US" sz="2000" b="1" dirty="0">
                <a:latin typeface="Bell MT" panose="02020503060305020303" pitchFamily="18" charset="0"/>
              </a:rPr>
              <a:t>story</a:t>
            </a:r>
            <a:r>
              <a:rPr lang="en-US" sz="2000" dirty="0">
                <a:latin typeface="Bell MT" panose="02020503060305020303" pitchFamily="18" charset="0"/>
              </a:rPr>
              <a:t> — problem → solution → result.</a:t>
            </a:r>
            <a:br>
              <a:rPr lang="en-US" sz="2000" dirty="0">
                <a:latin typeface="Bell MT" panose="02020503060305020303" pitchFamily="18" charset="0"/>
              </a:rPr>
            </a:br>
            <a:r>
              <a:rPr lang="en-US" sz="2000" dirty="0">
                <a:latin typeface="Bell MT" panose="02020503060305020303" pitchFamily="18" charset="0"/>
              </a:rPr>
              <a:t>Use clear visuals, screenshots, and short bullet points.</a:t>
            </a:r>
          </a:p>
          <a:p>
            <a:endParaRPr lang="en-US" sz="2000" dirty="0">
              <a:latin typeface="Bell MT" panose="02020503060305020303" pitchFamily="18" charset="0"/>
            </a:endParaRPr>
          </a:p>
          <a:p>
            <a:endParaRPr lang="en-IN" dirty="0"/>
          </a:p>
        </p:txBody>
      </p:sp>
    </p:spTree>
    <p:extLst>
      <p:ext uri="{BB962C8B-B14F-4D97-AF65-F5344CB8AC3E}">
        <p14:creationId xmlns:p14="http://schemas.microsoft.com/office/powerpoint/2010/main" val="23991204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Music symbols Images - Free Download on Freepik">
            <a:extLst>
              <a:ext uri="{FF2B5EF4-FFF2-40B4-BE49-F238E27FC236}">
                <a16:creationId xmlns:a16="http://schemas.microsoft.com/office/drawing/2014/main" id="{D290FAF8-5728-A80B-8F28-2548046CCA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0"/>
            <a:ext cx="6858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F0A12AB1-CFC7-588A-B770-CF9CD6A33F08}"/>
              </a:ext>
            </a:extLst>
          </p:cNvPr>
          <p:cNvSpPr/>
          <p:nvPr/>
        </p:nvSpPr>
        <p:spPr>
          <a:xfrm>
            <a:off x="0" y="0"/>
            <a:ext cx="12192000" cy="6858000"/>
          </a:xfrm>
          <a:prstGeom prst="rect">
            <a:avLst/>
          </a:prstGeom>
          <a:solidFill>
            <a:schemeClr val="bg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7C83AAA0-A15A-5902-C94C-3C85C411D7E0}"/>
              </a:ext>
            </a:extLst>
          </p:cNvPr>
          <p:cNvSpPr txBox="1"/>
          <p:nvPr/>
        </p:nvSpPr>
        <p:spPr>
          <a:xfrm>
            <a:off x="181841" y="173958"/>
            <a:ext cx="6099462" cy="1631216"/>
          </a:xfrm>
          <a:prstGeom prst="rect">
            <a:avLst/>
          </a:prstGeom>
          <a:noFill/>
        </p:spPr>
        <p:txBody>
          <a:bodyPr wrap="square">
            <a:spAutoFit/>
          </a:bodyPr>
          <a:lstStyle/>
          <a:p>
            <a:pPr>
              <a:buNone/>
            </a:pPr>
            <a:r>
              <a:rPr lang="en-US" sz="2000" b="1" dirty="0">
                <a:latin typeface="Bell MT" panose="02020503060305020303" pitchFamily="18" charset="0"/>
              </a:rPr>
              <a:t>🖥️ </a:t>
            </a:r>
            <a:r>
              <a:rPr lang="en-US" sz="2000" b="1" dirty="0">
                <a:solidFill>
                  <a:srgbClr val="00B0F0"/>
                </a:solidFill>
                <a:latin typeface="Bell MT" panose="02020503060305020303" pitchFamily="18" charset="0"/>
              </a:rPr>
              <a:t>2. Presentation (Slides / Live Demo)</a:t>
            </a:r>
          </a:p>
          <a:p>
            <a:pPr>
              <a:buNone/>
            </a:pPr>
            <a:r>
              <a:rPr lang="en-US" sz="2000" dirty="0">
                <a:latin typeface="Bell MT" panose="02020503060305020303" pitchFamily="18" charset="0"/>
              </a:rPr>
              <a:t>Your presentation should tell a </a:t>
            </a:r>
            <a:r>
              <a:rPr lang="en-US" sz="2000" b="1" dirty="0">
                <a:latin typeface="Bell MT" panose="02020503060305020303" pitchFamily="18" charset="0"/>
              </a:rPr>
              <a:t>story</a:t>
            </a:r>
            <a:r>
              <a:rPr lang="en-US" sz="2000" dirty="0">
                <a:latin typeface="Bell MT" panose="02020503060305020303" pitchFamily="18" charset="0"/>
              </a:rPr>
              <a:t> — problem → solution → result.</a:t>
            </a:r>
            <a:br>
              <a:rPr lang="en-US" sz="2000" dirty="0">
                <a:latin typeface="Bell MT" panose="02020503060305020303" pitchFamily="18" charset="0"/>
              </a:rPr>
            </a:br>
            <a:r>
              <a:rPr lang="en-US" sz="2000" dirty="0">
                <a:latin typeface="Bell MT" panose="02020503060305020303" pitchFamily="18" charset="0"/>
              </a:rPr>
              <a:t>Use clear visuals, screenshots, and short bullet points.</a:t>
            </a:r>
          </a:p>
          <a:p>
            <a:pPr>
              <a:buNone/>
            </a:pPr>
            <a:endParaRPr lang="en-US" sz="2000" dirty="0">
              <a:latin typeface="Bell MT" panose="02020503060305020303" pitchFamily="18" charset="0"/>
            </a:endParaRPr>
          </a:p>
        </p:txBody>
      </p:sp>
      <p:graphicFrame>
        <p:nvGraphicFramePr>
          <p:cNvPr id="6" name="Table 5">
            <a:extLst>
              <a:ext uri="{FF2B5EF4-FFF2-40B4-BE49-F238E27FC236}">
                <a16:creationId xmlns:a16="http://schemas.microsoft.com/office/drawing/2014/main" id="{E8B886D5-AD59-731C-1C91-1782090757B8}"/>
              </a:ext>
            </a:extLst>
          </p:cNvPr>
          <p:cNvGraphicFramePr>
            <a:graphicFrameLocks noGrp="1"/>
          </p:cNvGraphicFramePr>
          <p:nvPr>
            <p:extLst>
              <p:ext uri="{D42A27DB-BD31-4B8C-83A1-F6EECF244321}">
                <p14:modId xmlns:p14="http://schemas.microsoft.com/office/powerpoint/2010/main" val="3223893278"/>
              </p:ext>
            </p:extLst>
          </p:nvPr>
        </p:nvGraphicFramePr>
        <p:xfrm>
          <a:off x="264968" y="2173002"/>
          <a:ext cx="10515600" cy="4511040"/>
        </p:xfrm>
        <a:graphic>
          <a:graphicData uri="http://schemas.openxmlformats.org/drawingml/2006/table">
            <a:tbl>
              <a:tblPr>
                <a:tableStyleId>{775DCB02-9BB8-47FD-8907-85C794F793BA}</a:tableStyleId>
              </a:tblPr>
              <a:tblGrid>
                <a:gridCol w="3505200">
                  <a:extLst>
                    <a:ext uri="{9D8B030D-6E8A-4147-A177-3AD203B41FA5}">
                      <a16:colId xmlns:a16="http://schemas.microsoft.com/office/drawing/2014/main" val="2385683532"/>
                    </a:ext>
                  </a:extLst>
                </a:gridCol>
                <a:gridCol w="3505200">
                  <a:extLst>
                    <a:ext uri="{9D8B030D-6E8A-4147-A177-3AD203B41FA5}">
                      <a16:colId xmlns:a16="http://schemas.microsoft.com/office/drawing/2014/main" val="4134156730"/>
                    </a:ext>
                  </a:extLst>
                </a:gridCol>
                <a:gridCol w="3505200">
                  <a:extLst>
                    <a:ext uri="{9D8B030D-6E8A-4147-A177-3AD203B41FA5}">
                      <a16:colId xmlns:a16="http://schemas.microsoft.com/office/drawing/2014/main" val="1789714551"/>
                    </a:ext>
                  </a:extLst>
                </a:gridCol>
              </a:tblGrid>
              <a:tr h="0">
                <a:tc>
                  <a:txBody>
                    <a:bodyPr/>
                    <a:lstStyle/>
                    <a:p>
                      <a:pPr>
                        <a:buNone/>
                      </a:pPr>
                      <a:r>
                        <a:rPr lang="en-IN" sz="2000" b="1" dirty="0"/>
                        <a:t>Slide No.</a:t>
                      </a:r>
                      <a:endParaRPr lang="en-IN" sz="2000" dirty="0">
                        <a:latin typeface="Bell MT" panose="02020503060305020303" pitchFamily="18" charset="0"/>
                      </a:endParaRPr>
                    </a:p>
                  </a:txBody>
                  <a:tcPr anchor="ctr"/>
                </a:tc>
                <a:tc>
                  <a:txBody>
                    <a:bodyPr/>
                    <a:lstStyle/>
                    <a:p>
                      <a:pPr>
                        <a:buNone/>
                      </a:pPr>
                      <a:r>
                        <a:rPr lang="en-IN" sz="2000" b="1"/>
                        <a:t>Title</a:t>
                      </a:r>
                      <a:endParaRPr lang="en-IN" sz="2000">
                        <a:latin typeface="Bell MT" panose="02020503060305020303" pitchFamily="18" charset="0"/>
                      </a:endParaRPr>
                    </a:p>
                  </a:txBody>
                  <a:tcPr anchor="ctr"/>
                </a:tc>
                <a:tc>
                  <a:txBody>
                    <a:bodyPr/>
                    <a:lstStyle/>
                    <a:p>
                      <a:pPr>
                        <a:buNone/>
                      </a:pPr>
                      <a:r>
                        <a:rPr lang="en-IN" sz="2000" b="1"/>
                        <a:t>Content Overview</a:t>
                      </a:r>
                      <a:endParaRPr lang="en-IN" sz="2000">
                        <a:latin typeface="Bell MT" panose="02020503060305020303" pitchFamily="18" charset="0"/>
                      </a:endParaRPr>
                    </a:p>
                  </a:txBody>
                  <a:tcPr anchor="ctr"/>
                </a:tc>
                <a:extLst>
                  <a:ext uri="{0D108BD9-81ED-4DB2-BD59-A6C34878D82A}">
                    <a16:rowId xmlns:a16="http://schemas.microsoft.com/office/drawing/2014/main" val="3294191436"/>
                  </a:ext>
                </a:extLst>
              </a:tr>
              <a:tr h="0">
                <a:tc>
                  <a:txBody>
                    <a:bodyPr/>
                    <a:lstStyle/>
                    <a:p>
                      <a:pPr>
                        <a:buNone/>
                      </a:pPr>
                      <a:r>
                        <a:rPr lang="en-IN" sz="2000"/>
                        <a:t>1</a:t>
                      </a:r>
                      <a:endParaRPr lang="en-IN" sz="2000">
                        <a:latin typeface="Bell MT" panose="02020503060305020303" pitchFamily="18" charset="0"/>
                      </a:endParaRPr>
                    </a:p>
                  </a:txBody>
                  <a:tcPr anchor="ctr"/>
                </a:tc>
                <a:tc>
                  <a:txBody>
                    <a:bodyPr/>
                    <a:lstStyle/>
                    <a:p>
                      <a:pPr>
                        <a:buNone/>
                      </a:pPr>
                      <a:r>
                        <a:rPr lang="en-IN" sz="2000" b="1"/>
                        <a:t>Title Slide</a:t>
                      </a:r>
                      <a:endParaRPr lang="en-IN" sz="2000">
                        <a:latin typeface="Bell MT" panose="02020503060305020303" pitchFamily="18" charset="0"/>
                      </a:endParaRPr>
                    </a:p>
                  </a:txBody>
                  <a:tcPr anchor="ctr"/>
                </a:tc>
                <a:tc>
                  <a:txBody>
                    <a:bodyPr/>
                    <a:lstStyle/>
                    <a:p>
                      <a:pPr>
                        <a:buNone/>
                      </a:pPr>
                      <a:r>
                        <a:rPr lang="en-US" sz="2000" dirty="0"/>
                        <a:t>Project Name, Team Members, Logo</a:t>
                      </a:r>
                      <a:endParaRPr lang="en-US" sz="2000" dirty="0">
                        <a:latin typeface="Bell MT" panose="02020503060305020303" pitchFamily="18" charset="0"/>
                      </a:endParaRPr>
                    </a:p>
                  </a:txBody>
                  <a:tcPr anchor="ctr"/>
                </a:tc>
                <a:extLst>
                  <a:ext uri="{0D108BD9-81ED-4DB2-BD59-A6C34878D82A}">
                    <a16:rowId xmlns:a16="http://schemas.microsoft.com/office/drawing/2014/main" val="3897221655"/>
                  </a:ext>
                </a:extLst>
              </a:tr>
              <a:tr h="0">
                <a:tc>
                  <a:txBody>
                    <a:bodyPr/>
                    <a:lstStyle/>
                    <a:p>
                      <a:pPr>
                        <a:buNone/>
                      </a:pPr>
                      <a:r>
                        <a:rPr lang="en-IN" sz="2000"/>
                        <a:t>2</a:t>
                      </a:r>
                      <a:endParaRPr lang="en-IN" sz="2000">
                        <a:latin typeface="Bell MT" panose="02020503060305020303" pitchFamily="18" charset="0"/>
                      </a:endParaRPr>
                    </a:p>
                  </a:txBody>
                  <a:tcPr anchor="ctr"/>
                </a:tc>
                <a:tc>
                  <a:txBody>
                    <a:bodyPr/>
                    <a:lstStyle/>
                    <a:p>
                      <a:pPr>
                        <a:buNone/>
                      </a:pPr>
                      <a:r>
                        <a:rPr lang="en-IN" sz="2000" b="1"/>
                        <a:t>Introduction</a:t>
                      </a:r>
                      <a:endParaRPr lang="en-IN" sz="2000">
                        <a:latin typeface="Bell MT" panose="02020503060305020303" pitchFamily="18" charset="0"/>
                      </a:endParaRPr>
                    </a:p>
                  </a:txBody>
                  <a:tcPr anchor="ctr"/>
                </a:tc>
                <a:tc>
                  <a:txBody>
                    <a:bodyPr/>
                    <a:lstStyle/>
                    <a:p>
                      <a:pPr>
                        <a:buNone/>
                      </a:pPr>
                      <a:r>
                        <a:rPr lang="en-US" sz="2000"/>
                        <a:t>What is the Music Streaming App? Purpose and goals</a:t>
                      </a:r>
                      <a:endParaRPr lang="en-US" sz="2000">
                        <a:latin typeface="Bell MT" panose="02020503060305020303" pitchFamily="18" charset="0"/>
                      </a:endParaRPr>
                    </a:p>
                  </a:txBody>
                  <a:tcPr anchor="ctr"/>
                </a:tc>
                <a:extLst>
                  <a:ext uri="{0D108BD9-81ED-4DB2-BD59-A6C34878D82A}">
                    <a16:rowId xmlns:a16="http://schemas.microsoft.com/office/drawing/2014/main" val="2155081089"/>
                  </a:ext>
                </a:extLst>
              </a:tr>
              <a:tr h="0">
                <a:tc>
                  <a:txBody>
                    <a:bodyPr/>
                    <a:lstStyle/>
                    <a:p>
                      <a:pPr>
                        <a:buNone/>
                      </a:pPr>
                      <a:r>
                        <a:rPr lang="en-IN" sz="2000" dirty="0"/>
                        <a:t>3</a:t>
                      </a:r>
                      <a:endParaRPr lang="en-IN" sz="2000" dirty="0">
                        <a:latin typeface="Bell MT" panose="02020503060305020303" pitchFamily="18" charset="0"/>
                      </a:endParaRPr>
                    </a:p>
                  </a:txBody>
                  <a:tcPr anchor="ctr"/>
                </a:tc>
                <a:tc>
                  <a:txBody>
                    <a:bodyPr/>
                    <a:lstStyle/>
                    <a:p>
                      <a:pPr>
                        <a:buNone/>
                      </a:pPr>
                      <a:r>
                        <a:rPr lang="en-IN" sz="2000" b="1"/>
                        <a:t>Problem Statement</a:t>
                      </a:r>
                      <a:endParaRPr lang="en-IN" sz="2000">
                        <a:latin typeface="Bell MT" panose="02020503060305020303" pitchFamily="18" charset="0"/>
                      </a:endParaRPr>
                    </a:p>
                  </a:txBody>
                  <a:tcPr anchor="ctr"/>
                </a:tc>
                <a:tc>
                  <a:txBody>
                    <a:bodyPr/>
                    <a:lstStyle/>
                    <a:p>
                      <a:pPr>
                        <a:buNone/>
                      </a:pPr>
                      <a:r>
                        <a:rPr lang="en-US" sz="2000"/>
                        <a:t>What user problem are you solving (e.g., personalized music experience, simple UI)</a:t>
                      </a:r>
                      <a:endParaRPr lang="en-US" sz="2000">
                        <a:latin typeface="Bell MT" panose="02020503060305020303" pitchFamily="18" charset="0"/>
                      </a:endParaRPr>
                    </a:p>
                  </a:txBody>
                  <a:tcPr anchor="ctr"/>
                </a:tc>
                <a:extLst>
                  <a:ext uri="{0D108BD9-81ED-4DB2-BD59-A6C34878D82A}">
                    <a16:rowId xmlns:a16="http://schemas.microsoft.com/office/drawing/2014/main" val="2425806923"/>
                  </a:ext>
                </a:extLst>
              </a:tr>
              <a:tr h="0">
                <a:tc>
                  <a:txBody>
                    <a:bodyPr/>
                    <a:lstStyle/>
                    <a:p>
                      <a:pPr>
                        <a:buNone/>
                      </a:pPr>
                      <a:r>
                        <a:rPr lang="en-IN" sz="2000"/>
                        <a:t>4</a:t>
                      </a:r>
                      <a:endParaRPr lang="en-IN" sz="2000">
                        <a:latin typeface="Bell MT" panose="02020503060305020303" pitchFamily="18" charset="0"/>
                      </a:endParaRPr>
                    </a:p>
                  </a:txBody>
                  <a:tcPr anchor="ctr"/>
                </a:tc>
                <a:tc>
                  <a:txBody>
                    <a:bodyPr/>
                    <a:lstStyle/>
                    <a:p>
                      <a:pPr>
                        <a:buNone/>
                      </a:pPr>
                      <a:r>
                        <a:rPr lang="en-IN" sz="2000" b="1"/>
                        <a:t>Research &amp; Insights</a:t>
                      </a:r>
                      <a:endParaRPr lang="en-IN" sz="2000">
                        <a:latin typeface="Bell MT" panose="02020503060305020303" pitchFamily="18" charset="0"/>
                      </a:endParaRPr>
                    </a:p>
                  </a:txBody>
                  <a:tcPr anchor="ctr"/>
                </a:tc>
                <a:tc>
                  <a:txBody>
                    <a:bodyPr/>
                    <a:lstStyle/>
                    <a:p>
                      <a:pPr>
                        <a:buNone/>
                      </a:pPr>
                      <a:r>
                        <a:rPr lang="en-US" sz="2000"/>
                        <a:t>User needs, pain points, competitor analysis (Spotify, Apple Music, etc.)</a:t>
                      </a:r>
                      <a:endParaRPr lang="en-US" sz="2000">
                        <a:latin typeface="Bell MT" panose="02020503060305020303" pitchFamily="18" charset="0"/>
                      </a:endParaRPr>
                    </a:p>
                  </a:txBody>
                  <a:tcPr anchor="ctr"/>
                </a:tc>
                <a:extLst>
                  <a:ext uri="{0D108BD9-81ED-4DB2-BD59-A6C34878D82A}">
                    <a16:rowId xmlns:a16="http://schemas.microsoft.com/office/drawing/2014/main" val="2922934497"/>
                  </a:ext>
                </a:extLst>
              </a:tr>
              <a:tr h="0">
                <a:tc>
                  <a:txBody>
                    <a:bodyPr/>
                    <a:lstStyle/>
                    <a:p>
                      <a:pPr>
                        <a:buNone/>
                      </a:pPr>
                      <a:r>
                        <a:rPr lang="en-IN" sz="2000"/>
                        <a:t>5</a:t>
                      </a:r>
                      <a:endParaRPr lang="en-IN" sz="2000">
                        <a:latin typeface="Bell MT" panose="02020503060305020303" pitchFamily="18" charset="0"/>
                      </a:endParaRPr>
                    </a:p>
                  </a:txBody>
                  <a:tcPr anchor="ctr"/>
                </a:tc>
                <a:tc>
                  <a:txBody>
                    <a:bodyPr/>
                    <a:lstStyle/>
                    <a:p>
                      <a:pPr>
                        <a:buNone/>
                      </a:pPr>
                      <a:r>
                        <a:rPr lang="en-IN" sz="2000" b="1"/>
                        <a:t>Information Architecture</a:t>
                      </a:r>
                      <a:endParaRPr lang="en-IN" sz="2000">
                        <a:latin typeface="Bell MT" panose="02020503060305020303" pitchFamily="18" charset="0"/>
                      </a:endParaRPr>
                    </a:p>
                  </a:txBody>
                  <a:tcPr anchor="ctr"/>
                </a:tc>
                <a:tc>
                  <a:txBody>
                    <a:bodyPr/>
                    <a:lstStyle/>
                    <a:p>
                      <a:pPr>
                        <a:buNone/>
                      </a:pPr>
                      <a:r>
                        <a:rPr lang="en-US" sz="2000" dirty="0"/>
                        <a:t>Structure of app (Home, Search, Library, Now Playing, Profile)</a:t>
                      </a:r>
                      <a:endParaRPr lang="en-US" sz="2000" dirty="0">
                        <a:latin typeface="Bell MT" panose="02020503060305020303" pitchFamily="18" charset="0"/>
                      </a:endParaRPr>
                    </a:p>
                  </a:txBody>
                  <a:tcPr anchor="ctr"/>
                </a:tc>
                <a:extLst>
                  <a:ext uri="{0D108BD9-81ED-4DB2-BD59-A6C34878D82A}">
                    <a16:rowId xmlns:a16="http://schemas.microsoft.com/office/drawing/2014/main" val="3686386955"/>
                  </a:ext>
                </a:extLst>
              </a:tr>
            </a:tbl>
          </a:graphicData>
        </a:graphic>
      </p:graphicFrame>
      <p:sp>
        <p:nvSpPr>
          <p:cNvPr id="7" name="Rectangle 1">
            <a:extLst>
              <a:ext uri="{FF2B5EF4-FFF2-40B4-BE49-F238E27FC236}">
                <a16:creationId xmlns:a16="http://schemas.microsoft.com/office/drawing/2014/main" id="{D8C60FA4-979B-4A3B-70ED-2AABCD8A2FB3}"/>
              </a:ext>
            </a:extLst>
          </p:cNvPr>
          <p:cNvSpPr>
            <a:spLocks noChangeArrowheads="1"/>
          </p:cNvSpPr>
          <p:nvPr/>
        </p:nvSpPr>
        <p:spPr bwMode="auto">
          <a:xfrm>
            <a:off x="-86591" y="1695220"/>
            <a:ext cx="3515258"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Bell MT" panose="02020503060305020303" pitchFamily="18" charset="0"/>
              </a:rPr>
              <a:t>🪄 Suggested Slide Structure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057363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Music symbols Images - Free Download on Freepik">
            <a:extLst>
              <a:ext uri="{FF2B5EF4-FFF2-40B4-BE49-F238E27FC236}">
                <a16:creationId xmlns:a16="http://schemas.microsoft.com/office/drawing/2014/main" id="{D86F760E-787F-82E4-668F-CFEFD3A727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0"/>
            <a:ext cx="6858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B9B93B47-61EB-D330-3DBE-9FD3B9D2B971}"/>
              </a:ext>
            </a:extLst>
          </p:cNvPr>
          <p:cNvSpPr/>
          <p:nvPr/>
        </p:nvSpPr>
        <p:spPr>
          <a:xfrm>
            <a:off x="0" y="0"/>
            <a:ext cx="12192000" cy="6858000"/>
          </a:xfrm>
          <a:prstGeom prst="rect">
            <a:avLst/>
          </a:prstGeom>
          <a:solidFill>
            <a:schemeClr val="bg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IN"/>
          </a:p>
        </p:txBody>
      </p:sp>
      <p:graphicFrame>
        <p:nvGraphicFramePr>
          <p:cNvPr id="6" name="Table 5">
            <a:extLst>
              <a:ext uri="{FF2B5EF4-FFF2-40B4-BE49-F238E27FC236}">
                <a16:creationId xmlns:a16="http://schemas.microsoft.com/office/drawing/2014/main" id="{F07D30EF-CE76-27B0-602B-F06260F48836}"/>
              </a:ext>
            </a:extLst>
          </p:cNvPr>
          <p:cNvGraphicFramePr>
            <a:graphicFrameLocks noGrp="1"/>
          </p:cNvGraphicFramePr>
          <p:nvPr>
            <p:extLst>
              <p:ext uri="{D42A27DB-BD31-4B8C-83A1-F6EECF244321}">
                <p14:modId xmlns:p14="http://schemas.microsoft.com/office/powerpoint/2010/main" val="4287474576"/>
              </p:ext>
            </p:extLst>
          </p:nvPr>
        </p:nvGraphicFramePr>
        <p:xfrm>
          <a:off x="264969" y="421220"/>
          <a:ext cx="10515600" cy="640080"/>
        </p:xfrm>
        <a:graphic>
          <a:graphicData uri="http://schemas.openxmlformats.org/drawingml/2006/table">
            <a:tbl>
              <a:tblPr>
                <a:tableStyleId>{775DCB02-9BB8-47FD-8907-85C794F793BA}</a:tableStyleId>
              </a:tblPr>
              <a:tblGrid>
                <a:gridCol w="3505200">
                  <a:extLst>
                    <a:ext uri="{9D8B030D-6E8A-4147-A177-3AD203B41FA5}">
                      <a16:colId xmlns:a16="http://schemas.microsoft.com/office/drawing/2014/main" val="3235144049"/>
                    </a:ext>
                  </a:extLst>
                </a:gridCol>
                <a:gridCol w="3505200">
                  <a:extLst>
                    <a:ext uri="{9D8B030D-6E8A-4147-A177-3AD203B41FA5}">
                      <a16:colId xmlns:a16="http://schemas.microsoft.com/office/drawing/2014/main" val="3552014706"/>
                    </a:ext>
                  </a:extLst>
                </a:gridCol>
                <a:gridCol w="3505200">
                  <a:extLst>
                    <a:ext uri="{9D8B030D-6E8A-4147-A177-3AD203B41FA5}">
                      <a16:colId xmlns:a16="http://schemas.microsoft.com/office/drawing/2014/main" val="3649829599"/>
                    </a:ext>
                  </a:extLst>
                </a:gridCol>
              </a:tblGrid>
              <a:tr h="0">
                <a:tc>
                  <a:txBody>
                    <a:bodyPr/>
                    <a:lstStyle/>
                    <a:p>
                      <a:pPr algn="just">
                        <a:buNone/>
                      </a:pPr>
                      <a:r>
                        <a:rPr lang="en-IN" dirty="0"/>
                        <a:t>6</a:t>
                      </a:r>
                    </a:p>
                  </a:txBody>
                  <a:tcPr anchor="ctr"/>
                </a:tc>
                <a:tc>
                  <a:txBody>
                    <a:bodyPr/>
                    <a:lstStyle/>
                    <a:p>
                      <a:pPr algn="just">
                        <a:buNone/>
                      </a:pPr>
                      <a:r>
                        <a:rPr lang="en-IN" b="1" dirty="0"/>
                        <a:t>Wireframes</a:t>
                      </a:r>
                      <a:endParaRPr lang="en-IN" dirty="0"/>
                    </a:p>
                  </a:txBody>
                  <a:tcPr anchor="ctr"/>
                </a:tc>
                <a:tc>
                  <a:txBody>
                    <a:bodyPr/>
                    <a:lstStyle/>
                    <a:p>
                      <a:pPr algn="just">
                        <a:buNone/>
                      </a:pPr>
                      <a:r>
                        <a:rPr lang="en-US" dirty="0"/>
                        <a:t>Low-fidelity sketches or layout structure</a:t>
                      </a:r>
                    </a:p>
                  </a:txBody>
                  <a:tcPr anchor="ctr"/>
                </a:tc>
                <a:extLst>
                  <a:ext uri="{0D108BD9-81ED-4DB2-BD59-A6C34878D82A}">
                    <a16:rowId xmlns:a16="http://schemas.microsoft.com/office/drawing/2014/main" val="447611260"/>
                  </a:ext>
                </a:extLst>
              </a:tr>
            </a:tbl>
          </a:graphicData>
        </a:graphic>
      </p:graphicFrame>
      <p:graphicFrame>
        <p:nvGraphicFramePr>
          <p:cNvPr id="7" name="Table 6">
            <a:extLst>
              <a:ext uri="{FF2B5EF4-FFF2-40B4-BE49-F238E27FC236}">
                <a16:creationId xmlns:a16="http://schemas.microsoft.com/office/drawing/2014/main" id="{AE832E97-E178-49DA-5EDE-A6137FEB08BC}"/>
              </a:ext>
            </a:extLst>
          </p:cNvPr>
          <p:cNvGraphicFramePr>
            <a:graphicFrameLocks noGrp="1"/>
          </p:cNvGraphicFramePr>
          <p:nvPr>
            <p:extLst>
              <p:ext uri="{D42A27DB-BD31-4B8C-83A1-F6EECF244321}">
                <p14:modId xmlns:p14="http://schemas.microsoft.com/office/powerpoint/2010/main" val="764815863"/>
              </p:ext>
            </p:extLst>
          </p:nvPr>
        </p:nvGraphicFramePr>
        <p:xfrm>
          <a:off x="264969" y="1040353"/>
          <a:ext cx="10515600" cy="640080"/>
        </p:xfrm>
        <a:graphic>
          <a:graphicData uri="http://schemas.openxmlformats.org/drawingml/2006/table">
            <a:tbl>
              <a:tblPr>
                <a:tableStyleId>{775DCB02-9BB8-47FD-8907-85C794F793BA}</a:tableStyleId>
              </a:tblPr>
              <a:tblGrid>
                <a:gridCol w="3505200">
                  <a:extLst>
                    <a:ext uri="{9D8B030D-6E8A-4147-A177-3AD203B41FA5}">
                      <a16:colId xmlns:a16="http://schemas.microsoft.com/office/drawing/2014/main" val="1892599175"/>
                    </a:ext>
                  </a:extLst>
                </a:gridCol>
                <a:gridCol w="3505200">
                  <a:extLst>
                    <a:ext uri="{9D8B030D-6E8A-4147-A177-3AD203B41FA5}">
                      <a16:colId xmlns:a16="http://schemas.microsoft.com/office/drawing/2014/main" val="3159757271"/>
                    </a:ext>
                  </a:extLst>
                </a:gridCol>
                <a:gridCol w="3505200">
                  <a:extLst>
                    <a:ext uri="{9D8B030D-6E8A-4147-A177-3AD203B41FA5}">
                      <a16:colId xmlns:a16="http://schemas.microsoft.com/office/drawing/2014/main" val="3782704517"/>
                    </a:ext>
                  </a:extLst>
                </a:gridCol>
              </a:tblGrid>
              <a:tr h="0">
                <a:tc>
                  <a:txBody>
                    <a:bodyPr/>
                    <a:lstStyle/>
                    <a:p>
                      <a:pPr>
                        <a:buNone/>
                      </a:pPr>
                      <a:r>
                        <a:rPr lang="en-IN" dirty="0"/>
                        <a:t>7</a:t>
                      </a:r>
                    </a:p>
                  </a:txBody>
                  <a:tcPr anchor="ctr"/>
                </a:tc>
                <a:tc>
                  <a:txBody>
                    <a:bodyPr/>
                    <a:lstStyle/>
                    <a:p>
                      <a:pPr>
                        <a:buNone/>
                      </a:pPr>
                      <a:r>
                        <a:rPr lang="en-IN" b="1" dirty="0"/>
                        <a:t>Visual Design</a:t>
                      </a:r>
                      <a:endParaRPr lang="en-IN" dirty="0"/>
                    </a:p>
                  </a:txBody>
                  <a:tcPr anchor="ctr"/>
                </a:tc>
                <a:tc>
                  <a:txBody>
                    <a:bodyPr/>
                    <a:lstStyle/>
                    <a:p>
                      <a:pPr>
                        <a:buNone/>
                      </a:pPr>
                      <a:r>
                        <a:rPr lang="en-US" dirty="0"/>
                        <a:t>Color palette, typography, icons, and high-fidelity mockups</a:t>
                      </a:r>
                    </a:p>
                  </a:txBody>
                  <a:tcPr anchor="ctr"/>
                </a:tc>
                <a:extLst>
                  <a:ext uri="{0D108BD9-81ED-4DB2-BD59-A6C34878D82A}">
                    <a16:rowId xmlns:a16="http://schemas.microsoft.com/office/drawing/2014/main" val="2087102588"/>
                  </a:ext>
                </a:extLst>
              </a:tr>
            </a:tbl>
          </a:graphicData>
        </a:graphic>
      </p:graphicFrame>
      <p:graphicFrame>
        <p:nvGraphicFramePr>
          <p:cNvPr id="8" name="Table 7">
            <a:extLst>
              <a:ext uri="{FF2B5EF4-FFF2-40B4-BE49-F238E27FC236}">
                <a16:creationId xmlns:a16="http://schemas.microsoft.com/office/drawing/2014/main" id="{46CE47CD-DF7C-68BE-ACEF-27A5800488C4}"/>
              </a:ext>
            </a:extLst>
          </p:cNvPr>
          <p:cNvGraphicFramePr>
            <a:graphicFrameLocks noGrp="1"/>
          </p:cNvGraphicFramePr>
          <p:nvPr>
            <p:extLst>
              <p:ext uri="{D42A27DB-BD31-4B8C-83A1-F6EECF244321}">
                <p14:modId xmlns:p14="http://schemas.microsoft.com/office/powerpoint/2010/main" val="1269107579"/>
              </p:ext>
            </p:extLst>
          </p:nvPr>
        </p:nvGraphicFramePr>
        <p:xfrm>
          <a:off x="264969" y="2344629"/>
          <a:ext cx="10515600" cy="914400"/>
        </p:xfrm>
        <a:graphic>
          <a:graphicData uri="http://schemas.openxmlformats.org/drawingml/2006/table">
            <a:tbl>
              <a:tblPr>
                <a:tableStyleId>{775DCB02-9BB8-47FD-8907-85C794F793BA}</a:tableStyleId>
              </a:tblPr>
              <a:tblGrid>
                <a:gridCol w="3505200">
                  <a:extLst>
                    <a:ext uri="{9D8B030D-6E8A-4147-A177-3AD203B41FA5}">
                      <a16:colId xmlns:a16="http://schemas.microsoft.com/office/drawing/2014/main" val="3396044279"/>
                    </a:ext>
                  </a:extLst>
                </a:gridCol>
                <a:gridCol w="3505200">
                  <a:extLst>
                    <a:ext uri="{9D8B030D-6E8A-4147-A177-3AD203B41FA5}">
                      <a16:colId xmlns:a16="http://schemas.microsoft.com/office/drawing/2014/main" val="3883791907"/>
                    </a:ext>
                  </a:extLst>
                </a:gridCol>
                <a:gridCol w="3505200">
                  <a:extLst>
                    <a:ext uri="{9D8B030D-6E8A-4147-A177-3AD203B41FA5}">
                      <a16:colId xmlns:a16="http://schemas.microsoft.com/office/drawing/2014/main" val="3532382800"/>
                    </a:ext>
                  </a:extLst>
                </a:gridCol>
              </a:tblGrid>
              <a:tr h="0">
                <a:tc>
                  <a:txBody>
                    <a:bodyPr/>
                    <a:lstStyle/>
                    <a:p>
                      <a:pPr>
                        <a:buNone/>
                      </a:pPr>
                      <a:r>
                        <a:rPr lang="en-IN" dirty="0"/>
                        <a:t>8</a:t>
                      </a:r>
                    </a:p>
                  </a:txBody>
                  <a:tcPr anchor="ctr"/>
                </a:tc>
                <a:tc>
                  <a:txBody>
                    <a:bodyPr/>
                    <a:lstStyle/>
                    <a:p>
                      <a:pPr>
                        <a:buNone/>
                      </a:pPr>
                      <a:r>
                        <a:rPr lang="en-IN" b="1" dirty="0"/>
                        <a:t>Usability &amp; Interaction Design</a:t>
                      </a:r>
                      <a:endParaRPr lang="en-IN" dirty="0"/>
                    </a:p>
                  </a:txBody>
                  <a:tcPr anchor="ctr"/>
                </a:tc>
                <a:tc>
                  <a:txBody>
                    <a:bodyPr/>
                    <a:lstStyle/>
                    <a:p>
                      <a:pPr>
                        <a:buNone/>
                      </a:pPr>
                      <a:r>
                        <a:rPr lang="en-US" dirty="0"/>
                        <a:t>Gestures, feedback, </a:t>
                      </a:r>
                      <a:r>
                        <a:rPr lang="en-US" dirty="0" err="1"/>
                        <a:t>microinteractions</a:t>
                      </a:r>
                      <a:r>
                        <a:rPr lang="en-US" dirty="0"/>
                        <a:t>, accessibility features</a:t>
                      </a:r>
                    </a:p>
                  </a:txBody>
                  <a:tcPr anchor="ctr"/>
                </a:tc>
                <a:extLst>
                  <a:ext uri="{0D108BD9-81ED-4DB2-BD59-A6C34878D82A}">
                    <a16:rowId xmlns:a16="http://schemas.microsoft.com/office/drawing/2014/main" val="2413088124"/>
                  </a:ext>
                </a:extLst>
              </a:tr>
            </a:tbl>
          </a:graphicData>
        </a:graphic>
      </p:graphicFrame>
      <p:graphicFrame>
        <p:nvGraphicFramePr>
          <p:cNvPr id="9" name="Table 8">
            <a:extLst>
              <a:ext uri="{FF2B5EF4-FFF2-40B4-BE49-F238E27FC236}">
                <a16:creationId xmlns:a16="http://schemas.microsoft.com/office/drawing/2014/main" id="{840C9DAE-B0C0-E221-9F7C-C51A95935B7A}"/>
              </a:ext>
            </a:extLst>
          </p:cNvPr>
          <p:cNvGraphicFramePr>
            <a:graphicFrameLocks noGrp="1"/>
          </p:cNvGraphicFramePr>
          <p:nvPr>
            <p:extLst>
              <p:ext uri="{D42A27DB-BD31-4B8C-83A1-F6EECF244321}">
                <p14:modId xmlns:p14="http://schemas.microsoft.com/office/powerpoint/2010/main" val="2088565408"/>
              </p:ext>
            </p:extLst>
          </p:nvPr>
        </p:nvGraphicFramePr>
        <p:xfrm>
          <a:off x="264969" y="1691321"/>
          <a:ext cx="10515600" cy="640080"/>
        </p:xfrm>
        <a:graphic>
          <a:graphicData uri="http://schemas.openxmlformats.org/drawingml/2006/table">
            <a:tbl>
              <a:tblPr>
                <a:tableStyleId>{775DCB02-9BB8-47FD-8907-85C794F793BA}</a:tableStyleId>
              </a:tblPr>
              <a:tblGrid>
                <a:gridCol w="3505200">
                  <a:extLst>
                    <a:ext uri="{9D8B030D-6E8A-4147-A177-3AD203B41FA5}">
                      <a16:colId xmlns:a16="http://schemas.microsoft.com/office/drawing/2014/main" val="3151904558"/>
                    </a:ext>
                  </a:extLst>
                </a:gridCol>
                <a:gridCol w="3505200">
                  <a:extLst>
                    <a:ext uri="{9D8B030D-6E8A-4147-A177-3AD203B41FA5}">
                      <a16:colId xmlns:a16="http://schemas.microsoft.com/office/drawing/2014/main" val="121013816"/>
                    </a:ext>
                  </a:extLst>
                </a:gridCol>
                <a:gridCol w="3505200">
                  <a:extLst>
                    <a:ext uri="{9D8B030D-6E8A-4147-A177-3AD203B41FA5}">
                      <a16:colId xmlns:a16="http://schemas.microsoft.com/office/drawing/2014/main" val="1066493369"/>
                    </a:ext>
                  </a:extLst>
                </a:gridCol>
              </a:tblGrid>
              <a:tr h="0">
                <a:tc>
                  <a:txBody>
                    <a:bodyPr/>
                    <a:lstStyle/>
                    <a:p>
                      <a:pPr>
                        <a:buNone/>
                      </a:pPr>
                      <a:r>
                        <a:rPr lang="en-IN"/>
                        <a:t>9</a:t>
                      </a:r>
                    </a:p>
                  </a:txBody>
                  <a:tcPr anchor="ctr"/>
                </a:tc>
                <a:tc>
                  <a:txBody>
                    <a:bodyPr/>
                    <a:lstStyle/>
                    <a:p>
                      <a:pPr>
                        <a:buNone/>
                      </a:pPr>
                      <a:r>
                        <a:rPr lang="en-IN" b="1" dirty="0"/>
                        <a:t>Prototyping</a:t>
                      </a:r>
                      <a:endParaRPr lang="en-IN" dirty="0"/>
                    </a:p>
                  </a:txBody>
                  <a:tcPr anchor="ctr"/>
                </a:tc>
                <a:tc>
                  <a:txBody>
                    <a:bodyPr/>
                    <a:lstStyle/>
                    <a:p>
                      <a:pPr>
                        <a:buNone/>
                      </a:pPr>
                      <a:r>
                        <a:rPr lang="en-US" dirty="0"/>
                        <a:t>Figma/Adobe XD screenshots, clickable demo flow</a:t>
                      </a:r>
                    </a:p>
                  </a:txBody>
                  <a:tcPr anchor="ctr"/>
                </a:tc>
                <a:extLst>
                  <a:ext uri="{0D108BD9-81ED-4DB2-BD59-A6C34878D82A}">
                    <a16:rowId xmlns:a16="http://schemas.microsoft.com/office/drawing/2014/main" val="1630528746"/>
                  </a:ext>
                </a:extLst>
              </a:tr>
            </a:tbl>
          </a:graphicData>
        </a:graphic>
      </p:graphicFrame>
      <p:graphicFrame>
        <p:nvGraphicFramePr>
          <p:cNvPr id="10" name="Table 9">
            <a:extLst>
              <a:ext uri="{FF2B5EF4-FFF2-40B4-BE49-F238E27FC236}">
                <a16:creationId xmlns:a16="http://schemas.microsoft.com/office/drawing/2014/main" id="{A3C74EA0-1655-ADD1-AAB2-9015997B926C}"/>
              </a:ext>
            </a:extLst>
          </p:cNvPr>
          <p:cNvGraphicFramePr>
            <a:graphicFrameLocks noGrp="1"/>
          </p:cNvGraphicFramePr>
          <p:nvPr>
            <p:extLst>
              <p:ext uri="{D42A27DB-BD31-4B8C-83A1-F6EECF244321}">
                <p14:modId xmlns:p14="http://schemas.microsoft.com/office/powerpoint/2010/main" val="242342083"/>
              </p:ext>
            </p:extLst>
          </p:nvPr>
        </p:nvGraphicFramePr>
        <p:xfrm>
          <a:off x="264969" y="3225943"/>
          <a:ext cx="10515600" cy="640080"/>
        </p:xfrm>
        <a:graphic>
          <a:graphicData uri="http://schemas.openxmlformats.org/drawingml/2006/table">
            <a:tbl>
              <a:tblPr>
                <a:tableStyleId>{775DCB02-9BB8-47FD-8907-85C794F793BA}</a:tableStyleId>
              </a:tblPr>
              <a:tblGrid>
                <a:gridCol w="3505200">
                  <a:extLst>
                    <a:ext uri="{9D8B030D-6E8A-4147-A177-3AD203B41FA5}">
                      <a16:colId xmlns:a16="http://schemas.microsoft.com/office/drawing/2014/main" val="4139748231"/>
                    </a:ext>
                  </a:extLst>
                </a:gridCol>
                <a:gridCol w="3505200">
                  <a:extLst>
                    <a:ext uri="{9D8B030D-6E8A-4147-A177-3AD203B41FA5}">
                      <a16:colId xmlns:a16="http://schemas.microsoft.com/office/drawing/2014/main" val="1183249264"/>
                    </a:ext>
                  </a:extLst>
                </a:gridCol>
                <a:gridCol w="3505200">
                  <a:extLst>
                    <a:ext uri="{9D8B030D-6E8A-4147-A177-3AD203B41FA5}">
                      <a16:colId xmlns:a16="http://schemas.microsoft.com/office/drawing/2014/main" val="187111452"/>
                    </a:ext>
                  </a:extLst>
                </a:gridCol>
              </a:tblGrid>
              <a:tr h="0">
                <a:tc>
                  <a:txBody>
                    <a:bodyPr/>
                    <a:lstStyle/>
                    <a:p>
                      <a:pPr algn="just">
                        <a:buNone/>
                      </a:pPr>
                      <a:r>
                        <a:rPr lang="en-IN" dirty="0"/>
                        <a:t>10</a:t>
                      </a:r>
                    </a:p>
                  </a:txBody>
                  <a:tcPr anchor="ctr"/>
                </a:tc>
                <a:tc>
                  <a:txBody>
                    <a:bodyPr/>
                    <a:lstStyle/>
                    <a:p>
                      <a:pPr algn="just">
                        <a:buNone/>
                      </a:pPr>
                      <a:r>
                        <a:rPr lang="en-IN" b="1" dirty="0"/>
                        <a:t>Testing &amp; Feedback</a:t>
                      </a:r>
                      <a:endParaRPr lang="en-IN" dirty="0"/>
                    </a:p>
                  </a:txBody>
                  <a:tcPr anchor="ctr"/>
                </a:tc>
                <a:tc>
                  <a:txBody>
                    <a:bodyPr/>
                    <a:lstStyle/>
                    <a:p>
                      <a:pPr algn="just">
                        <a:buNone/>
                      </a:pPr>
                      <a:r>
                        <a:rPr lang="en-US" dirty="0"/>
                        <a:t>Usability testing summary, improvements made</a:t>
                      </a:r>
                    </a:p>
                  </a:txBody>
                  <a:tcPr anchor="ctr"/>
                </a:tc>
                <a:extLst>
                  <a:ext uri="{0D108BD9-81ED-4DB2-BD59-A6C34878D82A}">
                    <a16:rowId xmlns:a16="http://schemas.microsoft.com/office/drawing/2014/main" val="2629756241"/>
                  </a:ext>
                </a:extLst>
              </a:tr>
            </a:tbl>
          </a:graphicData>
        </a:graphic>
      </p:graphicFrame>
      <p:graphicFrame>
        <p:nvGraphicFramePr>
          <p:cNvPr id="11" name="Table 10">
            <a:extLst>
              <a:ext uri="{FF2B5EF4-FFF2-40B4-BE49-F238E27FC236}">
                <a16:creationId xmlns:a16="http://schemas.microsoft.com/office/drawing/2014/main" id="{E49E66DB-5AD9-79D7-214A-468AFFC425C3}"/>
              </a:ext>
            </a:extLst>
          </p:cNvPr>
          <p:cNvGraphicFramePr>
            <a:graphicFrameLocks noGrp="1"/>
          </p:cNvGraphicFramePr>
          <p:nvPr>
            <p:extLst>
              <p:ext uri="{D42A27DB-BD31-4B8C-83A1-F6EECF244321}">
                <p14:modId xmlns:p14="http://schemas.microsoft.com/office/powerpoint/2010/main" val="3161620068"/>
              </p:ext>
            </p:extLst>
          </p:nvPr>
        </p:nvGraphicFramePr>
        <p:xfrm>
          <a:off x="264969" y="3866023"/>
          <a:ext cx="10515600" cy="640080"/>
        </p:xfrm>
        <a:graphic>
          <a:graphicData uri="http://schemas.openxmlformats.org/drawingml/2006/table">
            <a:tbl>
              <a:tblPr>
                <a:tableStyleId>{775DCB02-9BB8-47FD-8907-85C794F793BA}</a:tableStyleId>
              </a:tblPr>
              <a:tblGrid>
                <a:gridCol w="3505200">
                  <a:extLst>
                    <a:ext uri="{9D8B030D-6E8A-4147-A177-3AD203B41FA5}">
                      <a16:colId xmlns:a16="http://schemas.microsoft.com/office/drawing/2014/main" val="508066990"/>
                    </a:ext>
                  </a:extLst>
                </a:gridCol>
                <a:gridCol w="3505200">
                  <a:extLst>
                    <a:ext uri="{9D8B030D-6E8A-4147-A177-3AD203B41FA5}">
                      <a16:colId xmlns:a16="http://schemas.microsoft.com/office/drawing/2014/main" val="3446318404"/>
                    </a:ext>
                  </a:extLst>
                </a:gridCol>
                <a:gridCol w="3505200">
                  <a:extLst>
                    <a:ext uri="{9D8B030D-6E8A-4147-A177-3AD203B41FA5}">
                      <a16:colId xmlns:a16="http://schemas.microsoft.com/office/drawing/2014/main" val="2992234206"/>
                    </a:ext>
                  </a:extLst>
                </a:gridCol>
              </a:tblGrid>
              <a:tr h="0">
                <a:tc>
                  <a:txBody>
                    <a:bodyPr/>
                    <a:lstStyle/>
                    <a:p>
                      <a:pPr>
                        <a:buNone/>
                      </a:pPr>
                      <a:r>
                        <a:rPr lang="en-IN" dirty="0"/>
                        <a:t>11</a:t>
                      </a:r>
                    </a:p>
                  </a:txBody>
                  <a:tcPr anchor="ctr"/>
                </a:tc>
                <a:tc>
                  <a:txBody>
                    <a:bodyPr/>
                    <a:lstStyle/>
                    <a:p>
                      <a:pPr>
                        <a:buNone/>
                      </a:pPr>
                      <a:r>
                        <a:rPr lang="en-IN" b="1" dirty="0"/>
                        <a:t>Final Output / Screens</a:t>
                      </a:r>
                      <a:endParaRPr lang="en-IN" dirty="0"/>
                    </a:p>
                  </a:txBody>
                  <a:tcPr anchor="ctr"/>
                </a:tc>
                <a:tc>
                  <a:txBody>
                    <a:bodyPr/>
                    <a:lstStyle/>
                    <a:p>
                      <a:pPr>
                        <a:buNone/>
                      </a:pPr>
                      <a:r>
                        <a:rPr lang="en-US" dirty="0"/>
                        <a:t>Show key app screens (Home, Search, Now Playing, Profile)</a:t>
                      </a:r>
                    </a:p>
                  </a:txBody>
                  <a:tcPr anchor="ctr"/>
                </a:tc>
                <a:extLst>
                  <a:ext uri="{0D108BD9-81ED-4DB2-BD59-A6C34878D82A}">
                    <a16:rowId xmlns:a16="http://schemas.microsoft.com/office/drawing/2014/main" val="796437457"/>
                  </a:ext>
                </a:extLst>
              </a:tr>
            </a:tbl>
          </a:graphicData>
        </a:graphic>
      </p:graphicFrame>
      <p:graphicFrame>
        <p:nvGraphicFramePr>
          <p:cNvPr id="12" name="Table 11">
            <a:extLst>
              <a:ext uri="{FF2B5EF4-FFF2-40B4-BE49-F238E27FC236}">
                <a16:creationId xmlns:a16="http://schemas.microsoft.com/office/drawing/2014/main" id="{48E5F71A-B365-3115-3A2D-FB412318A785}"/>
              </a:ext>
            </a:extLst>
          </p:cNvPr>
          <p:cNvGraphicFramePr>
            <a:graphicFrameLocks noGrp="1"/>
          </p:cNvGraphicFramePr>
          <p:nvPr>
            <p:extLst>
              <p:ext uri="{D42A27DB-BD31-4B8C-83A1-F6EECF244321}">
                <p14:modId xmlns:p14="http://schemas.microsoft.com/office/powerpoint/2010/main" val="1705238762"/>
              </p:ext>
            </p:extLst>
          </p:nvPr>
        </p:nvGraphicFramePr>
        <p:xfrm>
          <a:off x="264969" y="4473017"/>
          <a:ext cx="10515600" cy="640080"/>
        </p:xfrm>
        <a:graphic>
          <a:graphicData uri="http://schemas.openxmlformats.org/drawingml/2006/table">
            <a:tbl>
              <a:tblPr>
                <a:tableStyleId>{775DCB02-9BB8-47FD-8907-85C794F793BA}</a:tableStyleId>
              </a:tblPr>
              <a:tblGrid>
                <a:gridCol w="3505200">
                  <a:extLst>
                    <a:ext uri="{9D8B030D-6E8A-4147-A177-3AD203B41FA5}">
                      <a16:colId xmlns:a16="http://schemas.microsoft.com/office/drawing/2014/main" val="3186796661"/>
                    </a:ext>
                  </a:extLst>
                </a:gridCol>
                <a:gridCol w="3505200">
                  <a:extLst>
                    <a:ext uri="{9D8B030D-6E8A-4147-A177-3AD203B41FA5}">
                      <a16:colId xmlns:a16="http://schemas.microsoft.com/office/drawing/2014/main" val="1595453410"/>
                    </a:ext>
                  </a:extLst>
                </a:gridCol>
                <a:gridCol w="3505200">
                  <a:extLst>
                    <a:ext uri="{9D8B030D-6E8A-4147-A177-3AD203B41FA5}">
                      <a16:colId xmlns:a16="http://schemas.microsoft.com/office/drawing/2014/main" val="3932914619"/>
                    </a:ext>
                  </a:extLst>
                </a:gridCol>
              </a:tblGrid>
              <a:tr h="0">
                <a:tc>
                  <a:txBody>
                    <a:bodyPr/>
                    <a:lstStyle/>
                    <a:p>
                      <a:pPr>
                        <a:buNone/>
                      </a:pPr>
                      <a:r>
                        <a:rPr lang="en-IN" dirty="0"/>
                        <a:t>12</a:t>
                      </a:r>
                    </a:p>
                  </a:txBody>
                  <a:tcPr anchor="ctr"/>
                </a:tc>
                <a:tc>
                  <a:txBody>
                    <a:bodyPr/>
                    <a:lstStyle/>
                    <a:p>
                      <a:pPr>
                        <a:buNone/>
                      </a:pPr>
                      <a:r>
                        <a:rPr lang="en-IN" b="1" dirty="0"/>
                        <a:t>Conclusion &amp; Future Scope</a:t>
                      </a:r>
                      <a:endParaRPr lang="en-IN" dirty="0"/>
                    </a:p>
                  </a:txBody>
                  <a:tcPr anchor="ctr"/>
                </a:tc>
                <a:tc>
                  <a:txBody>
                    <a:bodyPr/>
                    <a:lstStyle/>
                    <a:p>
                      <a:pPr>
                        <a:buNone/>
                      </a:pPr>
                      <a:r>
                        <a:rPr lang="en-US" dirty="0"/>
                        <a:t>Next steps (e.g., adding podcasts, AI recommendations)</a:t>
                      </a:r>
                    </a:p>
                  </a:txBody>
                  <a:tcPr anchor="ctr"/>
                </a:tc>
                <a:extLst>
                  <a:ext uri="{0D108BD9-81ED-4DB2-BD59-A6C34878D82A}">
                    <a16:rowId xmlns:a16="http://schemas.microsoft.com/office/drawing/2014/main" val="2241095153"/>
                  </a:ext>
                </a:extLst>
              </a:tr>
            </a:tbl>
          </a:graphicData>
        </a:graphic>
      </p:graphicFrame>
      <p:graphicFrame>
        <p:nvGraphicFramePr>
          <p:cNvPr id="13" name="Table 12">
            <a:extLst>
              <a:ext uri="{FF2B5EF4-FFF2-40B4-BE49-F238E27FC236}">
                <a16:creationId xmlns:a16="http://schemas.microsoft.com/office/drawing/2014/main" id="{37FFCB05-2FAC-F4DA-F505-52B0083F1D8D}"/>
              </a:ext>
            </a:extLst>
          </p:cNvPr>
          <p:cNvGraphicFramePr>
            <a:graphicFrameLocks noGrp="1"/>
          </p:cNvGraphicFramePr>
          <p:nvPr>
            <p:extLst>
              <p:ext uri="{D42A27DB-BD31-4B8C-83A1-F6EECF244321}">
                <p14:modId xmlns:p14="http://schemas.microsoft.com/office/powerpoint/2010/main" val="3215641295"/>
              </p:ext>
            </p:extLst>
          </p:nvPr>
        </p:nvGraphicFramePr>
        <p:xfrm>
          <a:off x="264969" y="5113097"/>
          <a:ext cx="10515600" cy="365760"/>
        </p:xfrm>
        <a:graphic>
          <a:graphicData uri="http://schemas.openxmlformats.org/drawingml/2006/table">
            <a:tbl>
              <a:tblPr>
                <a:tableStyleId>{775DCB02-9BB8-47FD-8907-85C794F793BA}</a:tableStyleId>
              </a:tblPr>
              <a:tblGrid>
                <a:gridCol w="3505200">
                  <a:extLst>
                    <a:ext uri="{9D8B030D-6E8A-4147-A177-3AD203B41FA5}">
                      <a16:colId xmlns:a16="http://schemas.microsoft.com/office/drawing/2014/main" val="1345050937"/>
                    </a:ext>
                  </a:extLst>
                </a:gridCol>
                <a:gridCol w="3505200">
                  <a:extLst>
                    <a:ext uri="{9D8B030D-6E8A-4147-A177-3AD203B41FA5}">
                      <a16:colId xmlns:a16="http://schemas.microsoft.com/office/drawing/2014/main" val="2860330013"/>
                    </a:ext>
                  </a:extLst>
                </a:gridCol>
                <a:gridCol w="3505200">
                  <a:extLst>
                    <a:ext uri="{9D8B030D-6E8A-4147-A177-3AD203B41FA5}">
                      <a16:colId xmlns:a16="http://schemas.microsoft.com/office/drawing/2014/main" val="2905114714"/>
                    </a:ext>
                  </a:extLst>
                </a:gridCol>
              </a:tblGrid>
              <a:tr h="0">
                <a:tc>
                  <a:txBody>
                    <a:bodyPr/>
                    <a:lstStyle/>
                    <a:p>
                      <a:pPr>
                        <a:buNone/>
                      </a:pPr>
                      <a:r>
                        <a:rPr lang="en-IN" dirty="0"/>
                        <a:t>13</a:t>
                      </a:r>
                    </a:p>
                  </a:txBody>
                  <a:tcPr anchor="ctr"/>
                </a:tc>
                <a:tc>
                  <a:txBody>
                    <a:bodyPr/>
                    <a:lstStyle/>
                    <a:p>
                      <a:pPr>
                        <a:buNone/>
                      </a:pPr>
                      <a:r>
                        <a:rPr lang="en-IN" b="1" dirty="0"/>
                        <a:t>Q&amp;A / Thank You</a:t>
                      </a:r>
                      <a:endParaRPr lang="en-IN" dirty="0"/>
                    </a:p>
                  </a:txBody>
                  <a:tcPr anchor="ctr"/>
                </a:tc>
                <a:tc>
                  <a:txBody>
                    <a:bodyPr/>
                    <a:lstStyle/>
                    <a:p>
                      <a:pPr>
                        <a:buNone/>
                      </a:pPr>
                      <a:r>
                        <a:rPr lang="en-IN" dirty="0"/>
                        <a:t>Contact info or credits</a:t>
                      </a:r>
                    </a:p>
                  </a:txBody>
                  <a:tcPr anchor="ctr"/>
                </a:tc>
                <a:extLst>
                  <a:ext uri="{0D108BD9-81ED-4DB2-BD59-A6C34878D82A}">
                    <a16:rowId xmlns:a16="http://schemas.microsoft.com/office/drawing/2014/main" val="870202148"/>
                  </a:ext>
                </a:extLst>
              </a:tr>
            </a:tbl>
          </a:graphicData>
        </a:graphic>
      </p:graphicFrame>
    </p:spTree>
    <p:extLst>
      <p:ext uri="{BB962C8B-B14F-4D97-AF65-F5344CB8AC3E}">
        <p14:creationId xmlns:p14="http://schemas.microsoft.com/office/powerpoint/2010/main" val="8246955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Music symbols Images - Free Download on Freepik">
            <a:extLst>
              <a:ext uri="{FF2B5EF4-FFF2-40B4-BE49-F238E27FC236}">
                <a16:creationId xmlns:a16="http://schemas.microsoft.com/office/drawing/2014/main" id="{CBD13AEE-D5E7-2553-EE77-6B37598499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0"/>
            <a:ext cx="6858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50DBA7AF-97A1-4C0E-2802-B1C6544BEAE2}"/>
              </a:ext>
            </a:extLst>
          </p:cNvPr>
          <p:cNvSpPr/>
          <p:nvPr/>
        </p:nvSpPr>
        <p:spPr>
          <a:xfrm>
            <a:off x="-57150" y="0"/>
            <a:ext cx="12306300" cy="6858000"/>
          </a:xfrm>
          <a:prstGeom prst="rect">
            <a:avLst/>
          </a:prstGeom>
          <a:solidFill>
            <a:schemeClr val="bg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EC128081-712C-73C0-E49D-DF2C05B38F49}"/>
              </a:ext>
            </a:extLst>
          </p:cNvPr>
          <p:cNvSpPr txBox="1"/>
          <p:nvPr/>
        </p:nvSpPr>
        <p:spPr>
          <a:xfrm>
            <a:off x="28575" y="341436"/>
            <a:ext cx="12192000" cy="6247864"/>
          </a:xfrm>
          <a:prstGeom prst="rect">
            <a:avLst/>
          </a:prstGeom>
          <a:noFill/>
        </p:spPr>
        <p:txBody>
          <a:bodyPr wrap="square" rtlCol="0">
            <a:spAutoFit/>
          </a:bodyPr>
          <a:lstStyle/>
          <a:p>
            <a:r>
              <a:rPr lang="en-US" sz="2000" b="1" dirty="0">
                <a:solidFill>
                  <a:srgbClr val="00B0F0"/>
                </a:solidFill>
                <a:latin typeface="Bell MT" panose="02020503060305020303" pitchFamily="18" charset="0"/>
              </a:rPr>
              <a:t>💡 Tips for an Engaging Presentation</a:t>
            </a:r>
          </a:p>
          <a:p>
            <a:r>
              <a:rPr lang="en-US" sz="2000" dirty="0">
                <a:latin typeface="Bell MT" panose="02020503060305020303" pitchFamily="18" charset="0"/>
              </a:rPr>
              <a:t>Use </a:t>
            </a:r>
            <a:r>
              <a:rPr lang="en-US" sz="2000" b="1" dirty="0">
                <a:latin typeface="Bell MT" panose="02020503060305020303" pitchFamily="18" charset="0"/>
              </a:rPr>
              <a:t>minimal text + strong visuals.</a:t>
            </a:r>
            <a:endParaRPr lang="en-US" sz="2000" dirty="0">
              <a:latin typeface="Bell MT" panose="02020503060305020303" pitchFamily="18" charset="0"/>
            </a:endParaRPr>
          </a:p>
          <a:p>
            <a:r>
              <a:rPr lang="en-US" sz="2000" dirty="0">
                <a:latin typeface="Bell MT" panose="02020503060305020303" pitchFamily="18" charset="0"/>
              </a:rPr>
              <a:t>Maintain consistent </a:t>
            </a:r>
            <a:r>
              <a:rPr lang="en-US" sz="2000" b="1" dirty="0">
                <a:latin typeface="Bell MT" panose="02020503060305020303" pitchFamily="18" charset="0"/>
              </a:rPr>
              <a:t>color and typography</a:t>
            </a:r>
            <a:r>
              <a:rPr lang="en-US" sz="2000" dirty="0">
                <a:latin typeface="Bell MT" panose="02020503060305020303" pitchFamily="18" charset="0"/>
              </a:rPr>
              <a:t> (same as your app theme).</a:t>
            </a:r>
          </a:p>
          <a:p>
            <a:r>
              <a:rPr lang="en-US" sz="2000" dirty="0">
                <a:latin typeface="Bell MT" panose="02020503060305020303" pitchFamily="18" charset="0"/>
              </a:rPr>
              <a:t>Add </a:t>
            </a:r>
            <a:r>
              <a:rPr lang="en-US" sz="2000" b="1" dirty="0">
                <a:latin typeface="Bell MT" panose="02020503060305020303" pitchFamily="18" charset="0"/>
              </a:rPr>
              <a:t>transitions or simple animations</a:t>
            </a:r>
            <a:r>
              <a:rPr lang="en-US" sz="2000" dirty="0">
                <a:latin typeface="Bell MT" panose="02020503060305020303" pitchFamily="18" charset="0"/>
              </a:rPr>
              <a:t> between slides.</a:t>
            </a:r>
          </a:p>
          <a:p>
            <a:r>
              <a:rPr lang="en-US" sz="2000" dirty="0">
                <a:latin typeface="Bell MT" panose="02020503060305020303" pitchFamily="18" charset="0"/>
              </a:rPr>
              <a:t>If possible, do a </a:t>
            </a:r>
            <a:r>
              <a:rPr lang="en-US" sz="2000" b="1" dirty="0">
                <a:latin typeface="Bell MT" panose="02020503060305020303" pitchFamily="18" charset="0"/>
              </a:rPr>
              <a:t>live demo</a:t>
            </a:r>
            <a:r>
              <a:rPr lang="en-US" sz="2000" dirty="0">
                <a:latin typeface="Bell MT" panose="02020503060305020303" pitchFamily="18" charset="0"/>
              </a:rPr>
              <a:t> of your prototype (Figma/Adobe XD).</a:t>
            </a:r>
          </a:p>
          <a:p>
            <a:r>
              <a:rPr lang="en-US" sz="2000" dirty="0">
                <a:latin typeface="Bell MT" panose="02020503060305020303" pitchFamily="18" charset="0"/>
              </a:rPr>
              <a:t>Keep it under </a:t>
            </a:r>
            <a:r>
              <a:rPr lang="en-US" sz="2000" b="1" dirty="0">
                <a:latin typeface="Bell MT" panose="02020503060305020303" pitchFamily="18" charset="0"/>
              </a:rPr>
              <a:t>10–12 minutes.</a:t>
            </a:r>
            <a:endParaRPr lang="en-US" sz="2000" dirty="0">
              <a:latin typeface="Bell MT" panose="02020503060305020303" pitchFamily="18" charset="0"/>
            </a:endParaRPr>
          </a:p>
          <a:p>
            <a:br>
              <a:rPr lang="en-US" sz="2000" dirty="0">
                <a:latin typeface="Bell MT" panose="02020503060305020303" pitchFamily="18" charset="0"/>
              </a:rPr>
            </a:br>
            <a:r>
              <a:rPr lang="en-US" sz="2000" b="1" dirty="0">
                <a:solidFill>
                  <a:srgbClr val="00B0F0"/>
                </a:solidFill>
                <a:latin typeface="Bell MT" panose="02020503060305020303" pitchFamily="18" charset="0"/>
              </a:rPr>
              <a:t>📄 3. Documentation (Project Report)</a:t>
            </a:r>
          </a:p>
          <a:p>
            <a:r>
              <a:rPr lang="en-US" sz="2000" dirty="0">
                <a:latin typeface="Bell MT" panose="02020503060305020303" pitchFamily="18" charset="0"/>
              </a:rPr>
              <a:t>Your documentation should describe every stage of your design and development process in detail.</a:t>
            </a:r>
          </a:p>
          <a:p>
            <a:br>
              <a:rPr lang="en-US" sz="2000" dirty="0">
                <a:latin typeface="Bell MT" panose="02020503060305020303" pitchFamily="18" charset="0"/>
              </a:rPr>
            </a:br>
            <a:r>
              <a:rPr lang="en-US" sz="2000" b="1" dirty="0">
                <a:solidFill>
                  <a:srgbClr val="00B0F0"/>
                </a:solidFill>
                <a:latin typeface="Bell MT" panose="02020503060305020303" pitchFamily="18" charset="0"/>
              </a:rPr>
              <a:t>🧾 Suggested Report Format</a:t>
            </a:r>
          </a:p>
          <a:p>
            <a:r>
              <a:rPr lang="en-US" sz="2000" b="1" dirty="0">
                <a:solidFill>
                  <a:srgbClr val="7030A0"/>
                </a:solidFill>
                <a:latin typeface="Bell MT" panose="02020503060305020303" pitchFamily="18" charset="0"/>
              </a:rPr>
              <a:t>  1. Cover Page</a:t>
            </a:r>
            <a:endParaRPr lang="en-US" sz="2000" dirty="0">
              <a:solidFill>
                <a:srgbClr val="7030A0"/>
              </a:solidFill>
              <a:latin typeface="Bell MT" panose="02020503060305020303" pitchFamily="18" charset="0"/>
            </a:endParaRPr>
          </a:p>
          <a:p>
            <a:r>
              <a:rPr lang="en-US" sz="2000" dirty="0">
                <a:latin typeface="Bell MT" panose="02020503060305020303" pitchFamily="18" charset="0"/>
              </a:rPr>
              <a:t>  Project Title, Team Name, Members, Institution, Date</a:t>
            </a:r>
          </a:p>
          <a:p>
            <a:r>
              <a:rPr lang="en-US" sz="2000" b="1" dirty="0">
                <a:solidFill>
                  <a:srgbClr val="7030A0"/>
                </a:solidFill>
                <a:latin typeface="Bell MT" panose="02020503060305020303" pitchFamily="18" charset="0"/>
              </a:rPr>
              <a:t>  2. Abstract / Summary</a:t>
            </a:r>
            <a:endParaRPr lang="en-US" sz="2000" dirty="0">
              <a:solidFill>
                <a:srgbClr val="7030A0"/>
              </a:solidFill>
              <a:latin typeface="Bell MT" panose="02020503060305020303" pitchFamily="18" charset="0"/>
            </a:endParaRPr>
          </a:p>
          <a:p>
            <a:r>
              <a:rPr lang="en-US" sz="2000" dirty="0">
                <a:latin typeface="Bell MT" panose="02020503060305020303" pitchFamily="18" charset="0"/>
              </a:rPr>
              <a:t>  Short overview of your app and objectives.</a:t>
            </a:r>
          </a:p>
          <a:p>
            <a:r>
              <a:rPr lang="en-US" sz="2000" b="1" dirty="0">
                <a:solidFill>
                  <a:srgbClr val="7030A0"/>
                </a:solidFill>
                <a:latin typeface="Bell MT" panose="02020503060305020303" pitchFamily="18" charset="0"/>
              </a:rPr>
              <a:t>  3. Introduction</a:t>
            </a:r>
            <a:endParaRPr lang="en-US" sz="2000" dirty="0">
              <a:solidFill>
                <a:srgbClr val="7030A0"/>
              </a:solidFill>
              <a:latin typeface="Bell MT" panose="02020503060305020303" pitchFamily="18" charset="0"/>
            </a:endParaRPr>
          </a:p>
          <a:p>
            <a:r>
              <a:rPr lang="en-US" sz="2000" dirty="0">
                <a:latin typeface="Bell MT" panose="02020503060305020303" pitchFamily="18" charset="0"/>
              </a:rPr>
              <a:t>  Purpose and goals of your music streaming app.</a:t>
            </a:r>
          </a:p>
          <a:p>
            <a:r>
              <a:rPr lang="en-US" sz="2000" b="1" dirty="0">
                <a:solidFill>
                  <a:srgbClr val="7030A0"/>
                </a:solidFill>
                <a:latin typeface="Bell MT" panose="02020503060305020303" pitchFamily="18" charset="0"/>
              </a:rPr>
              <a:t>  4. Problem Statement</a:t>
            </a:r>
            <a:endParaRPr lang="en-US" sz="2000" dirty="0">
              <a:solidFill>
                <a:srgbClr val="7030A0"/>
              </a:solidFill>
              <a:latin typeface="Bell MT" panose="02020503060305020303" pitchFamily="18" charset="0"/>
            </a:endParaRPr>
          </a:p>
          <a:p>
            <a:r>
              <a:rPr lang="en-US" sz="2000" dirty="0">
                <a:latin typeface="Bell MT" panose="02020503060305020303" pitchFamily="18" charset="0"/>
              </a:rPr>
              <a:t>  What issues users face in current music apps.</a:t>
            </a:r>
          </a:p>
          <a:p>
            <a:endParaRPr lang="en-IN" sz="2000" dirty="0">
              <a:latin typeface="Bell MT" panose="02020503060305020303" pitchFamily="18" charset="0"/>
            </a:endParaRPr>
          </a:p>
        </p:txBody>
      </p:sp>
    </p:spTree>
    <p:extLst>
      <p:ext uri="{BB962C8B-B14F-4D97-AF65-F5344CB8AC3E}">
        <p14:creationId xmlns:p14="http://schemas.microsoft.com/office/powerpoint/2010/main" val="6032242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Music symbols Images - Free Download on Freepik">
            <a:extLst>
              <a:ext uri="{FF2B5EF4-FFF2-40B4-BE49-F238E27FC236}">
                <a16:creationId xmlns:a16="http://schemas.microsoft.com/office/drawing/2014/main" id="{0DAD8948-B8D7-87B7-29B1-3FC6EFDE70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0"/>
            <a:ext cx="6858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930515D8-7F60-CB96-CCFF-BF672CDB2A04}"/>
              </a:ext>
            </a:extLst>
          </p:cNvPr>
          <p:cNvSpPr/>
          <p:nvPr/>
        </p:nvSpPr>
        <p:spPr>
          <a:xfrm>
            <a:off x="0" y="0"/>
            <a:ext cx="12192000" cy="6858000"/>
          </a:xfrm>
          <a:prstGeom prst="rect">
            <a:avLst/>
          </a:prstGeom>
          <a:solidFill>
            <a:schemeClr val="bg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C0803BC4-897A-57B1-9AC7-CEDE0C1DCFD7}"/>
              </a:ext>
            </a:extLst>
          </p:cNvPr>
          <p:cNvSpPr txBox="1"/>
          <p:nvPr/>
        </p:nvSpPr>
        <p:spPr>
          <a:xfrm>
            <a:off x="316924" y="184841"/>
            <a:ext cx="6099462" cy="7171194"/>
          </a:xfrm>
          <a:prstGeom prst="rect">
            <a:avLst/>
          </a:prstGeom>
          <a:noFill/>
        </p:spPr>
        <p:txBody>
          <a:bodyPr wrap="square">
            <a:spAutoFit/>
          </a:bodyPr>
          <a:lstStyle/>
          <a:p>
            <a:pPr>
              <a:buNone/>
            </a:pPr>
            <a:r>
              <a:rPr lang="en-IN" sz="2000" b="1" dirty="0">
                <a:solidFill>
                  <a:srgbClr val="7030A0"/>
                </a:solidFill>
                <a:latin typeface="Bell MT" panose="02020503060305020303" pitchFamily="18" charset="0"/>
              </a:rPr>
              <a:t>5. Research &amp; User Analysi</a:t>
            </a:r>
            <a:r>
              <a:rPr lang="en-IN" sz="2000" b="1" dirty="0">
                <a:latin typeface="Bell MT" panose="02020503060305020303" pitchFamily="18" charset="0"/>
              </a:rPr>
              <a:t>s</a:t>
            </a:r>
            <a:endParaRPr lang="en-IN" sz="2000" dirty="0">
              <a:latin typeface="Bell MT" panose="02020503060305020303" pitchFamily="18" charset="0"/>
            </a:endParaRPr>
          </a:p>
          <a:p>
            <a:pPr>
              <a:buFont typeface="Arial" panose="020B0604020202020204" pitchFamily="34" charset="0"/>
              <a:buChar char="•"/>
            </a:pPr>
            <a:r>
              <a:rPr lang="en-IN" sz="2000" dirty="0">
                <a:latin typeface="Bell MT" panose="02020503060305020303" pitchFamily="18" charset="0"/>
              </a:rPr>
              <a:t>Target audience</a:t>
            </a:r>
          </a:p>
          <a:p>
            <a:pPr>
              <a:buFont typeface="Arial" panose="020B0604020202020204" pitchFamily="34" charset="0"/>
              <a:buChar char="•"/>
            </a:pPr>
            <a:r>
              <a:rPr lang="en-IN" sz="2000" dirty="0">
                <a:latin typeface="Bell MT" panose="02020503060305020303" pitchFamily="18" charset="0"/>
              </a:rPr>
              <a:t>User personas</a:t>
            </a:r>
          </a:p>
          <a:p>
            <a:pPr>
              <a:buFont typeface="Arial" panose="020B0604020202020204" pitchFamily="34" charset="0"/>
              <a:buChar char="•"/>
            </a:pPr>
            <a:r>
              <a:rPr lang="en-IN" sz="2000" dirty="0">
                <a:latin typeface="Bell MT" panose="02020503060305020303" pitchFamily="18" charset="0"/>
              </a:rPr>
              <a:t>Competitor comparison</a:t>
            </a:r>
          </a:p>
          <a:p>
            <a:pPr>
              <a:buNone/>
            </a:pPr>
            <a:r>
              <a:rPr lang="en-IN" sz="2000" b="1" dirty="0">
                <a:solidFill>
                  <a:srgbClr val="7030A0"/>
                </a:solidFill>
                <a:latin typeface="Bell MT" panose="02020503060305020303" pitchFamily="18" charset="0"/>
              </a:rPr>
              <a:t>6. Information Architecture</a:t>
            </a:r>
            <a:endParaRPr lang="en-IN" sz="2000" dirty="0">
              <a:solidFill>
                <a:srgbClr val="7030A0"/>
              </a:solidFill>
              <a:latin typeface="Bell MT" panose="02020503060305020303" pitchFamily="18" charset="0"/>
            </a:endParaRPr>
          </a:p>
          <a:p>
            <a:pPr>
              <a:buFont typeface="Arial" panose="020B0604020202020204" pitchFamily="34" charset="0"/>
              <a:buChar char="•"/>
            </a:pPr>
            <a:r>
              <a:rPr lang="en-IN" sz="2000" dirty="0">
                <a:latin typeface="Bell MT" panose="02020503060305020303" pitchFamily="18" charset="0"/>
              </a:rPr>
              <a:t>Sitemap or structure diagram</a:t>
            </a:r>
          </a:p>
          <a:p>
            <a:pPr>
              <a:buNone/>
            </a:pPr>
            <a:r>
              <a:rPr lang="en-IN" sz="2000" b="1" dirty="0">
                <a:solidFill>
                  <a:srgbClr val="7030A0"/>
                </a:solidFill>
                <a:latin typeface="Bell MT" panose="02020503060305020303" pitchFamily="18" charset="0"/>
              </a:rPr>
              <a:t>7. Wireframing</a:t>
            </a:r>
            <a:endParaRPr lang="en-IN" sz="2000" dirty="0">
              <a:solidFill>
                <a:srgbClr val="7030A0"/>
              </a:solidFill>
              <a:latin typeface="Bell MT" panose="02020503060305020303" pitchFamily="18" charset="0"/>
            </a:endParaRPr>
          </a:p>
          <a:p>
            <a:pPr>
              <a:buFont typeface="Arial" panose="020B0604020202020204" pitchFamily="34" charset="0"/>
              <a:buChar char="•"/>
            </a:pPr>
            <a:r>
              <a:rPr lang="en-IN" sz="2000" dirty="0">
                <a:latin typeface="Bell MT" panose="02020503060305020303" pitchFamily="18" charset="0"/>
              </a:rPr>
              <a:t>Low-fidelity sketches and flow explanation</a:t>
            </a:r>
          </a:p>
          <a:p>
            <a:pPr>
              <a:buNone/>
            </a:pPr>
            <a:r>
              <a:rPr lang="en-IN" sz="2000" b="1" dirty="0">
                <a:solidFill>
                  <a:srgbClr val="7030A0"/>
                </a:solidFill>
                <a:latin typeface="Bell MT" panose="02020503060305020303" pitchFamily="18" charset="0"/>
              </a:rPr>
              <a:t>8. Visual Design &amp; Prototyping</a:t>
            </a:r>
            <a:endParaRPr lang="en-IN" sz="2000" dirty="0">
              <a:solidFill>
                <a:srgbClr val="7030A0"/>
              </a:solidFill>
              <a:latin typeface="Bell MT" panose="02020503060305020303" pitchFamily="18" charset="0"/>
            </a:endParaRPr>
          </a:p>
          <a:p>
            <a:pPr>
              <a:buFont typeface="Arial" panose="020B0604020202020204" pitchFamily="34" charset="0"/>
              <a:buChar char="•"/>
            </a:pPr>
            <a:r>
              <a:rPr lang="en-IN" sz="2000" dirty="0" err="1">
                <a:latin typeface="Bell MT" panose="02020503060305020303" pitchFamily="18" charset="0"/>
              </a:rPr>
              <a:t>Color</a:t>
            </a:r>
            <a:r>
              <a:rPr lang="en-IN" sz="2000" dirty="0">
                <a:latin typeface="Bell MT" panose="02020503060305020303" pitchFamily="18" charset="0"/>
              </a:rPr>
              <a:t> scheme, typography, UI elements</a:t>
            </a:r>
          </a:p>
          <a:p>
            <a:pPr>
              <a:buFont typeface="Arial" panose="020B0604020202020204" pitchFamily="34" charset="0"/>
              <a:buChar char="•"/>
            </a:pPr>
            <a:r>
              <a:rPr lang="en-IN" sz="2000" dirty="0">
                <a:latin typeface="Bell MT" panose="02020503060305020303" pitchFamily="18" charset="0"/>
              </a:rPr>
              <a:t>Screenshots of prototype</a:t>
            </a:r>
          </a:p>
          <a:p>
            <a:pPr>
              <a:buNone/>
            </a:pPr>
            <a:r>
              <a:rPr lang="en-IN" sz="2000" b="1" dirty="0">
                <a:solidFill>
                  <a:srgbClr val="7030A0"/>
                </a:solidFill>
                <a:latin typeface="Bell MT" panose="02020503060305020303" pitchFamily="18" charset="0"/>
              </a:rPr>
              <a:t>9. Usability &amp; Interaction Design</a:t>
            </a:r>
            <a:endParaRPr lang="en-IN" sz="2000" dirty="0">
              <a:solidFill>
                <a:srgbClr val="7030A0"/>
              </a:solidFill>
              <a:latin typeface="Bell MT" panose="02020503060305020303" pitchFamily="18" charset="0"/>
            </a:endParaRPr>
          </a:p>
          <a:p>
            <a:pPr>
              <a:buFont typeface="Arial" panose="020B0604020202020204" pitchFamily="34" charset="0"/>
              <a:buChar char="•"/>
            </a:pPr>
            <a:r>
              <a:rPr lang="en-IN" sz="2000" dirty="0">
                <a:latin typeface="Bell MT" panose="02020503060305020303" pitchFamily="18" charset="0"/>
              </a:rPr>
              <a:t>Gestures, feedback mechanisms, and user testing summary</a:t>
            </a:r>
          </a:p>
          <a:p>
            <a:pPr>
              <a:buNone/>
            </a:pPr>
            <a:r>
              <a:rPr lang="en-IN" sz="2000" b="1" dirty="0">
                <a:solidFill>
                  <a:srgbClr val="7030A0"/>
                </a:solidFill>
                <a:latin typeface="Bell MT" panose="02020503060305020303" pitchFamily="18" charset="0"/>
              </a:rPr>
              <a:t>10. Tools Used</a:t>
            </a:r>
            <a:endParaRPr lang="en-IN" sz="2000" dirty="0">
              <a:solidFill>
                <a:srgbClr val="7030A0"/>
              </a:solidFill>
              <a:latin typeface="Bell MT" panose="02020503060305020303" pitchFamily="18" charset="0"/>
            </a:endParaRPr>
          </a:p>
          <a:p>
            <a:pPr>
              <a:buFont typeface="Arial" panose="020B0604020202020204" pitchFamily="34" charset="0"/>
              <a:buChar char="•"/>
            </a:pPr>
            <a:r>
              <a:rPr lang="en-IN" sz="2000" dirty="0">
                <a:latin typeface="Bell MT" panose="02020503060305020303" pitchFamily="18" charset="0"/>
              </a:rPr>
              <a:t>Figma, </a:t>
            </a:r>
            <a:r>
              <a:rPr lang="en-IN" sz="2000" dirty="0" err="1">
                <a:latin typeface="Bell MT" panose="02020503060305020303" pitchFamily="18" charset="0"/>
              </a:rPr>
              <a:t>FigJam</a:t>
            </a:r>
            <a:r>
              <a:rPr lang="en-IN" sz="2000" dirty="0">
                <a:latin typeface="Bell MT" panose="02020503060305020303" pitchFamily="18" charset="0"/>
              </a:rPr>
              <a:t>, Adobe XD, Photoshop, etc.</a:t>
            </a:r>
          </a:p>
          <a:p>
            <a:r>
              <a:rPr lang="en-US" sz="2000" b="1" dirty="0">
                <a:solidFill>
                  <a:srgbClr val="7030A0"/>
                </a:solidFill>
                <a:latin typeface="Bell MT" panose="02020503060305020303" pitchFamily="18" charset="0"/>
              </a:rPr>
              <a:t>11. Result / Outcome</a:t>
            </a:r>
            <a:endParaRPr lang="en-US" sz="2000" dirty="0">
              <a:solidFill>
                <a:srgbClr val="7030A0"/>
              </a:solidFill>
              <a:latin typeface="Bell MT" panose="02020503060305020303" pitchFamily="18" charset="0"/>
            </a:endParaRPr>
          </a:p>
          <a:p>
            <a:r>
              <a:rPr lang="en-US" sz="2000" dirty="0">
                <a:latin typeface="Bell MT" panose="02020503060305020303" pitchFamily="18" charset="0"/>
              </a:rPr>
              <a:t>Screens and mockups of final design</a:t>
            </a:r>
          </a:p>
          <a:p>
            <a:r>
              <a:rPr lang="en-US" sz="2000" dirty="0">
                <a:latin typeface="Bell MT" panose="02020503060305020303" pitchFamily="18" charset="0"/>
              </a:rPr>
              <a:t>How usability improved after testing</a:t>
            </a:r>
          </a:p>
          <a:p>
            <a:r>
              <a:rPr lang="en-US" sz="2000" b="1" dirty="0">
                <a:solidFill>
                  <a:srgbClr val="7030A0"/>
                </a:solidFill>
                <a:latin typeface="Bell MT" panose="02020503060305020303" pitchFamily="18" charset="0"/>
              </a:rPr>
              <a:t>12. Conclusion &amp; Future Enhancements</a:t>
            </a:r>
            <a:endParaRPr lang="en-US" sz="2000" dirty="0">
              <a:solidFill>
                <a:srgbClr val="7030A0"/>
              </a:solidFill>
              <a:latin typeface="Bell MT" panose="02020503060305020303" pitchFamily="18" charset="0"/>
            </a:endParaRPr>
          </a:p>
          <a:p>
            <a:r>
              <a:rPr lang="en-US" sz="2000" dirty="0">
                <a:latin typeface="Bell MT" panose="02020503060305020303" pitchFamily="18" charset="0"/>
              </a:rPr>
              <a:t>Summary and next-step ideas</a:t>
            </a:r>
          </a:p>
          <a:p>
            <a:pPr>
              <a:buFont typeface="Arial" panose="020B0604020202020204" pitchFamily="34" charset="0"/>
              <a:buChar char="•"/>
            </a:pPr>
            <a:endParaRPr lang="en-IN" sz="2000" dirty="0">
              <a:latin typeface="Bell MT" panose="02020503060305020303" pitchFamily="18" charset="0"/>
            </a:endParaRPr>
          </a:p>
          <a:p>
            <a:pPr>
              <a:buNone/>
            </a:pPr>
            <a:endParaRPr lang="en-IN" sz="2000" dirty="0">
              <a:latin typeface="Bell MT" panose="02020503060305020303" pitchFamily="18" charset="0"/>
            </a:endParaRPr>
          </a:p>
        </p:txBody>
      </p:sp>
    </p:spTree>
    <p:extLst>
      <p:ext uri="{BB962C8B-B14F-4D97-AF65-F5344CB8AC3E}">
        <p14:creationId xmlns:p14="http://schemas.microsoft.com/office/powerpoint/2010/main" val="16245481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0E8BD-DD15-3606-C3D9-3FFCC5E4C281}"/>
            </a:ext>
          </a:extLst>
        </p:cNvPr>
        <p:cNvGrpSpPr/>
        <p:nvPr/>
      </p:nvGrpSpPr>
      <p:grpSpPr>
        <a:xfrm>
          <a:off x="0" y="0"/>
          <a:ext cx="0" cy="0"/>
          <a:chOff x="0" y="0"/>
          <a:chExt cx="0" cy="0"/>
        </a:xfrm>
      </p:grpSpPr>
      <p:pic>
        <p:nvPicPr>
          <p:cNvPr id="2" name="Picture 2" descr="Music symbols Images - Free Download on Freepik">
            <a:extLst>
              <a:ext uri="{FF2B5EF4-FFF2-40B4-BE49-F238E27FC236}">
                <a16:creationId xmlns:a16="http://schemas.microsoft.com/office/drawing/2014/main" id="{BCCB5129-A4CA-5652-CFE8-0FFF3A303A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0"/>
            <a:ext cx="6858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D037862E-8E35-6E2C-AD2D-5FED6978DE86}"/>
              </a:ext>
            </a:extLst>
          </p:cNvPr>
          <p:cNvSpPr/>
          <p:nvPr/>
        </p:nvSpPr>
        <p:spPr>
          <a:xfrm>
            <a:off x="0" y="0"/>
            <a:ext cx="12192000" cy="6858000"/>
          </a:xfrm>
          <a:prstGeom prst="rect">
            <a:avLst/>
          </a:prstGeom>
          <a:solidFill>
            <a:schemeClr val="bg1">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TextBox 3">
            <a:extLst>
              <a:ext uri="{FF2B5EF4-FFF2-40B4-BE49-F238E27FC236}">
                <a16:creationId xmlns:a16="http://schemas.microsoft.com/office/drawing/2014/main" id="{41311B6E-ADDA-4D56-F983-846CAD09CC72}"/>
              </a:ext>
            </a:extLst>
          </p:cNvPr>
          <p:cNvSpPr txBox="1"/>
          <p:nvPr/>
        </p:nvSpPr>
        <p:spPr>
          <a:xfrm>
            <a:off x="0" y="72736"/>
            <a:ext cx="12510655" cy="3754874"/>
          </a:xfrm>
          <a:prstGeom prst="rect">
            <a:avLst/>
          </a:prstGeom>
          <a:noFill/>
        </p:spPr>
        <p:txBody>
          <a:bodyPr wrap="square" rtlCol="0">
            <a:spAutoFit/>
          </a:bodyPr>
          <a:lstStyle/>
          <a:p>
            <a:r>
              <a:rPr lang="en-IN" sz="2000" b="1" dirty="0">
                <a:solidFill>
                  <a:srgbClr val="00B0F0"/>
                </a:solidFill>
                <a:latin typeface="Bell MT" panose="02020503060305020303" pitchFamily="18" charset="0"/>
              </a:rPr>
              <a:t>🧰 Tools for Presentation &amp; Documentation</a:t>
            </a:r>
          </a:p>
          <a:p>
            <a:r>
              <a:rPr lang="en-IN" sz="2000" b="1" dirty="0">
                <a:solidFill>
                  <a:srgbClr val="7030A0"/>
                </a:solidFill>
                <a:latin typeface="Bell MT" panose="02020503060305020303" pitchFamily="18" charset="0"/>
              </a:rPr>
              <a:t>Presentation</a:t>
            </a:r>
            <a:r>
              <a:rPr lang="en-IN" sz="2000" b="1" dirty="0">
                <a:latin typeface="Bell MT" panose="02020503060305020303" pitchFamily="18" charset="0"/>
              </a:rPr>
              <a:t>:</a:t>
            </a:r>
            <a:r>
              <a:rPr lang="en-IN" sz="2000" dirty="0">
                <a:latin typeface="Bell MT" panose="02020503060305020303" pitchFamily="18" charset="0"/>
              </a:rPr>
              <a:t> PowerPoint / Google Slides / Canva</a:t>
            </a:r>
          </a:p>
          <a:p>
            <a:r>
              <a:rPr lang="en-IN" sz="2000" b="1" dirty="0">
                <a:solidFill>
                  <a:srgbClr val="7030A0"/>
                </a:solidFill>
                <a:latin typeface="Bell MT" panose="02020503060305020303" pitchFamily="18" charset="0"/>
              </a:rPr>
              <a:t>Documentation:</a:t>
            </a:r>
            <a:r>
              <a:rPr lang="en-IN" sz="2000" dirty="0">
                <a:solidFill>
                  <a:srgbClr val="7030A0"/>
                </a:solidFill>
                <a:latin typeface="Bell MT" panose="02020503060305020303" pitchFamily="18" charset="0"/>
              </a:rPr>
              <a:t> </a:t>
            </a:r>
            <a:r>
              <a:rPr lang="en-IN" sz="2000" dirty="0">
                <a:latin typeface="Bell MT" panose="02020503060305020303" pitchFamily="18" charset="0"/>
              </a:rPr>
              <a:t>MS Word / Google Docs / PDF Export</a:t>
            </a:r>
          </a:p>
          <a:p>
            <a:r>
              <a:rPr lang="en-IN" sz="2000" b="1" dirty="0">
                <a:solidFill>
                  <a:srgbClr val="7030A0"/>
                </a:solidFill>
                <a:latin typeface="Bell MT" panose="02020503060305020303" pitchFamily="18" charset="0"/>
              </a:rPr>
              <a:t>Design Tools</a:t>
            </a:r>
            <a:r>
              <a:rPr lang="en-IN" sz="2000" b="1" dirty="0">
                <a:latin typeface="Bell MT" panose="02020503060305020303" pitchFamily="18" charset="0"/>
              </a:rPr>
              <a:t>:</a:t>
            </a:r>
            <a:r>
              <a:rPr lang="en-IN" sz="2000" dirty="0">
                <a:latin typeface="Bell MT" panose="02020503060305020303" pitchFamily="18" charset="0"/>
              </a:rPr>
              <a:t> Figma / Adobe XD / </a:t>
            </a:r>
            <a:r>
              <a:rPr lang="en-IN" sz="2000" dirty="0" err="1">
                <a:latin typeface="Bell MT" panose="02020503060305020303" pitchFamily="18" charset="0"/>
              </a:rPr>
              <a:t>FigJam</a:t>
            </a:r>
            <a:r>
              <a:rPr lang="en-IN" sz="2000" dirty="0">
                <a:latin typeface="Bell MT" panose="02020503060305020303" pitchFamily="18" charset="0"/>
              </a:rPr>
              <a:t> / Photoshop</a:t>
            </a:r>
          </a:p>
          <a:p>
            <a:br>
              <a:rPr lang="en-IN" sz="2000" dirty="0">
                <a:latin typeface="Bell MT" panose="02020503060305020303" pitchFamily="18" charset="0"/>
              </a:rPr>
            </a:br>
            <a:endParaRPr lang="en-IN" sz="2000" dirty="0">
              <a:latin typeface="Bell MT" panose="02020503060305020303" pitchFamily="18" charset="0"/>
            </a:endParaRPr>
          </a:p>
          <a:p>
            <a:r>
              <a:rPr lang="en-IN" sz="2000" b="1" dirty="0">
                <a:solidFill>
                  <a:srgbClr val="00B0F0"/>
                </a:solidFill>
                <a:latin typeface="Bell MT" panose="02020503060305020303" pitchFamily="18" charset="0"/>
              </a:rPr>
              <a:t>📦 Final Deliverables</a:t>
            </a:r>
          </a:p>
          <a:p>
            <a:r>
              <a:rPr lang="en-IN" sz="2000" dirty="0">
                <a:latin typeface="Bell MT" panose="02020503060305020303" pitchFamily="18" charset="0"/>
              </a:rPr>
              <a:t>✅ Presentation slides</a:t>
            </a:r>
            <a:br>
              <a:rPr lang="en-IN" sz="2000" dirty="0">
                <a:latin typeface="Bell MT" panose="02020503060305020303" pitchFamily="18" charset="0"/>
              </a:rPr>
            </a:br>
            <a:r>
              <a:rPr lang="en-IN" sz="2000" dirty="0">
                <a:latin typeface="Bell MT" panose="02020503060305020303" pitchFamily="18" charset="0"/>
              </a:rPr>
              <a:t>✅ Design report / documentation (PDF or Word)</a:t>
            </a:r>
            <a:br>
              <a:rPr lang="en-IN" sz="2000" dirty="0">
                <a:latin typeface="Bell MT" panose="02020503060305020303" pitchFamily="18" charset="0"/>
              </a:rPr>
            </a:br>
            <a:r>
              <a:rPr lang="en-IN" sz="2000" dirty="0">
                <a:latin typeface="Bell MT" panose="02020503060305020303" pitchFamily="18" charset="0"/>
              </a:rPr>
              <a:t>✅ Interactive prototype (Figma/Adobe XD link)</a:t>
            </a:r>
            <a:br>
              <a:rPr lang="en-IN" sz="2000" dirty="0">
                <a:latin typeface="Bell MT" panose="02020503060305020303" pitchFamily="18" charset="0"/>
              </a:rPr>
            </a:br>
            <a:r>
              <a:rPr lang="en-IN" sz="2000" dirty="0">
                <a:latin typeface="Bell MT" panose="02020503060305020303" pitchFamily="18" charset="0"/>
              </a:rPr>
              <a:t>✅ Supporting visuals (wireframes, IA, icons, </a:t>
            </a:r>
            <a:r>
              <a:rPr lang="en-IN" sz="2000" dirty="0" err="1">
                <a:latin typeface="Bell MT" panose="02020503060305020303" pitchFamily="18" charset="0"/>
              </a:rPr>
              <a:t>color</a:t>
            </a:r>
            <a:r>
              <a:rPr lang="en-IN" sz="2000" dirty="0">
                <a:latin typeface="Bell MT" panose="02020503060305020303" pitchFamily="18" charset="0"/>
              </a:rPr>
              <a:t> palette)</a:t>
            </a:r>
          </a:p>
          <a:p>
            <a:endParaRPr lang="en-IN" dirty="0"/>
          </a:p>
        </p:txBody>
      </p:sp>
    </p:spTree>
    <p:extLst>
      <p:ext uri="{BB962C8B-B14F-4D97-AF65-F5344CB8AC3E}">
        <p14:creationId xmlns:p14="http://schemas.microsoft.com/office/powerpoint/2010/main" val="16285963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50068A7-1E28-AAA2-650A-DD71B76937A7}"/>
              </a:ext>
            </a:extLst>
          </p:cNvPr>
          <p:cNvSpPr txBox="1"/>
          <p:nvPr/>
        </p:nvSpPr>
        <p:spPr>
          <a:xfrm>
            <a:off x="654626" y="665018"/>
            <a:ext cx="10868891" cy="4247317"/>
          </a:xfrm>
          <a:prstGeom prst="rect">
            <a:avLst/>
          </a:prstGeom>
          <a:noFill/>
        </p:spPr>
        <p:txBody>
          <a:bodyPr wrap="square" rtlCol="0">
            <a:spAutoFit/>
          </a:bodyPr>
          <a:lstStyle/>
          <a:p>
            <a:r>
              <a:rPr lang="en-IN" dirty="0"/>
              <a:t>Conclusion</a:t>
            </a:r>
          </a:p>
          <a:p>
            <a:endParaRPr lang="en-IN" dirty="0"/>
          </a:p>
          <a:p>
            <a:r>
              <a:rPr lang="en-US" dirty="0" err="1"/>
              <a:t>Personalised</a:t>
            </a:r>
            <a:r>
              <a:rPr lang="en-US" dirty="0"/>
              <a:t> music discovery aims to transform the way users interact with digital music platforms by delivering recommendations that truly resonate with their individual tastes and emotions. By leveraging user data, listening patterns, and contextual factors, an intelligent recommendation system can provide a seamless and engaging music experience.</a:t>
            </a:r>
          </a:p>
          <a:p>
            <a:endParaRPr lang="en-US" dirty="0"/>
          </a:p>
          <a:p>
            <a:endParaRPr lang="en-US" dirty="0"/>
          </a:p>
          <a:p>
            <a:r>
              <a:rPr lang="en-US" dirty="0"/>
              <a:t>Such a system not only enhances user satisfaction but also strengthens loyalty and exploration within the platform. Ultimately, </a:t>
            </a:r>
            <a:r>
              <a:rPr lang="en-US" dirty="0" err="1"/>
              <a:t>personalised</a:t>
            </a:r>
            <a:r>
              <a:rPr lang="en-US" dirty="0"/>
              <a:t> music discovery bridges the gap between technology and human emotion—helping every listener find the right music at the right moment.</a:t>
            </a:r>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10129344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408</TotalTime>
  <Words>2828</Words>
  <Application>Microsoft Office PowerPoint</Application>
  <PresentationFormat>Widescreen</PresentationFormat>
  <Paragraphs>399</Paragraphs>
  <Slides>30</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30</vt:i4>
      </vt:variant>
    </vt:vector>
  </HeadingPairs>
  <TitlesOfParts>
    <vt:vector size="38" baseType="lpstr">
      <vt:lpstr>Algerian</vt:lpstr>
      <vt:lpstr>Arial</vt:lpstr>
      <vt:lpstr>Bell MT</vt:lpstr>
      <vt:lpstr>Bodoni MT Black</vt:lpstr>
      <vt:lpstr>Calibri</vt:lpstr>
      <vt:lpstr>Calibri Light</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suji s</dc:creator>
  <cp:lastModifiedBy>suji s</cp:lastModifiedBy>
  <cp:revision>9</cp:revision>
  <dcterms:created xsi:type="dcterms:W3CDTF">2025-10-29T09:44:31Z</dcterms:created>
  <dcterms:modified xsi:type="dcterms:W3CDTF">2025-11-02T06:58:46Z</dcterms:modified>
</cp:coreProperties>
</file>